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7560000" cy="10692000"/>
  <p:notesSz cx="10692000" cy="7560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EEMETRY_MASTER">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057080" y="10399392"/>
            <a:ext cx="41148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057080" y="10399392"/>
            <a:ext cx="41148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9.xml"/><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7562850" cy="10696575"/>
          </a:xfrm>
          <a:prstGeom prst="rect">
            <a:avLst/>
          </a:prstGeom>
          <a:solidFill>
            <a:srgbClr val="0F172A"/>
          </a:solidFill>
          <a:ln/>
        </p:spPr>
      </p:sp>
      <p:sp>
        <p:nvSpPr>
          <p:cNvPr id="3" name="Text 1"/>
          <p:cNvSpPr/>
          <p:nvPr/>
        </p:nvSpPr>
        <p:spPr>
          <a:xfrm>
            <a:off x="0" y="0"/>
            <a:ext cx="7562850" cy="10696575"/>
          </a:xfrm>
          <a:prstGeom prst="rect">
            <a:avLst/>
          </a:prstGeom>
          <a:noFill/>
          <a:ln/>
        </p:spPr>
        <p:txBody>
          <a:bodyPr wrap="square" lIns="2540" tIns="2540" rIns="2540" bIns="2540" rtlCol="0" anchor="ctr"/>
          <a:lstStyle/>
          <a:p>
            <a:pPr algn="ctr" indent="0" marL="0">
              <a:buNone/>
            </a:pPr>
            <a:r>
              <a:rPr lang="en-US" sz="800" b="1" dirty="0">
                <a:solidFill>
                  <a:srgbClr val="FBBF24"/>
                </a:solidFill>
              </a:rPr>
              <a:t>CONFIDENCIAL — USO INTERNO</a:t>
            </a:r>
            <a:endParaRPr lang="en-US" sz="800" dirty="0"/>
          </a:p>
          <a:p>
            <a:pPr algn="ctr" indent="0" marL="0">
              <a:buNone/>
            </a:pPr>
            <a:r>
              <a:rPr lang="en-US" sz="2300" b="1" dirty="0">
                <a:solidFill>
                  <a:srgbClr val="FFFFFF"/>
                </a:solidFill>
              </a:rPr>
              <a:t>INFORME TÉCNICO GEOTÉCNICO INTEGRAL</a:t>
            </a:r>
            <a:endParaRPr lang="en-US" sz="800" dirty="0"/>
          </a:p>
          <a:p>
            <a:pPr algn="ctr" indent="0" marL="0">
              <a:buNone/>
            </a:pPr>
            <a:r>
              <a:rPr lang="en-US" sz="2300" b="1" dirty="0">
                <a:solidFill>
                  <a:srgbClr val="FFFFFF"/>
                </a:solidFill>
              </a:rPr>
              <a:t>Unidad Minera Alpayana</a:t>
            </a:r>
            <a:endParaRPr lang="en-US" sz="800" dirty="0"/>
          </a:p>
          <a:p>
            <a:pPr algn="ctr" indent="0" marL="0">
              <a:buNone/>
            </a:pPr>
            <a:r>
              <a:rPr lang="en-US" sz="1200" b="1" dirty="0">
                <a:solidFill>
                  <a:srgbClr val="FFFFFF"/>
                </a:solidFill>
              </a:rPr>
              <a:t>ALPAYANA S.A.C.</a:t>
            </a:r>
            <a:endParaRPr lang="en-US" sz="800" dirty="0"/>
          </a:p>
          <a:p>
            <a:pPr algn="ctr" indent="0" marL="0">
              <a:buNone/>
            </a:pPr>
            <a:r>
              <a:rPr lang="en-US" sz="800" dirty="0">
                <a:solidFill>
                  <a:srgbClr val="FFFFFF"/>
                </a:solidFill>
              </a:rPr>
              <a:t>Código: ALP-INF-2026-0923</a:t>
            </a:r>
            <a:endParaRPr lang="en-US" sz="800" dirty="0"/>
          </a:p>
          <a:p>
            <a:pPr algn="ctr" indent="0" marL="0">
              <a:buNone/>
            </a:pPr>
            <a:r>
              <a:rPr lang="en-US" sz="800" dirty="0">
                <a:solidFill>
                  <a:srgbClr val="FFFFFF"/>
                </a:solidFill>
              </a:rPr>
              <a:t>Autor: Luder Armas</a:t>
            </a:r>
            <a:endParaRPr lang="en-US" sz="800" dirty="0"/>
          </a:p>
          <a:p>
            <a:pPr algn="ctr" indent="0" marL="0">
              <a:buNone/>
            </a:pPr>
            <a:r>
              <a:rPr lang="en-US" sz="800" dirty="0">
                <a:solidFill>
                  <a:srgbClr val="FFFFFF"/>
                </a:solidFill>
              </a:rPr>
              <a:t>Fecha: 2026-09-23</a:t>
            </a:r>
            <a:endParaRPr lang="en-US" sz="800" dirty="0"/>
          </a:p>
        </p:txBody>
      </p:sp>
      <p:sp>
        <p:nvSpPr>
          <p:cNvPr id="4" name="Text 2"/>
          <p:cNvSpPr/>
          <p:nvPr/>
        </p:nvSpPr>
        <p:spPr>
          <a:xfrm>
            <a:off x="571500" y="8572500"/>
            <a:ext cx="6419850" cy="1143000"/>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Preparado para: ALPA</a:t>
            </a:r>
            <a:pPr algn="l" indent="0" marL="0">
              <a:buNone/>
            </a:pPr>
            <a:r>
              <a:rPr lang="en-US" sz="1000" dirty="0">
                <a:solidFill>
                  <a:srgbClr val="FFFFFF"/>
                </a:solidFill>
                <a:latin typeface="Arial" pitchFamily="34" charset="0"/>
                <a:ea typeface="Arial" pitchFamily="34" charset="-122"/>
                <a:cs typeface="Arial" pitchFamily="34" charset="-120"/>
              </a:rPr>
              <a:t>YANA S.A.C.</a:t>
            </a:r>
            <a:endParaRPr lang="en-US" sz="1000" dirty="0"/>
          </a:p>
          <a:p>
            <a:pPr algn="l" indent="0" marL="0">
              <a:buNone/>
            </a:pPr>
            <a:r>
              <a:rPr lang="en-US" sz="1000" dirty="0">
                <a:solidFill>
                  <a:srgbClr val="FFFFFF"/>
                </a:solidFill>
                <a:latin typeface="Arial" pitchFamily="34" charset="0"/>
                <a:ea typeface="Arial" pitchFamily="34" charset="-122"/>
                <a:cs typeface="Arial" pitchFamily="34" charset="-120"/>
              </a:rPr>
              <a:t>Cliente / DNI responsable de campo: 09637521</a:t>
            </a:r>
            <a:endParaRPr lang="en-US" sz="1000" dirty="0"/>
          </a:p>
          <a:p>
            <a:pPr algn="l" indent="0" marL="0">
              <a:buNone/>
            </a:pPr>
            <a:r>
              <a:rPr lang="en-US" sz="1000" dirty="0">
                <a:solidFill>
                  <a:srgbClr val="FFFFFF"/>
                </a:solidFill>
                <a:latin typeface="Arial" pitchFamily="34" charset="0"/>
                <a:ea typeface="Arial" pitchFamily="34" charset="-122"/>
                <a:cs typeface="Arial" pitchFamily="34" charset="-120"/>
              </a:rPr>
              <a:t>RUC: 20123456789</a:t>
            </a:r>
            <a:endParaRPr lang="en-US" sz="1000" dirty="0"/>
          </a:p>
        </p:txBody>
      </p:sp>
      <p:sp>
        <p:nvSpPr>
          <p:cNvPr id="25" name="Slide Number Placeholder 0"/>
          <p:cNvSpPr>
            <a:spLocks noGrp="1"/>
          </p:cNvSpPr>
          <p:nvPr>
            <p:ph type="sldNum" sz="quarter" idx="4294967295"/>
          </p:nvPr>
        </p:nvSpPr>
        <p:spPr>
          <a:xfrm>
            <a:off x="7057080" y="10399392"/>
            <a:ext cx="41148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0" y="0"/>
            <a:ext cx="7562850" cy="285750"/>
          </a:xfrm>
          <a:prstGeom prst="rect">
            <a:avLst/>
          </a:prstGeom>
          <a:noFill/>
          <a:ln/>
        </p:spPr>
        <p:txBody>
          <a:bodyPr wrap="square" rtlCol="0" anchor="ctr"/>
          <a:lstStyle/>
          <a:p>
            <a:pPr indent="0" marL="0">
              <a:buNone/>
            </a:pPr>
            <a:r>
              <a:rPr lang="en-US" sz="1400" b="1" dirty="0">
                <a:solidFill>
                  <a:srgbClr val="0F172A"/>
                </a:solidFill>
              </a:rPr>
              <a:t>Tabla de Contenidos</a:t>
            </a:r>
            <a:endParaRPr lang="en-US" sz="1400" dirty="0"/>
          </a:p>
        </p:txBody>
      </p:sp>
      <p:sp>
        <p:nvSpPr>
          <p:cNvPr id="3" name="Text 1"/>
          <p:cNvSpPr/>
          <p:nvPr/>
        </p:nvSpPr>
        <p:spPr>
          <a:xfrm>
            <a:off x="0" y="285750"/>
            <a:ext cx="7562850" cy="10410825"/>
          </a:xfrm>
          <a:prstGeom prst="rect">
            <a:avLst/>
          </a:prstGeom>
          <a:noFill/>
          <a:ln/>
        </p:spPr>
        <p:txBody>
          <a:bodyPr wrap="square" lIns="0" tIns="0" rIns="0" bIns="0" rtlCol="0" anchor="t"/>
          <a:lstStyle/>
          <a:p>
            <a:pPr indent="0" marL="0">
              <a:buNone/>
            </a:pPr>
            <a:r>
              <a:rPr lang="en-US" sz="900" b="1" dirty="0">
                <a:solidFill>
                  <a:srgbClr val="0F172A"/>
                </a:solidFill>
              </a:rPr>
              <a:t>1  </a:t>
            </a:r>
            <a:pPr indent="0" marL="0">
              <a:buNone/>
            </a:pPr>
            <a:r>
              <a:rPr lang="en-US" sz="900" u="sng" dirty="0">
                <a:solidFill>
                  <a:srgbClr val="1E293B"/>
                </a:solidFill>
                <a:hlinkClick r:id="rId1" action="ppaction://hlinksldjump" tooltip="">
                  <a:extLst>
                    <a:ext uri="{A12FA001-AC4F-418D-AE19-62706E023703}">
                      <ahyp:hlinkClr xmlns:ahyp="http://schemas.microsoft.com/office/drawing/2018/hyperlinkcolor" val="tx"/>
                    </a:ext>
                  </a:extLst>
                </a:hlinkClick>
              </a:rPr>
              <a:t>CAPÍTULO 1 — INTRODUCCIÓN Y ALCANCE</a:t>
            </a:r>
            <a:endParaRPr lang="en-US" sz="900" dirty="0"/>
          </a:p>
          <a:p>
            <a:pPr indent="0" marL="0">
              <a:buNone/>
            </a:pPr>
            <a:r>
              <a:rPr lang="en-US" sz="900" b="1" dirty="0">
                <a:solidFill>
                  <a:srgbClr val="0F172A"/>
                </a:solidFill>
              </a:rPr>
              <a:t>1.1  </a:t>
            </a:r>
            <a:pPr indent="0" marL="0">
              <a:buNone/>
            </a:pPr>
            <a:r>
              <a:rPr lang="en-US" sz="900" u="sng" dirty="0">
                <a:solidFill>
                  <a:srgbClr val="1E293B"/>
                </a:solidFill>
                <a:hlinkClick r:id="rId2" action="ppaction://hlinksldjump" tooltip="">
                  <a:extLst>
                    <a:ext uri="{A12FA001-AC4F-418D-AE19-62706E023703}">
                      <ahyp:hlinkClr xmlns:ahyp="http://schemas.microsoft.com/office/drawing/2018/hyperlinkcolor" val="tx"/>
                    </a:ext>
                  </a:extLst>
                </a:hlinkClick>
              </a:rPr>
              <a:t>CAPÍTULO 2 — DIAGRAMA DE BLOQUES DEL SISTEMA</a:t>
            </a:r>
            <a:endParaRPr lang="en-US" sz="900" dirty="0"/>
          </a:p>
          <a:p>
            <a:pPr indent="0" marL="0">
              <a:buNone/>
            </a:pPr>
            <a:r>
              <a:rPr lang="en-US" sz="900" b="1" dirty="0">
                <a:solidFill>
                  <a:srgbClr val="0F172A"/>
                </a:solidFill>
              </a:rPr>
              <a:t>1.2  </a:t>
            </a:r>
            <a:pPr indent="0" marL="0">
              <a:buNone/>
            </a:pPr>
            <a:r>
              <a:rPr lang="en-US" sz="900" u="sng" dirty="0">
                <a:solidFill>
                  <a:srgbClr val="1E293B"/>
                </a:solidFill>
                <a:hlinkClick r:id="rId3" action="ppaction://hlinksldjump" tooltip="">
                  <a:extLst>
                    <a:ext uri="{A12FA001-AC4F-418D-AE19-62706E023703}">
                      <ahyp:hlinkClr xmlns:ahyp="http://schemas.microsoft.com/office/drawing/2018/hyperlinkcolor" val="tx"/>
                    </a:ext>
                  </a:extLst>
                </a:hlinkClick>
              </a:rPr>
              <a:t>CAPÍTULO 3 — TABLA CON COLORES PERSONALIZADOS POR CELDA/FILA/COLUMNA</a:t>
            </a:r>
            <a:endParaRPr lang="en-US" sz="900" dirty="0"/>
          </a:p>
          <a:p>
            <a:pPr indent="0" marL="0">
              <a:buNone/>
            </a:pPr>
            <a:r>
              <a:rPr lang="en-US" sz="900" b="1" dirty="0">
                <a:solidFill>
                  <a:srgbClr val="0F172A"/>
                </a:solidFill>
              </a:rPr>
              <a:t>1.3  </a:t>
            </a:r>
            <a:pPr indent="0" marL="0">
              <a:buNone/>
            </a:pPr>
            <a:r>
              <a:rPr lang="en-US" sz="900" u="sng" dirty="0">
                <a:solidFill>
                  <a:srgbClr val="1E293B"/>
                </a:solidFill>
                <a:hlinkClick r:id="rId4" action="ppaction://hlinksldjump" tooltip="">
                  <a:extLst>
                    <a:ext uri="{A12FA001-AC4F-418D-AE19-62706E023703}">
                      <ahyp:hlinkClr xmlns:ahyp="http://schemas.microsoft.com/office/drawing/2018/hyperlinkcolor" val="tx"/>
                    </a:ext>
                  </a:extLst>
                </a:hlinkClick>
              </a:rPr>
              <a:t>CAPÍTULO 4 — INDICADORES EN VIVO (A3 VERTICAL)</a:t>
            </a:r>
            <a:endParaRPr lang="en-US" sz="900" dirty="0"/>
          </a:p>
          <a:p>
            <a:pPr indent="0" marL="0">
              <a:buNone/>
            </a:pPr>
            <a:r>
              <a:rPr lang="en-US" sz="900" b="1" dirty="0">
                <a:solidFill>
                  <a:srgbClr val="0F172A"/>
                </a:solidFill>
              </a:rPr>
              <a:t>1.4  </a:t>
            </a:r>
            <a:pPr indent="0" marL="0">
              <a:buNone/>
            </a:pPr>
            <a:r>
              <a:rPr lang="en-US" sz="900" u="sng" dirty="0">
                <a:solidFill>
                  <a:srgbClr val="1E293B"/>
                </a:solidFill>
                <a:hlinkClick r:id="rId5" action="ppaction://hlinksldjump" tooltip="">
                  <a:extLst>
                    <a:ext uri="{A12FA001-AC4F-418D-AE19-62706E023703}">
                      <ahyp:hlinkClr xmlns:ahyp="http://schemas.microsoft.com/office/drawing/2018/hyperlinkcolor" val="tx"/>
                    </a:ext>
                  </a:extLst>
                </a:hlinkClick>
              </a:rPr>
              <a:t>CAPÍTULO 5 — MAPA DE SENSORES Y VISTA 3D (A3 HORIZONTAL)</a:t>
            </a:r>
            <a:endParaRPr lang="en-US" sz="900" dirty="0"/>
          </a:p>
          <a:p>
            <a:pPr indent="0" marL="0">
              <a:buNone/>
            </a:pPr>
            <a:r>
              <a:rPr lang="en-US" sz="900" b="1" dirty="0">
                <a:solidFill>
                  <a:srgbClr val="0F172A"/>
                </a:solidFill>
              </a:rPr>
              <a:t>1.5  </a:t>
            </a:r>
            <a:pPr indent="0" marL="0">
              <a:buNone/>
            </a:pPr>
            <a:r>
              <a:rPr lang="en-US" sz="900" u="sng" dirty="0">
                <a:solidFill>
                  <a:srgbClr val="1E293B"/>
                </a:solidFill>
                <a:hlinkClick r:id="rId6" action="ppaction://hlinksldjump" tooltip="">
                  <a:extLst>
                    <a:ext uri="{A12FA001-AC4F-418D-AE19-62706E023703}">
                      <ahyp:hlinkClr xmlns:ahyp="http://schemas.microsoft.com/office/drawing/2018/hyperlinkcolor" val="tx"/>
                    </a:ext>
                  </a:extLst>
                </a:hlinkClick>
              </a:rPr>
              <a:t>CAPÍTULO 6 — EVIDENCIA EN VIDEO</a:t>
            </a:r>
            <a:endParaRPr lang="en-US" sz="900" dirty="0"/>
          </a:p>
          <a:p>
            <a:pPr indent="0" marL="0">
              <a:buNone/>
            </a:pPr>
            <a:r>
              <a:rPr lang="en-US" sz="900" b="1" dirty="0">
                <a:solidFill>
                  <a:srgbClr val="0F172A"/>
                </a:solidFill>
              </a:rPr>
              <a:t>2  </a:t>
            </a:r>
            <a:pPr indent="0" marL="0">
              <a:buNone/>
            </a:pPr>
            <a:r>
              <a:rPr lang="en-US" sz="900" u="sng" dirty="0">
                <a:solidFill>
                  <a:srgbClr val="1E293B"/>
                </a:solidFill>
                <a:hlinkClick r:id="rId7" action="ppaction://hlinksldjump" tooltip="">
                  <a:extLst>
                    <a:ext uri="{A12FA001-AC4F-418D-AE19-62706E023703}">
                      <ahyp:hlinkClr xmlns:ahyp="http://schemas.microsoft.com/office/drawing/2018/hyperlinkcolor" val="tx"/>
                    </a:ext>
                  </a:extLst>
                </a:hlinkClick>
              </a:rPr>
              <a:t>ANEXO A — NORMATIVA APLICABLE</a:t>
            </a:r>
            <a:endParaRPr lang="en-US" sz="900" dirty="0"/>
          </a:p>
          <a:p>
            <a:pPr indent="0" marL="0">
              <a:buNone/>
            </a:pPr>
            <a:r>
              <a:rPr lang="en-US" sz="900" b="1" dirty="0">
                <a:solidFill>
                  <a:srgbClr val="0F172A"/>
                </a:solidFill>
              </a:rPr>
              <a:t>2.1  </a:t>
            </a:r>
            <a:pPr indent="0" marL="0">
              <a:buNone/>
            </a:pPr>
            <a:r>
              <a:rPr lang="en-US" sz="900" u="sng" dirty="0">
                <a:solidFill>
                  <a:srgbClr val="1E293B"/>
                </a:solidFill>
                <a:hlinkClick r:id="rId8" action="ppaction://hlinksldjump" tooltip="">
                  <a:extLst>
                    <a:ext uri="{A12FA001-AC4F-418D-AE19-62706E023703}">
                      <ahyp:hlinkClr xmlns:ahyp="http://schemas.microsoft.com/office/drawing/2018/hyperlinkcolor" val="tx"/>
                    </a:ext>
                  </a:extLst>
                </a:hlinkClick>
              </a:rPr>
              <a:t>REFERENCIAS</a:t>
            </a:r>
            <a:endParaRPr lang="en-US" sz="900" dirty="0"/>
          </a:p>
        </p:txBody>
      </p:sp>
      <p:sp>
        <p:nvSpPr>
          <p:cNvPr id="25" name="Slide Number Placeholder 0"/>
          <p:cNvSpPr>
            <a:spLocks noGrp="1"/>
          </p:cNvSpPr>
          <p:nvPr>
            <p:ph type="sldNum" sz="quarter" idx="4294967295"/>
          </p:nvPr>
        </p:nvSpPr>
        <p:spPr>
          <a:xfrm>
            <a:off x="7057080" y="10399392"/>
            <a:ext cx="41148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0" y="0"/>
            <a:ext cx="7562850" cy="381000"/>
          </a:xfrm>
          <a:prstGeom prst="rect">
            <a:avLst/>
          </a:prstGeom>
          <a:noFill/>
          <a:ln/>
        </p:spPr>
        <p:txBody>
          <a:bodyPr wrap="square" rtlCol="0" anchor="ctr"/>
          <a:lstStyle/>
          <a:p>
            <a:pPr indent="0" marL="0">
              <a:buNone/>
            </a:pPr>
            <a:r>
              <a:rPr lang="en-US" sz="700" b="1" dirty="0">
                <a:solidFill>
                  <a:srgbClr val="595959"/>
                </a:solidFill>
                <a:latin typeface="Arial Black" pitchFamily="34" charset="0"/>
                <a:ea typeface="Arial Black" pitchFamily="34" charset="-122"/>
                <a:cs typeface="Arial Black" pitchFamily="34" charset="-120"/>
              </a:rPr>
              <a:t>ALPAYANA S.A.C.  •  UNIDAD ALPAYANA  •  LUDER ARMAS</a:t>
            </a:r>
            <a:endParaRPr lang="en-US" sz="700" dirty="0"/>
          </a:p>
        </p:txBody>
      </p:sp>
      <p:sp>
        <p:nvSpPr>
          <p:cNvPr id="3" name="Text 1"/>
          <p:cNvSpPr/>
          <p:nvPr/>
        </p:nvSpPr>
        <p:spPr>
          <a:xfrm>
            <a:off x="0" y="10315575"/>
            <a:ext cx="7562850" cy="381000"/>
          </a:xfrm>
          <a:prstGeom prst="rect">
            <a:avLst/>
          </a:prstGeom>
          <a:noFill/>
          <a:ln/>
        </p:spPr>
        <p:txBody>
          <a:bodyPr wrap="square" rtlCol="0" anchor="ctr"/>
          <a:lstStyle/>
          <a:p>
            <a:pPr indent="0" marL="0">
              <a:buNone/>
            </a:pPr>
            <a:r>
              <a:rPr lang="en-US" sz="700" b="1" dirty="0">
                <a:solidFill>
                  <a:srgbClr val="595959"/>
                </a:solidFill>
                <a:latin typeface="Arial Black" pitchFamily="34" charset="0"/>
                <a:ea typeface="Arial Black" pitchFamily="34" charset="-122"/>
                <a:cs typeface="Arial Black" pitchFamily="34" charset="-120"/>
              </a:rPr>
              <a:t>BEEMETRY</a:t>
            </a:r>
            <a:endParaRPr lang="en-US" sz="700" dirty="0"/>
          </a:p>
        </p:txBody>
      </p:sp>
      <p:pic>
        <p:nvPicPr>
          <p:cNvPr id="4" name="Image 0" descr="Imagen">    </p:cNvPr>
          <p:cNvPicPr>
            <a:picLocks noChangeAspect="1"/>
          </p:cNvPicPr>
          <p:nvPr/>
        </p:nvPicPr>
        <p:blipFill>
          <a:blip r:embed="rId1"/>
          <a:stretch>
            <a:fillRect/>
          </a:stretch>
        </p:blipFill>
        <p:spPr>
          <a:xfrm>
            <a:off x="571500" y="571500"/>
            <a:ext cx="6419850" cy="857250"/>
          </a:xfrm>
          <a:prstGeom prst="rect">
            <a:avLst/>
          </a:prstGeom>
        </p:spPr>
      </p:pic>
      <p:pic>
        <p:nvPicPr>
          <p:cNvPr id="5" name="Image 1" descr="Imagen">    </p:cNvPr>
          <p:cNvPicPr>
            <a:picLocks noChangeAspect="1"/>
          </p:cNvPicPr>
          <p:nvPr/>
        </p:nvPicPr>
        <p:blipFill>
          <a:blip r:embed="rId2"/>
          <a:stretch>
            <a:fillRect/>
          </a:stretch>
        </p:blipFill>
        <p:spPr>
          <a:xfrm>
            <a:off x="571500" y="1524000"/>
            <a:ext cx="6419850" cy="571500"/>
          </a:xfrm>
          <a:prstGeom prst="rect">
            <a:avLst/>
          </a:prstGeom>
        </p:spPr>
      </p:pic>
      <p:sp>
        <p:nvSpPr>
          <p:cNvPr id="6" name="Text 2"/>
          <p:cNvSpPr/>
          <p:nvPr/>
        </p:nvSpPr>
        <p:spPr>
          <a:xfrm>
            <a:off x="571500" y="2381250"/>
            <a:ext cx="6419850" cy="381000"/>
          </a:xfrm>
          <a:prstGeom prst="rect">
            <a:avLst/>
          </a:prstGeom>
          <a:noFill/>
          <a:ln/>
        </p:spPr>
        <p:txBody>
          <a:bodyPr wrap="square" lIns="0" tIns="0" rIns="0" bIns="0" rtlCol="0" anchor="t"/>
          <a:lstStyle/>
          <a:p>
            <a:pPr algn="l" indent="0" marL="0">
              <a:buNone/>
            </a:pPr>
            <a:r>
              <a:rPr lang="en-US" sz="1700" dirty="0">
                <a:solidFill>
                  <a:srgbClr val="1E293B"/>
                </a:solidFill>
                <a:latin typeface="Calibri" pitchFamily="34" charset="0"/>
                <a:ea typeface="Calibri" pitchFamily="34" charset="-122"/>
                <a:cs typeface="Calibri" pitchFamily="34" charset="-120"/>
              </a:rPr>
              <a:t>CAPÍTULO 1 — INTRODUCCIÓN Y ALCANCE</a:t>
            </a:r>
            <a:endParaRPr lang="en-US" sz="1700" dirty="0"/>
          </a:p>
        </p:txBody>
      </p:sp>
      <p:sp>
        <p:nvSpPr>
          <p:cNvPr id="7" name="Text 3"/>
          <p:cNvSpPr/>
          <p:nvPr/>
        </p:nvSpPr>
        <p:spPr>
          <a:xfrm>
            <a:off x="571500" y="2857500"/>
            <a:ext cx="3133725" cy="2095500"/>
          </a:xfrm>
          <a:prstGeom prst="rect">
            <a:avLst/>
          </a:prstGeom>
          <a:noFill/>
          <a:ln/>
        </p:spPr>
        <p:txBody>
          <a:bodyPr wrap="square" lIns="0" tIns="0" rIns="0" bIns="0" rtlCol="0" anchor="t"/>
          <a:lstStyle/>
          <a:p>
            <a:pPr algn="just" indent="0" marL="0">
              <a:buNone/>
            </a:pPr>
            <a:r>
              <a:rPr lang="en-US" sz="900" dirty="0">
                <a:solidFill>
                  <a:srgbClr val="1E293B"/>
                </a:solidFill>
                <a:latin typeface="Arial" pitchFamily="34" charset="0"/>
                <a:ea typeface="Arial" pitchFamily="34" charset="-122"/>
                <a:cs typeface="Arial" pitchFamily="34" charset="-120"/>
              </a:rPr>
              <a:t>El presente informe documenta la evaluación geotécnica integral de la unidad minera Alpayana durante el periodo de referencia. Este bloque se exporta en DOS columnas tipo periódico, dividiendo el texto en dos cuadros lado a lado sin cortar ninguna</a:t>
            </a:r>
            <a:endParaRPr lang="en-US" sz="900" dirty="0"/>
          </a:p>
        </p:txBody>
      </p:sp>
      <p:sp>
        <p:nvSpPr>
          <p:cNvPr id="8" name="Text 4"/>
          <p:cNvSpPr/>
          <p:nvPr/>
        </p:nvSpPr>
        <p:spPr>
          <a:xfrm>
            <a:off x="3857625" y="2857500"/>
            <a:ext cx="3133725" cy="2095500"/>
          </a:xfrm>
          <a:prstGeom prst="rect">
            <a:avLst/>
          </a:prstGeom>
          <a:noFill/>
          <a:ln/>
        </p:spPr>
        <p:txBody>
          <a:bodyPr wrap="square" lIns="0" tIns="0" rIns="0" bIns="0" rtlCol="0" anchor="t"/>
          <a:lstStyle/>
          <a:p>
            <a:pPr algn="just" indent="0" marL="0">
              <a:buNone/>
            </a:pPr>
            <a:r>
              <a:rPr lang="en-US" sz="900" dirty="0">
                <a:solidFill>
                  <a:srgbClr val="1E293B"/>
                </a:solidFill>
                <a:latin typeface="Arial" pitchFamily="34" charset="0"/>
                <a:ea typeface="Arial" pitchFamily="34" charset="-122"/>
                <a:cs typeface="Arial" pitchFamily="34" charset="-120"/>
              </a:rPr>
              <a:t>palabra a la mitad, ya que ni el formato Word ni PowerPoint exponen columnas reales a nivel de un solo párrafo o cuadro de texto -- esta es la aproximación más fiel disponible con las librerías de generación usadas por la plataforma.</a:t>
            </a:r>
            <a:endParaRPr lang="en-US" sz="900" dirty="0"/>
          </a:p>
        </p:txBody>
      </p:sp>
      <p:sp>
        <p:nvSpPr>
          <p:cNvPr id="9" name="Text 5"/>
          <p:cNvSpPr/>
          <p:nvPr/>
        </p:nvSpPr>
        <p:spPr>
          <a:xfrm>
            <a:off x="571500" y="5143500"/>
            <a:ext cx="6419850" cy="857250"/>
          </a:xfrm>
          <a:prstGeom prst="rect">
            <a:avLst/>
          </a:prstGeom>
          <a:solidFill>
            <a:srgbClr val="DBEAFE"/>
          </a:solidFill>
          <a:ln/>
        </p:spPr>
        <p:txBody>
          <a:bodyPr wrap="square" lIns="0" tIns="0" rIns="0" bIns="0" rtlCol="0" anchor="t"/>
          <a:lstStyle/>
          <a:p>
            <a:pPr algn="l" indent="0" marL="0">
              <a:buNone/>
            </a:pPr>
            <a:r>
              <a:rPr lang="en-US" sz="900" dirty="0">
                <a:solidFill>
                  <a:srgbClr val="1E3A8A"/>
                </a:solidFill>
                <a:latin typeface="Arial" pitchFamily="34" charset="0"/>
                <a:ea typeface="Arial" pitchFamily="34" charset="-122"/>
                <a:cs typeface="Arial" pitchFamily="34" charset="-120"/>
              </a:rPr>
              <a:t>Este bloque tiene un color de fondo propio (todo el rectángulo, no solo el texto resaltado) -- verifica que props.backgroundColor se exporte como sombreado real del párrafo en Word y como relleno del cuadro de texto en PowerPoint.</a:t>
            </a:r>
            <a:endParaRPr lang="en-US" sz="900" dirty="0"/>
          </a:p>
        </p:txBody>
      </p:sp>
      <p:sp>
        <p:nvSpPr>
          <p:cNvPr id="25" name="Slide Number Placeholder 0"/>
          <p:cNvSpPr>
            <a:spLocks noGrp="1"/>
          </p:cNvSpPr>
          <p:nvPr>
            <p:ph type="sldNum" sz="quarter" idx="4294967295"/>
          </p:nvPr>
        </p:nvSpPr>
        <p:spPr>
          <a:xfrm>
            <a:off x="7057080" y="10399392"/>
            <a:ext cx="41148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71500" y="285750"/>
            <a:ext cx="6419850" cy="381000"/>
          </a:xfrm>
          <a:prstGeom prst="rect">
            <a:avLst/>
          </a:prstGeom>
          <a:noFill/>
          <a:ln/>
        </p:spPr>
        <p:txBody>
          <a:bodyPr wrap="square" lIns="0" tIns="0" rIns="0" bIns="0" rtlCol="0" anchor="t"/>
          <a:lstStyle/>
          <a:p>
            <a:pPr algn="l" indent="0" marL="0">
              <a:buNone/>
            </a:pPr>
            <a:r>
              <a:rPr lang="en-US" sz="1400" dirty="0">
                <a:solidFill>
                  <a:srgbClr val="1E40AF"/>
                </a:solidFill>
                <a:latin typeface="Calibri" pitchFamily="34" charset="0"/>
                <a:ea typeface="Calibri" pitchFamily="34" charset="-122"/>
                <a:cs typeface="Calibri" pitchFamily="34" charset="-120"/>
              </a:rPr>
              <a:t>CAPÍTULO 2 — DIAGRAMA DE BLOQUES DEL SISTEMA</a:t>
            </a:r>
            <a:endParaRPr lang="en-US" sz="1400" dirty="0"/>
          </a:p>
        </p:txBody>
      </p:sp>
      <p:pic>
        <p:nvPicPr>
          <p:cNvPr id="3" name="Image 0" descr="Imagen">    </p:cNvPr>
          <p:cNvPicPr>
            <a:picLocks noChangeAspect="1"/>
          </p:cNvPicPr>
          <p:nvPr/>
        </p:nvPicPr>
        <p:blipFill>
          <a:blip r:embed="rId1"/>
          <a:stretch>
            <a:fillRect/>
          </a:stretch>
        </p:blipFill>
        <p:spPr>
          <a:xfrm>
            <a:off x="762000" y="1143000"/>
            <a:ext cx="1714500" cy="666750"/>
          </a:xfrm>
          <a:prstGeom prst="rect">
            <a:avLst/>
          </a:prstGeom>
        </p:spPr>
      </p:pic>
      <p:sp>
        <p:nvSpPr>
          <p:cNvPr id="4" name="Text 1"/>
          <p:cNvSpPr/>
          <p:nvPr/>
        </p:nvSpPr>
        <p:spPr>
          <a:xfrm>
            <a:off x="762000" y="1381125"/>
            <a:ext cx="1714500" cy="285750"/>
          </a:xfrm>
          <a:prstGeom prst="rect">
            <a:avLst/>
          </a:prstGeom>
          <a:noFill/>
          <a:ln/>
        </p:spPr>
        <p:txBody>
          <a:bodyPr wrap="square" lIns="0" tIns="0" rIns="0" bIns="0" rtlCol="0" anchor="t"/>
          <a:lstStyle/>
          <a:p>
            <a:pPr algn="ctr" indent="0" marL="0">
              <a:buNone/>
            </a:pPr>
            <a:r>
              <a:rPr lang="en-US" sz="1000" dirty="0">
                <a:solidFill>
                  <a:srgbClr val="1E3A8A"/>
                </a:solidFill>
                <a:latin typeface="Arial" pitchFamily="34" charset="0"/>
                <a:ea typeface="Arial" pitchFamily="34" charset="-122"/>
                <a:cs typeface="Arial" pitchFamily="34" charset="-120"/>
              </a:rPr>
              <a:t>Sensor de campo</a:t>
            </a:r>
            <a:endParaRPr lang="en-US" sz="1000" dirty="0"/>
          </a:p>
        </p:txBody>
      </p:sp>
      <p:pic>
        <p:nvPicPr>
          <p:cNvPr id="5" name="Image 1" descr="Imagen">    </p:cNvPr>
          <p:cNvPicPr>
            <a:picLocks noChangeAspect="1"/>
          </p:cNvPicPr>
          <p:nvPr/>
        </p:nvPicPr>
        <p:blipFill>
          <a:blip r:embed="rId2"/>
          <a:stretch>
            <a:fillRect/>
          </a:stretch>
        </p:blipFill>
        <p:spPr>
          <a:xfrm>
            <a:off x="2762250" y="1381125"/>
            <a:ext cx="571500" cy="19050"/>
          </a:xfrm>
          <a:prstGeom prst="rect">
            <a:avLst/>
          </a:prstGeom>
        </p:spPr>
      </p:pic>
      <p:pic>
        <p:nvPicPr>
          <p:cNvPr id="6" name="Image 2" descr="Imagen">    </p:cNvPr>
          <p:cNvPicPr>
            <a:picLocks noChangeAspect="1"/>
          </p:cNvPicPr>
          <p:nvPr/>
        </p:nvPicPr>
        <p:blipFill>
          <a:blip r:embed="rId3"/>
          <a:stretch>
            <a:fillRect/>
          </a:stretch>
        </p:blipFill>
        <p:spPr>
          <a:xfrm>
            <a:off x="3429000" y="1143000"/>
            <a:ext cx="1714500" cy="666750"/>
          </a:xfrm>
          <a:prstGeom prst="rect">
            <a:avLst/>
          </a:prstGeom>
        </p:spPr>
      </p:pic>
      <p:sp>
        <p:nvSpPr>
          <p:cNvPr id="7" name="Text 2"/>
          <p:cNvSpPr/>
          <p:nvPr/>
        </p:nvSpPr>
        <p:spPr>
          <a:xfrm>
            <a:off x="3429000" y="1381125"/>
            <a:ext cx="1714500" cy="285750"/>
          </a:xfrm>
          <a:prstGeom prst="rect">
            <a:avLst/>
          </a:prstGeom>
          <a:noFill/>
          <a:ln/>
        </p:spPr>
        <p:txBody>
          <a:bodyPr wrap="square" lIns="0" tIns="0" rIns="0" bIns="0" rtlCol="0" anchor="t"/>
          <a:lstStyle/>
          <a:p>
            <a:pPr algn="ctr" indent="0" marL="0">
              <a:buNone/>
            </a:pPr>
            <a:r>
              <a:rPr lang="en-US" sz="1000" dirty="0">
                <a:solidFill>
                  <a:srgbClr val="92400E"/>
                </a:solidFill>
                <a:latin typeface="Arial" pitchFamily="34" charset="0"/>
                <a:ea typeface="Arial" pitchFamily="34" charset="-122"/>
                <a:cs typeface="Arial" pitchFamily="34" charset="-120"/>
              </a:rPr>
              <a:t>Gateway / ingesta</a:t>
            </a:r>
            <a:endParaRPr lang="en-US" sz="1000" dirty="0"/>
          </a:p>
        </p:txBody>
      </p:sp>
      <p:pic>
        <p:nvPicPr>
          <p:cNvPr id="8" name="Image 3" descr="Imagen">    </p:cNvPr>
          <p:cNvPicPr>
            <a:picLocks noChangeAspect="1"/>
          </p:cNvPicPr>
          <p:nvPr/>
        </p:nvPicPr>
        <p:blipFill>
          <a:blip r:embed="rId4"/>
          <a:stretch>
            <a:fillRect/>
          </a:stretch>
        </p:blipFill>
        <p:spPr>
          <a:xfrm>
            <a:off x="4191000" y="1809750"/>
            <a:ext cx="19050" cy="571500"/>
          </a:xfrm>
          <a:prstGeom prst="rect">
            <a:avLst/>
          </a:prstGeom>
        </p:spPr>
      </p:pic>
      <p:pic>
        <p:nvPicPr>
          <p:cNvPr id="9" name="Image 4" descr="Imagen">    </p:cNvPr>
          <p:cNvPicPr>
            <a:picLocks noChangeAspect="1"/>
          </p:cNvPicPr>
          <p:nvPr/>
        </p:nvPicPr>
        <p:blipFill>
          <a:blip r:embed="rId5"/>
          <a:stretch>
            <a:fillRect/>
          </a:stretch>
        </p:blipFill>
        <p:spPr>
          <a:xfrm>
            <a:off x="3333750" y="2476500"/>
            <a:ext cx="1714500" cy="666750"/>
          </a:xfrm>
          <a:prstGeom prst="rect">
            <a:avLst/>
          </a:prstGeom>
        </p:spPr>
      </p:pic>
      <p:sp>
        <p:nvSpPr>
          <p:cNvPr id="10" name="Text 3"/>
          <p:cNvSpPr/>
          <p:nvPr/>
        </p:nvSpPr>
        <p:spPr>
          <a:xfrm>
            <a:off x="3333750" y="2714625"/>
            <a:ext cx="1714500" cy="285750"/>
          </a:xfrm>
          <a:prstGeom prst="rect">
            <a:avLst/>
          </a:prstGeom>
          <a:noFill/>
          <a:ln/>
        </p:spPr>
        <p:txBody>
          <a:bodyPr wrap="square" lIns="0" tIns="0" rIns="0" bIns="0" rtlCol="0" anchor="t"/>
          <a:lstStyle/>
          <a:p>
            <a:pPr algn="ctr" indent="0" marL="0">
              <a:buNone/>
            </a:pPr>
            <a:r>
              <a:rPr lang="en-US" sz="1000" dirty="0">
                <a:solidFill>
                  <a:srgbClr val="166534"/>
                </a:solidFill>
                <a:latin typeface="Arial" pitchFamily="34" charset="0"/>
                <a:ea typeface="Arial" pitchFamily="34" charset="-122"/>
                <a:cs typeface="Arial" pitchFamily="34" charset="-120"/>
              </a:rPr>
              <a:t>Motor de fórmulas</a:t>
            </a:r>
            <a:endParaRPr lang="en-US" sz="1000" dirty="0"/>
          </a:p>
        </p:txBody>
      </p:sp>
      <p:pic>
        <p:nvPicPr>
          <p:cNvPr id="11" name="Image 5" descr="Imagen">    </p:cNvPr>
          <p:cNvPicPr>
            <a:picLocks noChangeAspect="1"/>
          </p:cNvPicPr>
          <p:nvPr/>
        </p:nvPicPr>
        <p:blipFill>
          <a:blip r:embed="rId6"/>
          <a:stretch>
            <a:fillRect/>
          </a:stretch>
        </p:blipFill>
        <p:spPr>
          <a:xfrm>
            <a:off x="1905000" y="1476375"/>
            <a:ext cx="857250" cy="857250"/>
          </a:xfrm>
          <a:prstGeom prst="rect">
            <a:avLst/>
          </a:prstGeom>
        </p:spPr>
      </p:pic>
      <p:sp>
        <p:nvSpPr>
          <p:cNvPr id="12" name="Text 4"/>
          <p:cNvSpPr/>
          <p:nvPr/>
        </p:nvSpPr>
        <p:spPr>
          <a:xfrm>
            <a:off x="571500" y="3619500"/>
            <a:ext cx="6419850" cy="571500"/>
          </a:xfrm>
          <a:prstGeom prst="rect">
            <a:avLst/>
          </a:prstGeom>
          <a:noFill/>
          <a:ln/>
        </p:spPr>
        <p:txBody>
          <a:bodyPr wrap="square" lIns="0" tIns="0" rIns="0" bIns="0" rtlCol="0" anchor="t"/>
          <a:lstStyle/>
          <a:p>
            <a:pPr algn="l" indent="0" marL="0">
              <a:buNone/>
            </a:pPr>
            <a:r>
              <a:rPr lang="en-US" sz="900" dirty="0">
                <a:solidFill>
                  <a:srgbClr val="1E293B"/>
                </a:solidFill>
                <a:latin typeface="Arial" pitchFamily="34" charset="0"/>
                <a:ea typeface="Arial" pitchFamily="34" charset="-122"/>
                <a:cs typeface="Arial" pitchFamily="34" charset="-120"/>
              </a:rPr>
              <a:t>Ver detalle del flujo </a:t>
            </a:r>
            <a:pPr algn="l" indent="0" marL="0">
              <a:buNone/>
            </a:pPr>
            <a:r>
              <a:rPr lang="en-US" sz="900" dirty="0">
                <a:solidFill>
                  <a:srgbClr val="1E293B"/>
                </a:solidFill>
                <a:latin typeface="Arial" pitchFamily="34" charset="0"/>
                <a:ea typeface="Arial" pitchFamily="34" charset="-122"/>
                <a:cs typeface="Arial" pitchFamily="34" charset="-120"/>
              </a:rPr>
              <a:t>1</a:t>
            </a:r>
            <a:pPr algn="l" indent="0" marL="0">
              <a:buNone/>
            </a:pPr>
            <a:r>
              <a:rPr lang="en-US" sz="900" dirty="0">
                <a:solidFill>
                  <a:srgbClr val="1E293B"/>
                </a:solidFill>
                <a:latin typeface="Arial" pitchFamily="34" charset="0"/>
                <a:ea typeface="Arial" pitchFamily="34" charset="-122"/>
                <a:cs typeface="Arial" pitchFamily="34" charset="-120"/>
              </a:rPr>
              <a:t>eferencia_HEADING más arriba.</a:t>
            </a:r>
            <a:endParaRPr lang="en-US" sz="900" dirty="0"/>
          </a:p>
        </p:txBody>
      </p:sp>
      <p:sp>
        <p:nvSpPr>
          <p:cNvPr id="25" name="Slide Number Placeholder 0"/>
          <p:cNvSpPr>
            <a:spLocks noGrp="1"/>
          </p:cNvSpPr>
          <p:nvPr>
            <p:ph type="sldNum" sz="quarter" idx="4294967295"/>
          </p:nvPr>
        </p:nvSpPr>
        <p:spPr>
          <a:xfrm>
            <a:off x="7057080" y="10399392"/>
            <a:ext cx="41148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269394" y="2875318"/>
            <a:ext cx="6734848" cy="269394"/>
          </a:xfrm>
          <a:prstGeom prst="rect">
            <a:avLst/>
          </a:prstGeom>
          <a:noFill/>
          <a:ln/>
        </p:spPr>
        <p:txBody>
          <a:bodyPr wrap="square" lIns="0" tIns="0" rIns="0" bIns="0" rtlCol="0" anchor="t"/>
          <a:lstStyle/>
          <a:p>
            <a:pPr algn="l" indent="0" marL="0">
              <a:buNone/>
            </a:pPr>
            <a:r>
              <a:rPr lang="en-US" sz="1000" dirty="0">
                <a:solidFill>
                  <a:srgbClr val="1E40AF"/>
                </a:solidFill>
                <a:latin typeface="Calibri" pitchFamily="34" charset="0"/>
                <a:ea typeface="Calibri" pitchFamily="34" charset="-122"/>
                <a:cs typeface="Calibri" pitchFamily="34" charset="-120"/>
              </a:rPr>
              <a:t>CAPÍTULO 3 — TABLA CON COLORES PERSONALIZADOS POR CELDA/FILA/COLUMNA</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69394" y="3279409"/>
          <a:ext cx="6061364" cy="914400"/>
        </p:xfrm>
        <a:graphic>
          <a:graphicData uri="http://schemas.openxmlformats.org/drawingml/2006/table">
            <a:tbl>
              <a:tblPr/>
              <a:tblGrid>
                <a:gridCol w="1515341"/>
                <a:gridCol w="1515341"/>
                <a:gridCol w="1515341"/>
                <a:gridCol w="1515341"/>
              </a:tblGrid>
              <a:tr h="0">
                <a:tc>
                  <a:txBody>
                    <a:bodyPr/>
                    <a:lstStyle/>
                    <a:p>
                      <a:pPr algn="ctr" indent="0" marL="0">
                        <a:buNone/>
                      </a:pPr>
                      <a:r>
                        <a:rPr lang="en-US" sz="600" b="1" dirty="0">
                          <a:solidFill>
                            <a:srgbClr val="FFFFFF"/>
                          </a:solidFill>
                        </a:rPr>
                        <a:t>Sensor</a:t>
                      </a:r>
                      <a:endParaRPr lang="en-US" sz="600" dirty="0"/>
                    </a:p>
                  </a:txBody>
                  <a:tcPr marL="53879" marR="53879" marT="53879" marB="53879" anchor="t">
                    <a:lnL w="8980" cap="flat" cmpd="sng" algn="ctr">
                      <a:solidFill>
                        <a:srgbClr val="94A3B8"/>
                      </a:solidFill>
                      <a:prstDash val="solid"/>
                      <a:round/>
                      <a:headEnd type="none" w="med" len="med"/>
                      <a:tailEnd type="none" w="med" len="med"/>
                    </a:lnL>
                    <a:lnR w="8980" cap="flat" cmpd="sng" algn="ctr">
                      <a:solidFill>
                        <a:srgbClr val="94A3B8"/>
                      </a:solidFill>
                      <a:prstDash val="solid"/>
                      <a:round/>
                      <a:headEnd type="none" w="med" len="med"/>
                      <a:tailEnd type="none" w="med" len="med"/>
                    </a:lnR>
                    <a:lnT w="8980" cap="flat" cmpd="sng" algn="ctr">
                      <a:solidFill>
                        <a:srgbClr val="94A3B8"/>
                      </a:solidFill>
                      <a:prstDash val="solid"/>
                      <a:round/>
                      <a:headEnd type="none" w="med" len="med"/>
                      <a:tailEnd type="none" w="med" len="med"/>
                    </a:lnT>
                    <a:lnB w="8980" cap="flat" cmpd="sng" algn="ctr">
                      <a:solidFill>
                        <a:srgbClr val="94A3B8"/>
                      </a:solidFill>
                      <a:prstDash val="solid"/>
                      <a:round/>
                      <a:headEnd type="none" w="med" len="med"/>
                      <a:tailEnd type="none" w="med" len="med"/>
                    </a:lnB>
                    <a:solidFill>
                      <a:srgbClr val="0F172A"/>
                    </a:solidFill>
                  </a:tcPr>
                </a:tc>
                <a:tc>
                  <a:txBody>
                    <a:bodyPr/>
                    <a:lstStyle/>
                    <a:p>
                      <a:pPr algn="ctr" indent="0" marL="0">
                        <a:buNone/>
                      </a:pPr>
                      <a:r>
                        <a:rPr lang="en-US" sz="600" b="1" dirty="0">
                          <a:solidFill>
                            <a:srgbClr val="FFFFFF"/>
                          </a:solidFill>
                        </a:rPr>
                        <a:t>Zona</a:t>
                      </a:r>
                      <a:endParaRPr lang="en-US" sz="600" dirty="0"/>
                    </a:p>
                  </a:txBody>
                  <a:tcPr marL="53879" marR="53879" marT="53879" marB="53879" anchor="t">
                    <a:lnL w="8980" cap="flat" cmpd="sng" algn="ctr">
                      <a:solidFill>
                        <a:srgbClr val="94A3B8"/>
                      </a:solidFill>
                      <a:prstDash val="solid"/>
                      <a:round/>
                      <a:headEnd type="none" w="med" len="med"/>
                      <a:tailEnd type="none" w="med" len="med"/>
                    </a:lnL>
                    <a:lnR w="8980" cap="flat" cmpd="sng" algn="ctr">
                      <a:solidFill>
                        <a:srgbClr val="94A3B8"/>
                      </a:solidFill>
                      <a:prstDash val="solid"/>
                      <a:round/>
                      <a:headEnd type="none" w="med" len="med"/>
                      <a:tailEnd type="none" w="med" len="med"/>
                    </a:lnR>
                    <a:lnT w="8980" cap="flat" cmpd="sng" algn="ctr">
                      <a:solidFill>
                        <a:srgbClr val="94A3B8"/>
                      </a:solidFill>
                      <a:prstDash val="solid"/>
                      <a:round/>
                      <a:headEnd type="none" w="med" len="med"/>
                      <a:tailEnd type="none" w="med" len="med"/>
                    </a:lnT>
                    <a:lnB w="8980" cap="flat" cmpd="sng" algn="ctr">
                      <a:solidFill>
                        <a:srgbClr val="94A3B8"/>
                      </a:solidFill>
                      <a:prstDash val="solid"/>
                      <a:round/>
                      <a:headEnd type="none" w="med" len="med"/>
                      <a:tailEnd type="none" w="med" len="med"/>
                    </a:lnB>
                    <a:solidFill>
                      <a:srgbClr val="E0E7FF"/>
                    </a:solidFill>
                  </a:tcPr>
                </a:tc>
                <a:tc>
                  <a:txBody>
                    <a:bodyPr/>
                    <a:lstStyle/>
                    <a:p>
                      <a:pPr algn="ctr" indent="0" marL="0">
                        <a:buNone/>
                      </a:pPr>
                      <a:r>
                        <a:rPr lang="en-US" sz="600" b="1" dirty="0">
                          <a:solidFill>
                            <a:srgbClr val="FFFFFF"/>
                          </a:solidFill>
                        </a:rPr>
                        <a:t>Valor</a:t>
                      </a:r>
                      <a:endParaRPr lang="en-US" sz="600" dirty="0"/>
                    </a:p>
                  </a:txBody>
                  <a:tcPr marL="53879" marR="53879" marT="53879" marB="53879" anchor="t">
                    <a:lnL w="8980" cap="flat" cmpd="sng" algn="ctr">
                      <a:solidFill>
                        <a:srgbClr val="94A3B8"/>
                      </a:solidFill>
                      <a:prstDash val="solid"/>
                      <a:round/>
                      <a:headEnd type="none" w="med" len="med"/>
                      <a:tailEnd type="none" w="med" len="med"/>
                    </a:lnL>
                    <a:lnR w="8980" cap="flat" cmpd="sng" algn="ctr">
                      <a:solidFill>
                        <a:srgbClr val="94A3B8"/>
                      </a:solidFill>
                      <a:prstDash val="solid"/>
                      <a:round/>
                      <a:headEnd type="none" w="med" len="med"/>
                      <a:tailEnd type="none" w="med" len="med"/>
                    </a:lnR>
                    <a:lnT w="8980" cap="flat" cmpd="sng" algn="ctr">
                      <a:solidFill>
                        <a:srgbClr val="94A3B8"/>
                      </a:solidFill>
                      <a:prstDash val="solid"/>
                      <a:round/>
                      <a:headEnd type="none" w="med" len="med"/>
                      <a:tailEnd type="none" w="med" len="med"/>
                    </a:lnT>
                    <a:lnB w="8980" cap="flat" cmpd="sng" algn="ctr">
                      <a:solidFill>
                        <a:srgbClr val="94A3B8"/>
                      </a:solidFill>
                      <a:prstDash val="solid"/>
                      <a:round/>
                      <a:headEnd type="none" w="med" len="med"/>
                      <a:tailEnd type="none" w="med" len="med"/>
                    </a:lnB>
                    <a:solidFill>
                      <a:srgbClr val="0F172A"/>
                    </a:solidFill>
                  </a:tcPr>
                </a:tc>
                <a:tc>
                  <a:txBody>
                    <a:bodyPr/>
                    <a:lstStyle/>
                    <a:p>
                      <a:pPr algn="ctr" indent="0" marL="0">
                        <a:buNone/>
                      </a:pPr>
                      <a:r>
                        <a:rPr lang="en-US" sz="600" b="1" dirty="0">
                          <a:solidFill>
                            <a:srgbClr val="FFFFFF"/>
                          </a:solidFill>
                        </a:rPr>
                        <a:t>Observación</a:t>
                      </a:r>
                      <a:endParaRPr lang="en-US" sz="600" dirty="0"/>
                    </a:p>
                  </a:txBody>
                  <a:tcPr marL="53879" marR="53879" marT="53879" marB="53879" anchor="t">
                    <a:lnL w="8980" cap="flat" cmpd="sng" algn="ctr">
                      <a:solidFill>
                        <a:srgbClr val="94A3B8"/>
                      </a:solidFill>
                      <a:prstDash val="solid"/>
                      <a:round/>
                      <a:headEnd type="none" w="med" len="med"/>
                      <a:tailEnd type="none" w="med" len="med"/>
                    </a:lnL>
                    <a:lnR w="8980" cap="flat" cmpd="sng" algn="ctr">
                      <a:solidFill>
                        <a:srgbClr val="94A3B8"/>
                      </a:solidFill>
                      <a:prstDash val="solid"/>
                      <a:round/>
                      <a:headEnd type="none" w="med" len="med"/>
                      <a:tailEnd type="none" w="med" len="med"/>
                    </a:lnR>
                    <a:lnT w="8980" cap="flat" cmpd="sng" algn="ctr">
                      <a:solidFill>
                        <a:srgbClr val="94A3B8"/>
                      </a:solidFill>
                      <a:prstDash val="solid"/>
                      <a:round/>
                      <a:headEnd type="none" w="med" len="med"/>
                      <a:tailEnd type="none" w="med" len="med"/>
                    </a:lnT>
                    <a:lnB w="8980" cap="flat" cmpd="sng" algn="ctr">
                      <a:solidFill>
                        <a:srgbClr val="94A3B8"/>
                      </a:solidFill>
                      <a:prstDash val="solid"/>
                      <a:round/>
                      <a:headEnd type="none" w="med" len="med"/>
                      <a:tailEnd type="none" w="med" len="med"/>
                    </a:lnB>
                    <a:solidFill>
                      <a:srgbClr val="0F172A"/>
                    </a:solidFill>
                  </a:tcPr>
                </a:tc>
              </a:tr>
              <a:tr h="0">
                <a:tc>
                  <a:txBody>
                    <a:bodyPr/>
                    <a:lstStyle/>
                    <a:p>
                      <a:pPr algn="ctr" indent="0" marL="0">
                        <a:buNone/>
                      </a:pPr>
                      <a:r>
                        <a:rPr lang="en-US" sz="600" dirty="0">
                          <a:solidFill>
                            <a:srgbClr val="000000"/>
                          </a:solidFill>
                        </a:rPr>
                        <a:t>Piezómetro P-1</a:t>
                      </a:r>
                      <a:endParaRPr lang="en-US" sz="600" dirty="0"/>
                    </a:p>
                  </a:txBody>
                  <a:tcPr marL="53879" marR="53879" marT="53879" marB="53879" anchor="t">
                    <a:lnL w="8980" cap="flat" cmpd="sng" algn="ctr">
                      <a:solidFill>
                        <a:srgbClr val="94A3B8"/>
                      </a:solidFill>
                      <a:prstDash val="solid"/>
                      <a:round/>
                      <a:headEnd type="none" w="med" len="med"/>
                      <a:tailEnd type="none" w="med" len="med"/>
                    </a:lnL>
                    <a:lnR w="8980" cap="flat" cmpd="sng" algn="ctr">
                      <a:solidFill>
                        <a:srgbClr val="94A3B8"/>
                      </a:solidFill>
                      <a:prstDash val="solid"/>
                      <a:round/>
                      <a:headEnd type="none" w="med" len="med"/>
                      <a:tailEnd type="none" w="med" len="med"/>
                    </a:lnR>
                    <a:lnT w="8980" cap="flat" cmpd="sng" algn="ctr">
                      <a:solidFill>
                        <a:srgbClr val="94A3B8"/>
                      </a:solidFill>
                      <a:prstDash val="solid"/>
                      <a:round/>
                      <a:headEnd type="none" w="med" len="med"/>
                      <a:tailEnd type="none" w="med" len="med"/>
                    </a:lnT>
                    <a:lnB w="8980" cap="flat" cmpd="sng" algn="ctr">
                      <a:solidFill>
                        <a:srgbClr val="94A3B8"/>
                      </a:solidFill>
                      <a:prstDash val="solid"/>
                      <a:round/>
                      <a:headEnd type="none" w="med" len="med"/>
                      <a:tailEnd type="none" w="med" len="med"/>
                    </a:lnB>
                  </a:tcPr>
                </a:tc>
                <a:tc>
                  <a:txBody>
                    <a:bodyPr/>
                    <a:lstStyle/>
                    <a:p>
                      <a:pPr algn="ctr" indent="0" marL="0">
                        <a:buNone/>
                      </a:pPr>
                      <a:r>
                        <a:rPr lang="en-US" sz="600" dirty="0">
                          <a:solidFill>
                            <a:srgbClr val="000000"/>
                          </a:solidFill>
                        </a:rPr>
                        <a:t>Norte</a:t>
                      </a:r>
                      <a:endParaRPr lang="en-US" sz="600" dirty="0"/>
                    </a:p>
                  </a:txBody>
                  <a:tcPr marL="53879" marR="53879" marT="53879" marB="53879" anchor="t">
                    <a:lnL w="8980" cap="flat" cmpd="sng" algn="ctr">
                      <a:solidFill>
                        <a:srgbClr val="94A3B8"/>
                      </a:solidFill>
                      <a:prstDash val="solid"/>
                      <a:round/>
                      <a:headEnd type="none" w="med" len="med"/>
                      <a:tailEnd type="none" w="med" len="med"/>
                    </a:lnL>
                    <a:lnR w="8980" cap="flat" cmpd="sng" algn="ctr">
                      <a:solidFill>
                        <a:srgbClr val="94A3B8"/>
                      </a:solidFill>
                      <a:prstDash val="solid"/>
                      <a:round/>
                      <a:headEnd type="none" w="med" len="med"/>
                      <a:tailEnd type="none" w="med" len="med"/>
                    </a:lnR>
                    <a:lnT w="8980" cap="flat" cmpd="sng" algn="ctr">
                      <a:solidFill>
                        <a:srgbClr val="94A3B8"/>
                      </a:solidFill>
                      <a:prstDash val="solid"/>
                      <a:round/>
                      <a:headEnd type="none" w="med" len="med"/>
                      <a:tailEnd type="none" w="med" len="med"/>
                    </a:lnT>
                    <a:lnB w="8980" cap="flat" cmpd="sng" algn="ctr">
                      <a:solidFill>
                        <a:srgbClr val="94A3B8"/>
                      </a:solidFill>
                      <a:prstDash val="solid"/>
                      <a:round/>
                      <a:headEnd type="none" w="med" len="med"/>
                      <a:tailEnd type="none" w="med" len="med"/>
                    </a:lnB>
                    <a:solidFill>
                      <a:srgbClr val="E0E7FF"/>
                    </a:solidFill>
                  </a:tcPr>
                </a:tc>
                <a:tc>
                  <a:txBody>
                    <a:bodyPr/>
                    <a:lstStyle/>
                    <a:p>
                      <a:pPr algn="ctr" indent="0" marL="0">
                        <a:buNone/>
                      </a:pPr>
                      <a:r>
                        <a:rPr lang="en-US" sz="600" dirty="0">
                          <a:solidFill>
                            <a:srgbClr val="000000"/>
                          </a:solidFill>
                        </a:rPr>
                        <a:t>12.4</a:t>
                      </a:r>
                      <a:endParaRPr lang="en-US" sz="600" dirty="0"/>
                    </a:p>
                  </a:txBody>
                  <a:tcPr marL="53879" marR="53879" marT="53879" marB="53879" anchor="t">
                    <a:lnL w="8980" cap="flat" cmpd="sng" algn="ctr">
                      <a:solidFill>
                        <a:srgbClr val="94A3B8"/>
                      </a:solidFill>
                      <a:prstDash val="solid"/>
                      <a:round/>
                      <a:headEnd type="none" w="med" len="med"/>
                      <a:tailEnd type="none" w="med" len="med"/>
                    </a:lnL>
                    <a:lnR w="8980" cap="flat" cmpd="sng" algn="ctr">
                      <a:solidFill>
                        <a:srgbClr val="94A3B8"/>
                      </a:solidFill>
                      <a:prstDash val="solid"/>
                      <a:round/>
                      <a:headEnd type="none" w="med" len="med"/>
                      <a:tailEnd type="none" w="med" len="med"/>
                    </a:lnR>
                    <a:lnT w="8980" cap="flat" cmpd="sng" algn="ctr">
                      <a:solidFill>
                        <a:srgbClr val="94A3B8"/>
                      </a:solidFill>
                      <a:prstDash val="solid"/>
                      <a:round/>
                      <a:headEnd type="none" w="med" len="med"/>
                      <a:tailEnd type="none" w="med" len="med"/>
                    </a:lnT>
                    <a:lnB w="8980" cap="flat" cmpd="sng" algn="ctr">
                      <a:solidFill>
                        <a:srgbClr val="94A3B8"/>
                      </a:solidFill>
                      <a:prstDash val="solid"/>
                      <a:round/>
                      <a:headEnd type="none" w="med" len="med"/>
                      <a:tailEnd type="none" w="med" len="med"/>
                    </a:lnB>
                  </a:tcPr>
                </a:tc>
                <a:tc>
                  <a:txBody>
                    <a:bodyPr/>
                    <a:lstStyle/>
                    <a:p>
                      <a:pPr algn="ctr" indent="0" marL="0">
                        <a:buNone/>
                      </a:pPr>
                      <a:r>
                        <a:rPr lang="en-US" sz="600" dirty="0">
                          <a:solidFill>
                            <a:srgbClr val="000000"/>
                          </a:solidFill>
                        </a:rPr>
                        <a:t>Dentro de rango</a:t>
                      </a:r>
                      <a:endParaRPr lang="en-US" sz="600" dirty="0"/>
                    </a:p>
                  </a:txBody>
                  <a:tcPr marL="53879" marR="53879" marT="53879" marB="53879" anchor="t">
                    <a:lnL w="8980" cap="flat" cmpd="sng" algn="ctr">
                      <a:solidFill>
                        <a:srgbClr val="94A3B8"/>
                      </a:solidFill>
                      <a:prstDash val="solid"/>
                      <a:round/>
                      <a:headEnd type="none" w="med" len="med"/>
                      <a:tailEnd type="none" w="med" len="med"/>
                    </a:lnL>
                    <a:lnR w="8980" cap="flat" cmpd="sng" algn="ctr">
                      <a:solidFill>
                        <a:srgbClr val="94A3B8"/>
                      </a:solidFill>
                      <a:prstDash val="solid"/>
                      <a:round/>
                      <a:headEnd type="none" w="med" len="med"/>
                      <a:tailEnd type="none" w="med" len="med"/>
                    </a:lnR>
                    <a:lnT w="8980" cap="flat" cmpd="sng" algn="ctr">
                      <a:solidFill>
                        <a:srgbClr val="94A3B8"/>
                      </a:solidFill>
                      <a:prstDash val="solid"/>
                      <a:round/>
                      <a:headEnd type="none" w="med" len="med"/>
                      <a:tailEnd type="none" w="med" len="med"/>
                    </a:lnT>
                    <a:lnB w="8980" cap="flat" cmpd="sng" algn="ctr">
                      <a:solidFill>
                        <a:srgbClr val="94A3B8"/>
                      </a:solidFill>
                      <a:prstDash val="solid"/>
                      <a:round/>
                      <a:headEnd type="none" w="med" len="med"/>
                      <a:tailEnd type="none" w="med" len="med"/>
                    </a:lnB>
                  </a:tcPr>
                </a:tc>
              </a:tr>
              <a:tr h="0">
                <a:tc>
                  <a:txBody>
                    <a:bodyPr/>
                    <a:lstStyle/>
                    <a:p>
                      <a:pPr algn="ctr" indent="0" marL="0">
                        <a:buNone/>
                      </a:pPr>
                      <a:r>
                        <a:rPr lang="en-US" sz="600" dirty="0">
                          <a:solidFill>
                            <a:srgbClr val="000000"/>
                          </a:solidFill>
                        </a:rPr>
                        <a:t>Piezómetro P-2</a:t>
                      </a:r>
                      <a:endParaRPr lang="en-US" sz="600" dirty="0"/>
                    </a:p>
                  </a:txBody>
                  <a:tcPr marL="53879" marR="53879" marT="53879" marB="53879" anchor="t">
                    <a:lnL w="8980" cap="flat" cmpd="sng" algn="ctr">
                      <a:solidFill>
                        <a:srgbClr val="94A3B8"/>
                      </a:solidFill>
                      <a:prstDash val="solid"/>
                      <a:round/>
                      <a:headEnd type="none" w="med" len="med"/>
                      <a:tailEnd type="none" w="med" len="med"/>
                    </a:lnL>
                    <a:lnR w="8980" cap="flat" cmpd="sng" algn="ctr">
                      <a:solidFill>
                        <a:srgbClr val="94A3B8"/>
                      </a:solidFill>
                      <a:prstDash val="solid"/>
                      <a:round/>
                      <a:headEnd type="none" w="med" len="med"/>
                      <a:tailEnd type="none" w="med" len="med"/>
                    </a:lnR>
                    <a:lnT w="8980" cap="flat" cmpd="sng" algn="ctr">
                      <a:solidFill>
                        <a:srgbClr val="94A3B8"/>
                      </a:solidFill>
                      <a:prstDash val="solid"/>
                      <a:round/>
                      <a:headEnd type="none" w="med" len="med"/>
                      <a:tailEnd type="none" w="med" len="med"/>
                    </a:lnT>
                    <a:lnB w="8980" cap="flat" cmpd="sng" algn="ctr">
                      <a:solidFill>
                        <a:srgbClr val="94A3B8"/>
                      </a:solidFill>
                      <a:prstDash val="solid"/>
                      <a:round/>
                      <a:headEnd type="none" w="med" len="med"/>
                      <a:tailEnd type="none" w="med" len="med"/>
                    </a:lnB>
                  </a:tcPr>
                </a:tc>
                <a:tc>
                  <a:txBody>
                    <a:bodyPr/>
                    <a:lstStyle/>
                    <a:p>
                      <a:pPr algn="ctr" indent="0" marL="0">
                        <a:buNone/>
                      </a:pPr>
                      <a:r>
                        <a:rPr lang="en-US" sz="600" dirty="0">
                          <a:solidFill>
                            <a:srgbClr val="000000"/>
                          </a:solidFill>
                        </a:rPr>
                        <a:t>Sur</a:t>
                      </a:r>
                      <a:endParaRPr lang="en-US" sz="600" dirty="0"/>
                    </a:p>
                  </a:txBody>
                  <a:tcPr marL="53879" marR="53879" marT="53879" marB="53879" anchor="t">
                    <a:lnL w="8980" cap="flat" cmpd="sng" algn="ctr">
                      <a:solidFill>
                        <a:srgbClr val="94A3B8"/>
                      </a:solidFill>
                      <a:prstDash val="solid"/>
                      <a:round/>
                      <a:headEnd type="none" w="med" len="med"/>
                      <a:tailEnd type="none" w="med" len="med"/>
                    </a:lnL>
                    <a:lnR w="8980" cap="flat" cmpd="sng" algn="ctr">
                      <a:solidFill>
                        <a:srgbClr val="94A3B8"/>
                      </a:solidFill>
                      <a:prstDash val="solid"/>
                      <a:round/>
                      <a:headEnd type="none" w="med" len="med"/>
                      <a:tailEnd type="none" w="med" len="med"/>
                    </a:lnR>
                    <a:lnT w="8980" cap="flat" cmpd="sng" algn="ctr">
                      <a:solidFill>
                        <a:srgbClr val="94A3B8"/>
                      </a:solidFill>
                      <a:prstDash val="solid"/>
                      <a:round/>
                      <a:headEnd type="none" w="med" len="med"/>
                      <a:tailEnd type="none" w="med" len="med"/>
                    </a:lnT>
                    <a:lnB w="8980" cap="flat" cmpd="sng" algn="ctr">
                      <a:solidFill>
                        <a:srgbClr val="94A3B8"/>
                      </a:solidFill>
                      <a:prstDash val="solid"/>
                      <a:round/>
                      <a:headEnd type="none" w="med" len="med"/>
                      <a:tailEnd type="none" w="med" len="med"/>
                    </a:lnB>
                    <a:solidFill>
                      <a:srgbClr val="E0E7FF"/>
                    </a:solidFill>
                  </a:tcPr>
                </a:tc>
                <a:tc>
                  <a:txBody>
                    <a:bodyPr/>
                    <a:lstStyle/>
                    <a:p>
                      <a:pPr algn="ctr" indent="0" marL="0">
                        <a:buNone/>
                      </a:pPr>
                      <a:r>
                        <a:rPr lang="en-US" sz="600" dirty="0">
                          <a:solidFill>
                            <a:srgbClr val="991B1B"/>
                          </a:solidFill>
                        </a:rPr>
                        <a:t>8.1</a:t>
                      </a:r>
                      <a:endParaRPr lang="en-US" sz="600" dirty="0"/>
                    </a:p>
                  </a:txBody>
                  <a:tcPr marL="53879" marR="53879" marT="53879" marB="53879" anchor="t">
                    <a:lnL w="8980" cap="flat" cmpd="sng" algn="ctr">
                      <a:solidFill>
                        <a:srgbClr val="94A3B8"/>
                      </a:solidFill>
                      <a:prstDash val="solid"/>
                      <a:round/>
                      <a:headEnd type="none" w="med" len="med"/>
                      <a:tailEnd type="none" w="med" len="med"/>
                    </a:lnL>
                    <a:lnR w="8980" cap="flat" cmpd="sng" algn="ctr">
                      <a:solidFill>
                        <a:srgbClr val="94A3B8"/>
                      </a:solidFill>
                      <a:prstDash val="solid"/>
                      <a:round/>
                      <a:headEnd type="none" w="med" len="med"/>
                      <a:tailEnd type="none" w="med" len="med"/>
                    </a:lnR>
                    <a:lnT w="8980" cap="flat" cmpd="sng" algn="ctr">
                      <a:solidFill>
                        <a:srgbClr val="94A3B8"/>
                      </a:solidFill>
                      <a:prstDash val="solid"/>
                      <a:round/>
                      <a:headEnd type="none" w="med" len="med"/>
                      <a:tailEnd type="none" w="med" len="med"/>
                    </a:lnT>
                    <a:lnB w="8980" cap="flat" cmpd="sng" algn="ctr">
                      <a:solidFill>
                        <a:srgbClr val="94A3B8"/>
                      </a:solidFill>
                      <a:prstDash val="solid"/>
                      <a:round/>
                      <a:headEnd type="none" w="med" len="med"/>
                      <a:tailEnd type="none" w="med" len="med"/>
                    </a:lnB>
                    <a:solidFill>
                      <a:srgbClr val="FECACA"/>
                    </a:solidFill>
                  </a:tcPr>
                </a:tc>
                <a:tc>
                  <a:txBody>
                    <a:bodyPr/>
                    <a:lstStyle/>
                    <a:p>
                      <a:pPr algn="ctr" indent="0" marL="0">
                        <a:buNone/>
                      </a:pPr>
                      <a:r>
                        <a:rPr lang="en-US" sz="600" dirty="0">
                          <a:solidFill>
                            <a:srgbClr val="000000"/>
                          </a:solidFill>
                        </a:rPr>
                        <a:t>Dentro de rango</a:t>
                      </a:r>
                      <a:endParaRPr lang="en-US" sz="600" dirty="0"/>
                    </a:p>
                  </a:txBody>
                  <a:tcPr marL="53879" marR="53879" marT="53879" marB="53879" anchor="t">
                    <a:lnL w="8980" cap="flat" cmpd="sng" algn="ctr">
                      <a:solidFill>
                        <a:srgbClr val="94A3B8"/>
                      </a:solidFill>
                      <a:prstDash val="solid"/>
                      <a:round/>
                      <a:headEnd type="none" w="med" len="med"/>
                      <a:tailEnd type="none" w="med" len="med"/>
                    </a:lnL>
                    <a:lnR w="8980" cap="flat" cmpd="sng" algn="ctr">
                      <a:solidFill>
                        <a:srgbClr val="94A3B8"/>
                      </a:solidFill>
                      <a:prstDash val="solid"/>
                      <a:round/>
                      <a:headEnd type="none" w="med" len="med"/>
                      <a:tailEnd type="none" w="med" len="med"/>
                    </a:lnR>
                    <a:lnT w="8980" cap="flat" cmpd="sng" algn="ctr">
                      <a:solidFill>
                        <a:srgbClr val="94A3B8"/>
                      </a:solidFill>
                      <a:prstDash val="solid"/>
                      <a:round/>
                      <a:headEnd type="none" w="med" len="med"/>
                      <a:tailEnd type="none" w="med" len="med"/>
                    </a:lnT>
                    <a:lnB w="8980" cap="flat" cmpd="sng" algn="ctr">
                      <a:solidFill>
                        <a:srgbClr val="94A3B8"/>
                      </a:solidFill>
                      <a:prstDash val="solid"/>
                      <a:round/>
                      <a:headEnd type="none" w="med" len="med"/>
                      <a:tailEnd type="none" w="med" len="med"/>
                    </a:lnB>
                  </a:tcPr>
                </a:tc>
              </a:tr>
              <a:tr h="0">
                <a:tc>
                  <a:txBody>
                    <a:bodyPr/>
                    <a:lstStyle/>
                    <a:p>
                      <a:pPr algn="ctr" indent="0" marL="0">
                        <a:buNone/>
                      </a:pPr>
                      <a:r>
                        <a:rPr lang="en-US" sz="600" dirty="0">
                          <a:solidFill>
                            <a:srgbClr val="000000"/>
                          </a:solidFill>
                        </a:rPr>
                        <a:t>Inclinómetro I-1</a:t>
                      </a:r>
                      <a:endParaRPr lang="en-US" sz="600" dirty="0"/>
                    </a:p>
                  </a:txBody>
                  <a:tcPr marL="53879" marR="53879" marT="53879" marB="53879" anchor="t">
                    <a:lnL w="8980" cap="flat" cmpd="sng" algn="ctr">
                      <a:solidFill>
                        <a:srgbClr val="94A3B8"/>
                      </a:solidFill>
                      <a:prstDash val="solid"/>
                      <a:round/>
                      <a:headEnd type="none" w="med" len="med"/>
                      <a:tailEnd type="none" w="med" len="med"/>
                    </a:lnL>
                    <a:lnR w="8980" cap="flat" cmpd="sng" algn="ctr">
                      <a:solidFill>
                        <a:srgbClr val="94A3B8"/>
                      </a:solidFill>
                      <a:prstDash val="solid"/>
                      <a:round/>
                      <a:headEnd type="none" w="med" len="med"/>
                      <a:tailEnd type="none" w="med" len="med"/>
                    </a:lnR>
                    <a:lnT w="8980" cap="flat" cmpd="sng" algn="ctr">
                      <a:solidFill>
                        <a:srgbClr val="94A3B8"/>
                      </a:solidFill>
                      <a:prstDash val="solid"/>
                      <a:round/>
                      <a:headEnd type="none" w="med" len="med"/>
                      <a:tailEnd type="none" w="med" len="med"/>
                    </a:lnT>
                    <a:lnB w="8980" cap="flat" cmpd="sng" algn="ctr">
                      <a:solidFill>
                        <a:srgbClr val="94A3B8"/>
                      </a:solidFill>
                      <a:prstDash val="solid"/>
                      <a:round/>
                      <a:headEnd type="none" w="med" len="med"/>
                      <a:tailEnd type="none" w="med" len="med"/>
                    </a:lnB>
                    <a:solidFill>
                      <a:srgbClr val="FEF9C3"/>
                    </a:solidFill>
                  </a:tcPr>
                </a:tc>
                <a:tc>
                  <a:txBody>
                    <a:bodyPr/>
                    <a:lstStyle/>
                    <a:p>
                      <a:pPr algn="ctr" indent="0" marL="0">
                        <a:buNone/>
                      </a:pPr>
                      <a:r>
                        <a:rPr lang="en-US" sz="600" dirty="0">
                          <a:solidFill>
                            <a:srgbClr val="000000"/>
                          </a:solidFill>
                        </a:rPr>
                        <a:t>Este</a:t>
                      </a:r>
                      <a:endParaRPr lang="en-US" sz="600" dirty="0"/>
                    </a:p>
                  </a:txBody>
                  <a:tcPr marL="53879" marR="53879" marT="53879" marB="53879" anchor="t">
                    <a:lnL w="8980" cap="flat" cmpd="sng" algn="ctr">
                      <a:solidFill>
                        <a:srgbClr val="94A3B8"/>
                      </a:solidFill>
                      <a:prstDash val="solid"/>
                      <a:round/>
                      <a:headEnd type="none" w="med" len="med"/>
                      <a:tailEnd type="none" w="med" len="med"/>
                    </a:lnL>
                    <a:lnR w="8980" cap="flat" cmpd="sng" algn="ctr">
                      <a:solidFill>
                        <a:srgbClr val="94A3B8"/>
                      </a:solidFill>
                      <a:prstDash val="solid"/>
                      <a:round/>
                      <a:headEnd type="none" w="med" len="med"/>
                      <a:tailEnd type="none" w="med" len="med"/>
                    </a:lnR>
                    <a:lnT w="8980" cap="flat" cmpd="sng" algn="ctr">
                      <a:solidFill>
                        <a:srgbClr val="94A3B8"/>
                      </a:solidFill>
                      <a:prstDash val="solid"/>
                      <a:round/>
                      <a:headEnd type="none" w="med" len="med"/>
                      <a:tailEnd type="none" w="med" len="med"/>
                    </a:lnT>
                    <a:lnB w="8980" cap="flat" cmpd="sng" algn="ctr">
                      <a:solidFill>
                        <a:srgbClr val="94A3B8"/>
                      </a:solidFill>
                      <a:prstDash val="solid"/>
                      <a:round/>
                      <a:headEnd type="none" w="med" len="med"/>
                      <a:tailEnd type="none" w="med" len="med"/>
                    </a:lnB>
                    <a:solidFill>
                      <a:srgbClr val="FEF9C3"/>
                    </a:solidFill>
                  </a:tcPr>
                </a:tc>
                <a:tc>
                  <a:txBody>
                    <a:bodyPr/>
                    <a:lstStyle/>
                    <a:p>
                      <a:pPr algn="ctr" indent="0" marL="0">
                        <a:buNone/>
                      </a:pPr>
                      <a:r>
                        <a:rPr lang="en-US" sz="600" dirty="0">
                          <a:solidFill>
                            <a:srgbClr val="000000"/>
                          </a:solidFill>
                        </a:rPr>
                        <a:t>45.2</a:t>
                      </a:r>
                      <a:endParaRPr lang="en-US" sz="600" dirty="0"/>
                    </a:p>
                  </a:txBody>
                  <a:tcPr marL="53879" marR="53879" marT="53879" marB="53879" anchor="t">
                    <a:lnL w="8980" cap="flat" cmpd="sng" algn="ctr">
                      <a:solidFill>
                        <a:srgbClr val="94A3B8"/>
                      </a:solidFill>
                      <a:prstDash val="solid"/>
                      <a:round/>
                      <a:headEnd type="none" w="med" len="med"/>
                      <a:tailEnd type="none" w="med" len="med"/>
                    </a:lnL>
                    <a:lnR w="8980" cap="flat" cmpd="sng" algn="ctr">
                      <a:solidFill>
                        <a:srgbClr val="94A3B8"/>
                      </a:solidFill>
                      <a:prstDash val="solid"/>
                      <a:round/>
                      <a:headEnd type="none" w="med" len="med"/>
                      <a:tailEnd type="none" w="med" len="med"/>
                    </a:lnR>
                    <a:lnT w="8980" cap="flat" cmpd="sng" algn="ctr">
                      <a:solidFill>
                        <a:srgbClr val="94A3B8"/>
                      </a:solidFill>
                      <a:prstDash val="solid"/>
                      <a:round/>
                      <a:headEnd type="none" w="med" len="med"/>
                      <a:tailEnd type="none" w="med" len="med"/>
                    </a:lnT>
                    <a:lnB w="8980" cap="flat" cmpd="sng" algn="ctr">
                      <a:solidFill>
                        <a:srgbClr val="94A3B8"/>
                      </a:solidFill>
                      <a:prstDash val="solid"/>
                      <a:round/>
                      <a:headEnd type="none" w="med" len="med"/>
                      <a:tailEnd type="none" w="med" len="med"/>
                    </a:lnB>
                    <a:solidFill>
                      <a:srgbClr val="FEF9C3"/>
                    </a:solidFill>
                  </a:tcPr>
                </a:tc>
                <a:tc>
                  <a:txBody>
                    <a:bodyPr/>
                    <a:lstStyle/>
                    <a:p>
                      <a:pPr algn="ctr" indent="0" marL="0">
                        <a:buNone/>
                      </a:pPr>
                      <a:r>
                        <a:rPr lang="en-US" sz="600" dirty="0">
                          <a:solidFill>
                            <a:srgbClr val="000000"/>
                          </a:solidFill>
                        </a:rPr>
                        <a:t>Revisar en próxima visita</a:t>
                      </a:r>
                      <a:endParaRPr lang="en-US" sz="600" dirty="0"/>
                    </a:p>
                  </a:txBody>
                  <a:tcPr marL="53879" marR="53879" marT="53879" marB="53879" anchor="t">
                    <a:lnL w="8980" cap="flat" cmpd="sng" algn="ctr">
                      <a:solidFill>
                        <a:srgbClr val="94A3B8"/>
                      </a:solidFill>
                      <a:prstDash val="solid"/>
                      <a:round/>
                      <a:headEnd type="none" w="med" len="med"/>
                      <a:tailEnd type="none" w="med" len="med"/>
                    </a:lnL>
                    <a:lnR w="8980" cap="flat" cmpd="sng" algn="ctr">
                      <a:solidFill>
                        <a:srgbClr val="94A3B8"/>
                      </a:solidFill>
                      <a:prstDash val="solid"/>
                      <a:round/>
                      <a:headEnd type="none" w="med" len="med"/>
                      <a:tailEnd type="none" w="med" len="med"/>
                    </a:lnR>
                    <a:lnT w="8980" cap="flat" cmpd="sng" algn="ctr">
                      <a:solidFill>
                        <a:srgbClr val="94A3B8"/>
                      </a:solidFill>
                      <a:prstDash val="solid"/>
                      <a:round/>
                      <a:headEnd type="none" w="med" len="med"/>
                      <a:tailEnd type="none" w="med" len="med"/>
                    </a:lnT>
                    <a:lnB w="8980" cap="flat" cmpd="sng" algn="ctr">
                      <a:solidFill>
                        <a:srgbClr val="94A3B8"/>
                      </a:solidFill>
                      <a:prstDash val="solid"/>
                      <a:round/>
                      <a:headEnd type="none" w="med" len="med"/>
                      <a:tailEnd type="none" w="med" len="med"/>
                    </a:lnB>
                    <a:solidFill>
                      <a:srgbClr val="FEF9C3"/>
                    </a:solidFill>
                  </a:tcPr>
                </a:tc>
              </a:tr>
            </a:tbl>
          </a:graphicData>
        </a:graphic>
      </p:graphicFrame>
      <p:pic>
        <p:nvPicPr>
          <p:cNvPr id="4" name="Image 0" descr="Vista satelital de la unidad minera Alpayana">    </p:cNvPr>
          <p:cNvPicPr>
            <a:picLocks noChangeAspect="1"/>
          </p:cNvPicPr>
          <p:nvPr/>
        </p:nvPicPr>
        <p:blipFill>
          <a:blip r:embed="rId1"/>
          <a:stretch>
            <a:fillRect/>
          </a:stretch>
        </p:blipFill>
        <p:spPr>
          <a:xfrm>
            <a:off x="269394" y="4963121"/>
            <a:ext cx="2693939" cy="1629833"/>
          </a:xfrm>
          <a:prstGeom prst="rect">
            <a:avLst/>
          </a:prstGeom>
        </p:spPr>
      </p:pic>
      <p:sp>
        <p:nvSpPr>
          <p:cNvPr id="5" name="Text 1"/>
          <p:cNvSpPr/>
          <p:nvPr/>
        </p:nvSpPr>
        <p:spPr>
          <a:xfrm>
            <a:off x="269394" y="6592955"/>
            <a:ext cx="2693939" cy="121227"/>
          </a:xfrm>
          <a:prstGeom prst="rect">
            <a:avLst/>
          </a:prstGeom>
          <a:noFill/>
          <a:ln/>
        </p:spPr>
        <p:txBody>
          <a:bodyPr wrap="square" rtlCol="0" anchor="ctr"/>
          <a:lstStyle/>
          <a:p>
            <a:pPr algn="ctr" indent="0" marL="0">
              <a:buNone/>
            </a:pPr>
            <a:r>
              <a:rPr lang="en-US" sz="500" i="1" dirty="0">
                <a:solidFill>
                  <a:srgbClr val="4F81BD"/>
                </a:solidFill>
              </a:rPr>
              <a:t>Vista satelital de la unidad minera Alpayana</a:t>
            </a:r>
            <a:endParaRPr lang="en-US" sz="500" dirty="0"/>
          </a:p>
        </p:txBody>
      </p:sp>
      <p:sp>
        <p:nvSpPr>
          <p:cNvPr id="25" name="Slide Number Placeholder 0"/>
          <p:cNvSpPr>
            <a:spLocks noGrp="1"/>
          </p:cNvSpPr>
          <p:nvPr>
            <p:ph type="sldNum" sz="quarter" idx="4294967295"/>
          </p:nvPr>
        </p:nvSpPr>
        <p:spPr>
          <a:xfrm>
            <a:off x="7057080" y="10399392"/>
            <a:ext cx="41148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69394" y="202591"/>
            <a:ext cx="7004242" cy="269394"/>
          </a:xfrm>
          <a:prstGeom prst="rect">
            <a:avLst/>
          </a:prstGeom>
          <a:noFill/>
          <a:ln/>
        </p:spPr>
        <p:txBody>
          <a:bodyPr wrap="square" lIns="0" tIns="0" rIns="0" bIns="0" rtlCol="0" anchor="t"/>
          <a:lstStyle/>
          <a:p>
            <a:pPr algn="l" indent="0" marL="0">
              <a:buNone/>
            </a:pPr>
            <a:r>
              <a:rPr lang="en-US" sz="1000" dirty="0">
                <a:solidFill>
                  <a:srgbClr val="1E40AF"/>
                </a:solidFill>
                <a:latin typeface="Calibri" pitchFamily="34" charset="0"/>
                <a:ea typeface="Calibri" pitchFamily="34" charset="-122"/>
                <a:cs typeface="Calibri" pitchFamily="34" charset="-120"/>
              </a:rPr>
              <a:t>CAPÍTULO 4 — INDICADORES EN VIVO (A3 VERTICAL)</a:t>
            </a:r>
            <a:endParaRPr lang="en-US" sz="1000" dirty="0"/>
          </a:p>
        </p:txBody>
      </p:sp>
      <p:sp>
        <p:nvSpPr>
          <p:cNvPr id="3" name="Shape 1"/>
          <p:cNvSpPr/>
          <p:nvPr/>
        </p:nvSpPr>
        <p:spPr>
          <a:xfrm>
            <a:off x="269394" y="674030"/>
            <a:ext cx="2020455" cy="942879"/>
          </a:xfrm>
          <a:prstGeom prst="roundRect">
            <a:avLst>
              <a:gd name="adj" fmla="val 5819"/>
            </a:avLst>
          </a:prstGeom>
          <a:solidFill>
            <a:srgbClr val="F8FAFC"/>
          </a:solidFill>
          <a:ln w="12700">
            <a:solidFill>
              <a:srgbClr val="E2E8F0"/>
            </a:solidFill>
            <a:prstDash val="solid"/>
          </a:ln>
        </p:spPr>
      </p:sp>
      <p:sp>
        <p:nvSpPr>
          <p:cNvPr id="4" name="Text 2"/>
          <p:cNvSpPr/>
          <p:nvPr/>
        </p:nvSpPr>
        <p:spPr>
          <a:xfrm>
            <a:off x="269394" y="674030"/>
            <a:ext cx="2020455" cy="942879"/>
          </a:xfrm>
          <a:prstGeom prst="rect">
            <a:avLst/>
          </a:prstGeom>
          <a:noFill/>
          <a:ln/>
        </p:spPr>
        <p:txBody>
          <a:bodyPr wrap="square" lIns="0" tIns="0" rIns="0" bIns="0" rtlCol="0" anchor="ctr"/>
          <a:lstStyle/>
          <a:p>
            <a:pPr algn="ctr" indent="0" marL="0">
              <a:buNone/>
            </a:pPr>
            <a:r>
              <a:rPr lang="en-US" sz="1400" b="1" dirty="0">
                <a:solidFill>
                  <a:srgbClr val="0891B2"/>
                </a:solidFill>
              </a:rPr>
              <a:t>24 sensores</a:t>
            </a:r>
            <a:endParaRPr lang="en-US" sz="1400" dirty="0"/>
          </a:p>
          <a:p>
            <a:pPr algn="ctr" indent="0" marL="0">
              <a:buNone/>
            </a:pPr>
            <a:r>
              <a:rPr lang="en-US" sz="600" dirty="0">
                <a:solidFill>
                  <a:srgbClr val="475569"/>
                </a:solidFill>
              </a:rPr>
              <a:t>Piezómetros activos</a:t>
            </a:r>
            <a:endParaRPr lang="en-US" sz="1400" dirty="0"/>
          </a:p>
        </p:txBody>
      </p:sp>
      <p:sp>
        <p:nvSpPr>
          <p:cNvPr id="5" name="Shape 3"/>
          <p:cNvSpPr/>
          <p:nvPr/>
        </p:nvSpPr>
        <p:spPr>
          <a:xfrm>
            <a:off x="2559242" y="674030"/>
            <a:ext cx="2020455" cy="942879"/>
          </a:xfrm>
          <a:prstGeom prst="roundRect">
            <a:avLst>
              <a:gd name="adj" fmla="val 5819"/>
            </a:avLst>
          </a:prstGeom>
          <a:solidFill>
            <a:srgbClr val="F8FAFC"/>
          </a:solidFill>
          <a:ln w="12700">
            <a:solidFill>
              <a:srgbClr val="E2E8F0"/>
            </a:solidFill>
            <a:prstDash val="solid"/>
          </a:ln>
        </p:spPr>
      </p:sp>
      <p:sp>
        <p:nvSpPr>
          <p:cNvPr id="6" name="Text 4"/>
          <p:cNvSpPr/>
          <p:nvPr/>
        </p:nvSpPr>
        <p:spPr>
          <a:xfrm>
            <a:off x="2559242" y="674030"/>
            <a:ext cx="2020455" cy="942879"/>
          </a:xfrm>
          <a:prstGeom prst="rect">
            <a:avLst/>
          </a:prstGeom>
          <a:noFill/>
          <a:ln/>
        </p:spPr>
        <p:txBody>
          <a:bodyPr wrap="square" lIns="0" tIns="0" rIns="0" bIns="0" rtlCol="0" anchor="ctr"/>
          <a:lstStyle/>
          <a:p>
            <a:pPr algn="ctr" indent="0" marL="0">
              <a:buNone/>
            </a:pPr>
            <a:r>
              <a:rPr lang="en-US" sz="1400" b="1" dirty="0">
                <a:solidFill>
                  <a:srgbClr val="0891B2"/>
                </a:solidFill>
              </a:rPr>
              <a:t>4.8 mm</a:t>
            </a:r>
            <a:endParaRPr lang="en-US" sz="1400" dirty="0"/>
          </a:p>
          <a:p>
            <a:pPr algn="ctr" indent="0" marL="0">
              <a:buNone/>
            </a:pPr>
            <a:r>
              <a:rPr lang="en-US" sz="600" dirty="0">
                <a:solidFill>
                  <a:srgbClr val="475569"/>
                </a:solidFill>
              </a:rPr>
              <a:t>Inclinómetro I-1 — desplazamiento</a:t>
            </a:r>
            <a:endParaRPr lang="en-US" sz="1400" dirty="0"/>
          </a:p>
        </p:txBody>
      </p:sp>
      <p:sp>
        <p:nvSpPr>
          <p:cNvPr id="7" name="Text 5"/>
          <p:cNvSpPr/>
          <p:nvPr/>
        </p:nvSpPr>
        <p:spPr>
          <a:xfrm>
            <a:off x="269394" y="1886303"/>
            <a:ext cx="4310303" cy="404091"/>
          </a:xfrm>
          <a:prstGeom prst="rect">
            <a:avLst/>
          </a:prstGeom>
          <a:noFill/>
          <a:ln/>
        </p:spPr>
        <p:txBody>
          <a:bodyPr wrap="square" lIns="0" tIns="0" rIns="0" bIns="0" rtlCol="0" anchor="t"/>
          <a:lstStyle/>
          <a:p>
            <a:pPr algn="l" indent="0" marL="0">
              <a:buNone/>
            </a:pPr>
            <a:r>
              <a:rPr lang="en-US" sz="700" dirty="0">
                <a:solidFill>
                  <a:srgbClr val="1E293B"/>
                </a:solidFill>
                <a:latin typeface="Arial" pitchFamily="34" charset="0"/>
                <a:ea typeface="Arial" pitchFamily="34" charset="-122"/>
                <a:cs typeface="Arial" pitchFamily="34" charset="-120"/>
              </a:rPr>
              <a:t>Ver la imagen de refe</a:t>
            </a:r>
            <a:pPr algn="l" indent="0" marL="0">
              <a:buNone/>
            </a:pPr>
            <a:r>
              <a:rPr lang="en-US" sz="700" dirty="0">
                <a:solidFill>
                  <a:srgbClr val="1E293B"/>
                </a:solidFill>
                <a:latin typeface="Arial" pitchFamily="34" charset="0"/>
                <a:ea typeface="Arial" pitchFamily="34" charset="-122"/>
                <a:cs typeface="Arial" pitchFamily="34" charset="-120"/>
              </a:rPr>
              <a:t>Imagen 1</a:t>
            </a:r>
            <a:pPr algn="l" indent="0" marL="0">
              <a:buNone/>
            </a:pPr>
            <a:r>
              <a:rPr lang="en-US" sz="700" dirty="0">
                <a:solidFill>
                  <a:srgbClr val="1E293B"/>
                </a:solidFill>
                <a:latin typeface="Arial" pitchFamily="34" charset="0"/>
                <a:ea typeface="Arial" pitchFamily="34" charset="-122"/>
                <a:cs typeface="Arial" pitchFamily="34" charset="-120"/>
              </a:rPr>
              <a:t>rencia_ANEXO de este informe.</a:t>
            </a:r>
            <a:endParaRPr lang="en-US" sz="700" dirty="0"/>
          </a:p>
        </p:txBody>
      </p:sp>
      <p:sp>
        <p:nvSpPr>
          <p:cNvPr id="25" name="Slide Number Placeholder 0"/>
          <p:cNvSpPr>
            <a:spLocks noGrp="1"/>
          </p:cNvSpPr>
          <p:nvPr>
            <p:ph type="sldNum" sz="quarter" idx="4294967295"/>
          </p:nvPr>
        </p:nvSpPr>
        <p:spPr>
          <a:xfrm>
            <a:off x="7057080" y="10399392"/>
            <a:ext cx="41148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90500" y="2815875"/>
            <a:ext cx="6667500" cy="190500"/>
          </a:xfrm>
          <a:prstGeom prst="rect">
            <a:avLst/>
          </a:prstGeom>
          <a:noFill/>
          <a:ln/>
        </p:spPr>
        <p:txBody>
          <a:bodyPr wrap="square" lIns="0" tIns="0" rIns="0" bIns="0" rtlCol="0" anchor="t"/>
          <a:lstStyle/>
          <a:p>
            <a:pPr algn="l" indent="0" marL="0">
              <a:buNone/>
            </a:pPr>
            <a:r>
              <a:rPr lang="en-US" sz="700" dirty="0">
                <a:solidFill>
                  <a:srgbClr val="1E40AF"/>
                </a:solidFill>
                <a:latin typeface="Calibri" pitchFamily="34" charset="0"/>
                <a:ea typeface="Calibri" pitchFamily="34" charset="-122"/>
                <a:cs typeface="Calibri" pitchFamily="34" charset="-120"/>
              </a:rPr>
              <a:t>CAPÍTULO 5 — MAPA DE SENSORES Y VISTA 3D (A3 HORIZONTAL)</a:t>
            </a:r>
            <a:endParaRPr lang="en-US" sz="700" dirty="0"/>
          </a:p>
        </p:txBody>
      </p:sp>
      <p:pic>
        <p:nvPicPr>
          <p:cNvPr id="3" name="Image 0" descr="Mapa geográfico de sensores">    </p:cNvPr>
          <p:cNvPicPr>
            <a:picLocks noChangeAspect="1"/>
          </p:cNvPicPr>
          <p:nvPr/>
        </p:nvPicPr>
        <p:blipFill>
          <a:blip r:embed="rId1"/>
          <a:stretch>
            <a:fillRect/>
          </a:stretch>
        </p:blipFill>
        <p:spPr>
          <a:xfrm>
            <a:off x="190500" y="3149250"/>
            <a:ext cx="3143250" cy="1914525"/>
          </a:xfrm>
          <a:prstGeom prst="rect">
            <a:avLst/>
          </a:prstGeom>
        </p:spPr>
      </p:pic>
      <p:sp>
        <p:nvSpPr>
          <p:cNvPr id="4" name="Text 1"/>
          <p:cNvSpPr/>
          <p:nvPr/>
        </p:nvSpPr>
        <p:spPr>
          <a:xfrm>
            <a:off x="190500" y="5063775"/>
            <a:ext cx="3143250" cy="85725"/>
          </a:xfrm>
          <a:prstGeom prst="rect">
            <a:avLst/>
          </a:prstGeom>
          <a:noFill/>
          <a:ln/>
        </p:spPr>
        <p:txBody>
          <a:bodyPr wrap="square" rtlCol="0" anchor="ctr"/>
          <a:lstStyle/>
          <a:p>
            <a:pPr algn="ctr" indent="0" marL="0">
              <a:buNone/>
            </a:pPr>
            <a:r>
              <a:rPr lang="en-US" sz="300" i="1" dirty="0">
                <a:solidFill>
                  <a:srgbClr val="4F81BD"/>
                </a:solidFill>
              </a:rPr>
              <a:t>Mapa geográfico de sensores</a:t>
            </a:r>
            <a:endParaRPr lang="en-US" sz="300" dirty="0"/>
          </a:p>
        </p:txBody>
      </p:sp>
      <p:pic>
        <p:nvPicPr>
          <p:cNvPr id="5" name="Image 1" descr="Superficie 3D — inclinómetros">    </p:cNvPr>
          <p:cNvPicPr>
            <a:picLocks noChangeAspect="1"/>
          </p:cNvPicPr>
          <p:nvPr/>
        </p:nvPicPr>
        <p:blipFill>
          <a:blip r:embed="rId2"/>
          <a:stretch>
            <a:fillRect/>
          </a:stretch>
        </p:blipFill>
        <p:spPr>
          <a:xfrm>
            <a:off x="3524250" y="3149250"/>
            <a:ext cx="3143250" cy="1914525"/>
          </a:xfrm>
          <a:prstGeom prst="rect">
            <a:avLst/>
          </a:prstGeom>
        </p:spPr>
      </p:pic>
      <p:sp>
        <p:nvSpPr>
          <p:cNvPr id="6" name="Text 2"/>
          <p:cNvSpPr/>
          <p:nvPr/>
        </p:nvSpPr>
        <p:spPr>
          <a:xfrm>
            <a:off x="3524250" y="5063775"/>
            <a:ext cx="3143250" cy="85725"/>
          </a:xfrm>
          <a:prstGeom prst="rect">
            <a:avLst/>
          </a:prstGeom>
          <a:noFill/>
          <a:ln/>
        </p:spPr>
        <p:txBody>
          <a:bodyPr wrap="square" rtlCol="0" anchor="ctr"/>
          <a:lstStyle/>
          <a:p>
            <a:pPr algn="ctr" indent="0" marL="0">
              <a:buNone/>
            </a:pPr>
            <a:r>
              <a:rPr lang="en-US" sz="300" i="1" dirty="0">
                <a:solidFill>
                  <a:srgbClr val="4F81BD"/>
                </a:solidFill>
              </a:rPr>
              <a:t>Superficie 3D — inclinómetros</a:t>
            </a:r>
            <a:endParaRPr lang="en-US" sz="300" dirty="0"/>
          </a:p>
        </p:txBody>
      </p:sp>
      <p:sp>
        <p:nvSpPr>
          <p:cNvPr id="7" name="Text 3"/>
          <p:cNvSpPr/>
          <p:nvPr/>
        </p:nvSpPr>
        <p:spPr>
          <a:xfrm>
            <a:off x="190500" y="5340000"/>
            <a:ext cx="3143250" cy="1809750"/>
          </a:xfrm>
          <a:prstGeom prst="rect">
            <a:avLst/>
          </a:prstGeom>
          <a:noFill/>
          <a:ln/>
        </p:spPr>
        <p:txBody>
          <a:bodyPr wrap="square" rtlCol="0" anchor="ctr"/>
          <a:lstStyle/>
          <a:p>
            <a:pPr algn="ctr" indent="0" marL="0">
              <a:buNone/>
            </a:pPr>
            <a:r>
              <a:rPr lang="en-US" sz="400" i="1" dirty="0">
                <a:solidFill>
                  <a:srgbClr val="94A3B8"/>
                </a:solidFill>
              </a:rPr>
              <a:t>[Gráfico sin captura disponible (prueba de fallback) — no se pudo capturar para esta exportación]</a:t>
            </a:r>
            <a:endParaRPr lang="en-US" sz="400" dirty="0"/>
          </a:p>
        </p:txBody>
      </p:sp>
      <p:sp>
        <p:nvSpPr>
          <p:cNvPr id="25" name="Slide Number Placeholder 0"/>
          <p:cNvSpPr>
            <a:spLocks noGrp="1"/>
          </p:cNvSpPr>
          <p:nvPr>
            <p:ph type="sldNum" sz="quarter" idx="4294967295"/>
          </p:nvPr>
        </p:nvSpPr>
        <p:spPr>
          <a:xfrm>
            <a:off x="7057080" y="10399392"/>
            <a:ext cx="41148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81000" y="285750"/>
            <a:ext cx="6800850" cy="381000"/>
          </a:xfrm>
          <a:prstGeom prst="rect">
            <a:avLst/>
          </a:prstGeom>
          <a:noFill/>
          <a:ln/>
        </p:spPr>
        <p:txBody>
          <a:bodyPr wrap="square" lIns="0" tIns="0" rIns="0" bIns="0" rtlCol="0" anchor="t"/>
          <a:lstStyle/>
          <a:p>
            <a:pPr algn="l" indent="0" marL="0">
              <a:buNone/>
            </a:pPr>
            <a:r>
              <a:rPr lang="en-US" sz="1400" dirty="0">
                <a:solidFill>
                  <a:srgbClr val="1E40AF"/>
                </a:solidFill>
                <a:latin typeface="Calibri" pitchFamily="34" charset="0"/>
                <a:ea typeface="Calibri" pitchFamily="34" charset="-122"/>
                <a:cs typeface="Calibri" pitchFamily="34" charset="-120"/>
              </a:rPr>
              <a:t>CAPÍTULO 6 — EVIDENCIA EN VIDEO</a:t>
            </a:r>
            <a:endParaRPr lang="en-US" sz="1400" dirty="0"/>
          </a:p>
        </p:txBody>
      </p:sp>
      <p:pic>
        <p:nvPicPr>
          <p:cNvPr id="3" name="Image 0" descr="Video — grabación de cámara web">    </p:cNvPr>
          <p:cNvPicPr>
            <a:picLocks noChangeAspect="1"/>
          </p:cNvPicPr>
          <p:nvPr/>
        </p:nvPicPr>
        <p:blipFill>
          <a:blip r:embed="rId1"/>
          <a:stretch>
            <a:fillRect/>
          </a:stretch>
        </p:blipFill>
        <p:spPr>
          <a:xfrm>
            <a:off x="381000" y="952500"/>
            <a:ext cx="6800850" cy="3810000"/>
          </a:xfrm>
          <a:prstGeom prst="rect">
            <a:avLst/>
          </a:prstGeom>
        </p:spPr>
      </p:pic>
      <p:sp>
        <p:nvSpPr>
          <p:cNvPr id="25" name="Slide Number Placeholder 0"/>
          <p:cNvSpPr>
            <a:spLocks noGrp="1"/>
          </p:cNvSpPr>
          <p:nvPr>
            <p:ph type="sldNum" sz="quarter" idx="4294967295"/>
          </p:nvPr>
        </p:nvSpPr>
        <p:spPr>
          <a:xfrm>
            <a:off x="7057080" y="10399392"/>
            <a:ext cx="41148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81000" y="381000"/>
            <a:ext cx="6800850" cy="381000"/>
          </a:xfrm>
          <a:prstGeom prst="rect">
            <a:avLst/>
          </a:prstGeom>
          <a:noFill/>
          <a:ln/>
        </p:spPr>
        <p:txBody>
          <a:bodyPr wrap="square" lIns="0" tIns="0" rIns="0" bIns="0" rtlCol="0" anchor="t"/>
          <a:lstStyle/>
          <a:p>
            <a:pPr algn="l" indent="0" marL="0">
              <a:buNone/>
            </a:pPr>
            <a:r>
              <a:rPr lang="en-US" sz="1700" dirty="0">
                <a:solidFill>
                  <a:srgbClr val="1E293B"/>
                </a:solidFill>
                <a:latin typeface="Calibri" pitchFamily="34" charset="0"/>
                <a:ea typeface="Calibri" pitchFamily="34" charset="-122"/>
                <a:cs typeface="Calibri" pitchFamily="34" charset="-120"/>
              </a:rPr>
              <a:t>ANEXO A — NORMATIVA APLICABLE</a:t>
            </a:r>
            <a:endParaRPr lang="en-US" sz="1700" dirty="0"/>
          </a:p>
        </p:txBody>
      </p:sp>
      <p:sp>
        <p:nvSpPr>
          <p:cNvPr id="3" name="Text 1"/>
          <p:cNvSpPr/>
          <p:nvPr/>
        </p:nvSpPr>
        <p:spPr>
          <a:xfrm>
            <a:off x="381000" y="952500"/>
            <a:ext cx="6800850" cy="381000"/>
          </a:xfrm>
          <a:prstGeom prst="rect">
            <a:avLst/>
          </a:prstGeom>
          <a:noFill/>
          <a:ln/>
        </p:spPr>
        <p:txBody>
          <a:bodyPr wrap="square" lIns="0" tIns="0" rIns="0" bIns="0" rtlCol="0" anchor="t"/>
          <a:lstStyle/>
          <a:p>
            <a:pPr algn="l" indent="0" marL="0">
              <a:buNone/>
            </a:pPr>
            <a:r>
              <a:rPr lang="en-US" sz="1400" dirty="0">
                <a:solidFill>
                  <a:srgbClr val="1E40AF"/>
                </a:solidFill>
                <a:latin typeface="Calibri" pitchFamily="34" charset="0"/>
                <a:ea typeface="Calibri" pitchFamily="34" charset="-122"/>
                <a:cs typeface="Calibri" pitchFamily="34" charset="-120"/>
              </a:rPr>
              <a:t>REFERENCIAS</a:t>
            </a:r>
            <a:endParaRPr lang="en-US" sz="1400" dirty="0"/>
          </a:p>
        </p:txBody>
      </p:sp>
      <p:sp>
        <p:nvSpPr>
          <p:cNvPr id="4" name="Text 2"/>
          <p:cNvSpPr/>
          <p:nvPr/>
        </p:nvSpPr>
        <p:spPr>
          <a:xfrm>
            <a:off x="381000" y="1524000"/>
            <a:ext cx="6800850" cy="1905000"/>
          </a:xfrm>
          <a:prstGeom prst="rect">
            <a:avLst/>
          </a:prstGeom>
          <a:noFill/>
          <a:ln/>
        </p:spPr>
        <p:txBody>
          <a:bodyPr wrap="square" lIns="0" tIns="0" rIns="0" bIns="0" rtlCol="0" anchor="t"/>
          <a:lstStyle/>
          <a:p>
            <a:pPr algn="l" indent="0" marL="0">
              <a:buNone/>
            </a:pPr>
            <a:r>
              <a:rPr lang="en-US" sz="800" dirty="0">
                <a:solidFill>
                  <a:srgbClr val="334155"/>
                </a:solidFill>
                <a:latin typeface="Georgia" pitchFamily="34" charset="0"/>
                <a:ea typeface="Georgia" pitchFamily="34" charset="-122"/>
                <a:cs typeface="Georgia" pitchFamily="34" charset="-120"/>
              </a:rPr>
              <a:t>Global Industry Standard on Tailings Management. (2020). GISTM: Estándar global de depósitos de relaves. ICMM/PRI/UNEP.</a:t>
            </a:r>
            <a:endParaRPr lang="en-US" sz="800" dirty="0"/>
          </a:p>
          <a:p>
            <a:pPr algn="l" indent="0" marL="0">
              <a:buNone/>
            </a:pPr>
            <a:r>
              <a:rPr lang="en-US" sz="800" dirty="0">
                <a:solidFill>
                  <a:srgbClr val="334155"/>
                </a:solidFill>
                <a:latin typeface="Georgia" pitchFamily="34" charset="0"/>
                <a:ea typeface="Georgia" pitchFamily="34" charset="-122"/>
                <a:cs typeface="Georgia" pitchFamily="34" charset="-120"/>
              </a:rPr>
              <a:t>International Organization for Standardization. (2018). ISO 31000: Gestión del riesgo — Directrices. ISO.</a:t>
            </a:r>
            <a:endParaRPr lang="en-US" sz="800" dirty="0"/>
          </a:p>
          <a:p>
            <a:pPr algn="l" indent="0" marL="0">
              <a:buNone/>
            </a:pPr>
            <a:r>
              <a:rPr lang="en-US" sz="800" dirty="0">
                <a:solidFill>
                  <a:srgbClr val="334155"/>
                </a:solidFill>
                <a:latin typeface="Georgia" pitchFamily="34" charset="0"/>
                <a:ea typeface="Georgia" pitchFamily="34" charset="-122"/>
                <a:cs typeface="Georgia" pitchFamily="34" charset="-120"/>
              </a:rPr>
              <a:t>Instituto Geofísico del Perú. (2026). Catálogo sísmico regional Arequipa-Camaná. IGP.</a:t>
            </a:r>
            <a:endParaRPr lang="en-US" sz="800" dirty="0"/>
          </a:p>
        </p:txBody>
      </p:sp>
      <p:sp>
        <p:nvSpPr>
          <p:cNvPr id="25" name="Slide Number Placeholder 0"/>
          <p:cNvSpPr>
            <a:spLocks noGrp="1"/>
          </p:cNvSpPr>
          <p:nvPr>
            <p:ph type="sldNum" sz="quarter" idx="4294967295"/>
          </p:nvPr>
        </p:nvSpPr>
        <p:spPr>
          <a:xfrm>
            <a:off x="7057080" y="10399392"/>
            <a:ext cx="41148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ALPAYANA S.A.C.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Informe Técnico Geotécnico Integral — ALPAYANA (DNI 09637521)</dc:title>
  <dc:subject>Informe técnico minero — exportado desde Beemetry</dc:subject>
  <dc:creator>Luder Armas</dc:creator>
  <cp:lastModifiedBy>Luder Armas</cp:lastModifiedBy>
  <cp:revision>1</cp:revision>
  <dcterms:created xsi:type="dcterms:W3CDTF">2026-09-23T06:58:07Z</dcterms:created>
  <dcterms:modified xsi:type="dcterms:W3CDTF">2026-09-23T06:58:07Z</dcterms:modified>
</cp:coreProperties>
</file>