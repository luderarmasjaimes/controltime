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8100"/>
          </a:xfrm>
          <a:prstGeom prst="rect">
            <a:avLst/>
          </a:prstGeom>
          <a:solidFill>
            <a:srgbClr val="1C4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9FC5E8"/>
                </a:solidFill>
                <a:latin typeface="Calibri"/>
              </a:rPr>
              <a:t>PROYECTO AURIXA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Sustentacion a la Gerencia de 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CFDDEC"/>
                </a:solidFill>
                <a:latin typeface="Calibri"/>
              </a:rPr>
              <a:t>Resumen de sprints y entregables por etapa - Plan v36.1</a:t>
            </a:r>
          </a:p>
          <a:p>
            <a:pPr algn="l"/>
            <a:r>
              <a:rPr sz="1800" b="0" i="0">
                <a:solidFill>
                  <a:srgbClr val="CFDDEC"/>
                </a:solidFill>
                <a:latin typeface="Calibri"/>
              </a:rPr>
              <a:t>Plataforma integral de telemetria, trazabilidad y automatizacion minera con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13 sprints  |  6 gates de release  |  2 etapas  |  10 recursos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Calendario: 1 jun - 30 nov 2026   ·   Fecha de corte: 23 jun 2026 (Sprint S2)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FDDEC"/>
                </a:solidFill>
                <a:latin typeface="Calibri"/>
              </a:rPr>
              <a:t>Preparado por: Arquitectura TI / PMO (ARQ)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1C4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54864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22A33"/>
                </a:solidFill>
                <a:latin typeface="Calibri"/>
              </a:rPr>
              <a:t>1.  Lectura ejecutiva en una pagina</a:t>
            </a:r>
          </a:p>
          <a:p>
            <a:pPr algn="l"/>
            <a:r>
              <a:rPr sz="1800" b="0" i="0">
                <a:solidFill>
                  <a:srgbClr val="222A33"/>
                </a:solidFill>
                <a:latin typeface="Calibri"/>
              </a:rPr>
              <a:t>2.  Que decidimos hoy (pedido de aprobacion)</a:t>
            </a:r>
          </a:p>
          <a:p>
            <a:pPr algn="l"/>
            <a:r>
              <a:rPr sz="1800" b="0" i="0">
                <a:solidFill>
                  <a:srgbClr val="222A33"/>
                </a:solidFill>
                <a:latin typeface="Calibri"/>
              </a:rPr>
              <a:t>3.  Mapa de las dos etapas y releases</a:t>
            </a:r>
          </a:p>
          <a:p>
            <a:pPr algn="l"/>
            <a:r>
              <a:rPr sz="1800" b="0" i="0">
                <a:solidFill>
                  <a:srgbClr val="222A33"/>
                </a:solidFill>
                <a:latin typeface="Calibri"/>
              </a:rPr>
              <a:t>4.  Arquitectura de datos v36.1 (el adelanto tecnico)</a:t>
            </a:r>
          </a:p>
          <a:p>
            <a:pPr algn="l"/>
            <a:r>
              <a:rPr sz="1800" b="0" i="0">
                <a:solidFill>
                  <a:srgbClr val="222A33"/>
                </a:solidFill>
                <a:latin typeface="Calibri"/>
              </a:rPr>
              <a:t>5.  Flujo de datos extremo a extremo</a:t>
            </a:r>
          </a:p>
          <a:p>
            <a:pPr algn="l"/>
            <a:r>
              <a:rPr sz="1800" b="0" i="0">
                <a:solidFill>
                  <a:srgbClr val="222A33"/>
                </a:solidFill>
                <a:latin typeface="Calibri"/>
              </a:rPr>
              <a:t>6.  Etapa 1 - sprints y entregables (S1-S8)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4864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22A33"/>
                </a:solidFill>
                <a:latin typeface="Calibri"/>
              </a:rPr>
              <a:t>7.  Etapa 2 - sprints y entregables (S9-S13)</a:t>
            </a:r>
          </a:p>
          <a:p>
            <a:pPr algn="l"/>
            <a:r>
              <a:rPr sz="1800" b="0" i="0">
                <a:solidFill>
                  <a:srgbClr val="222A33"/>
                </a:solidFill>
                <a:latin typeface="Calibri"/>
              </a:rPr>
              <a:t>8.  Gates de control R1-R6</a:t>
            </a:r>
          </a:p>
          <a:p>
            <a:pPr algn="l"/>
            <a:r>
              <a:rPr sz="1800" b="0" i="0">
                <a:solidFill>
                  <a:srgbClr val="222A33"/>
                </a:solidFill>
                <a:latin typeface="Calibri"/>
              </a:rPr>
              <a:t>9.  KPIs O1-O7 y SLA</a:t>
            </a:r>
          </a:p>
          <a:p>
            <a:pPr algn="l"/>
            <a:r>
              <a:rPr sz="1800" b="0" i="0">
                <a:solidFill>
                  <a:srgbClr val="222A33"/>
                </a:solidFill>
                <a:latin typeface="Calibri"/>
              </a:rPr>
              <a:t>10. Riesgos gestionados</a:t>
            </a:r>
          </a:p>
          <a:p>
            <a:pPr algn="l"/>
            <a:r>
              <a:rPr sz="1800" b="0" i="0">
                <a:solidFill>
                  <a:srgbClr val="222A33"/>
                </a:solidFill>
                <a:latin typeface="Calibri"/>
              </a:rPr>
              <a:t>11. Equipo y carga</a:t>
            </a:r>
          </a:p>
          <a:p>
            <a:pPr algn="l"/>
            <a:r>
              <a:rPr sz="1800" b="0" i="0">
                <a:solidFill>
                  <a:srgbClr val="222A33"/>
                </a:solidFill>
                <a:latin typeface="Calibri"/>
              </a:rPr>
              <a:t>12. Recomendacion y cierre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AURIXA · Sustentacion Gerencia de TI · v36.1 · jun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Lectura ejecutiva en una pagina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1C4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3685032" cy="1417320"/>
          </a:xfrm>
          <a:prstGeom prst="rect">
            <a:avLst/>
          </a:prstGeom>
          <a:solidFill>
            <a:srgbClr val="EEF3F8"/>
          </a:solidFill>
          <a:ln w="9525">
            <a:solidFill>
              <a:srgbClr val="C2D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341071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34107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sprints quincenales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6824" y="1234440"/>
            <a:ext cx="3685032" cy="1417320"/>
          </a:xfrm>
          <a:prstGeom prst="rect">
            <a:avLst/>
          </a:prstGeom>
          <a:solidFill>
            <a:srgbClr val="EEF3F8"/>
          </a:solidFill>
          <a:ln w="9525">
            <a:solidFill>
              <a:srgbClr val="C2D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3984" y="1325880"/>
            <a:ext cx="341071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3984" y="2103120"/>
            <a:ext cx="34107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gates de release (R1-R6)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56448" y="1234440"/>
            <a:ext cx="3685032" cy="1417320"/>
          </a:xfrm>
          <a:prstGeom prst="rect">
            <a:avLst/>
          </a:prstGeom>
          <a:solidFill>
            <a:srgbClr val="EEF3F8"/>
          </a:solidFill>
          <a:ln w="9525">
            <a:solidFill>
              <a:srgbClr val="C2D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1325880"/>
            <a:ext cx="341071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425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2103120"/>
            <a:ext cx="34107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tareas (422 + 3 v36.1)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3685032" cy="1417320"/>
          </a:xfrm>
          <a:prstGeom prst="rect">
            <a:avLst/>
          </a:prstGeom>
          <a:solidFill>
            <a:srgbClr val="EEF3F8"/>
          </a:solidFill>
          <a:ln w="9525">
            <a:solidFill>
              <a:srgbClr val="C2D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26080"/>
            <a:ext cx="341071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03320"/>
            <a:ext cx="34107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recursos, 90-100% carga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06824" y="2834640"/>
            <a:ext cx="3685032" cy="1417320"/>
          </a:xfrm>
          <a:prstGeom prst="rect">
            <a:avLst/>
          </a:prstGeom>
          <a:solidFill>
            <a:srgbClr val="EEF3F8"/>
          </a:solidFill>
          <a:ln w="9525">
            <a:solidFill>
              <a:srgbClr val="C2D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3984" y="2926080"/>
            <a:ext cx="341071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USD 214,781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3703320"/>
            <a:ext cx="34107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inversion total realista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56448" y="2834640"/>
            <a:ext cx="3685032" cy="1417320"/>
          </a:xfrm>
          <a:prstGeom prst="rect">
            <a:avLst/>
          </a:prstGeom>
          <a:solidFill>
            <a:srgbClr val="EEF3F8"/>
          </a:solidFill>
          <a:ln w="9525">
            <a:solidFill>
              <a:srgbClr val="C2D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2926080"/>
            <a:ext cx="341071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6 meses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3703320"/>
            <a:ext cx="34107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jun-nov 2026, VPS Lima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46320"/>
            <a:ext cx="112471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222A33"/>
                </a:solidFill>
                <a:latin typeface="Calibri"/>
              </a:rPr>
              <a:t>Novedad v36.1: los componentes tecnicos de mayor riesgo (ingesta durable de 10.000 sensores, alta disponibilidad, escalamiento de conexiones y ciclo de vida de datos) YA estan construidos en codigo. Esto reduce materialmente el riesgo de ejecucion de los gates R2 a R5, sin alterar plazo ni costo.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AURIXA · Sustentacion Gerencia de TI · v36.1 · jun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Que decidimos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DDEC"/>
                </a:solidFill>
                <a:latin typeface="Calibri"/>
              </a:rPr>
              <a:t>Pedido de aprobacion a la Gerencia de TI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1C4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548640" cy="777240"/>
          </a:xfrm>
          <a:prstGeom prst="rect">
            <a:avLst/>
          </a:prstGeom>
          <a:solidFill>
            <a:srgbClr val="1C4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48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1325880"/>
            <a:ext cx="10469880" cy="777240"/>
          </a:xfrm>
          <a:prstGeom prst="rect">
            <a:avLst/>
          </a:prstGeom>
          <a:solidFill>
            <a:srgbClr val="EEF3F8"/>
          </a:solidFill>
          <a:ln w="9525">
            <a:solidFill>
              <a:srgbClr val="C2D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325880"/>
            <a:ext cx="10149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222A33"/>
                </a:solidFill>
                <a:latin typeface="Calibri"/>
              </a:rPr>
              <a:t>Ratificar el plan de 13 sprints y 6 gates (R1-R6).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548640" cy="777240"/>
          </a:xfrm>
          <a:prstGeom prst="rect">
            <a:avLst/>
          </a:prstGeom>
          <a:solidFill>
            <a:srgbClr val="1C4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548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2286000"/>
            <a:ext cx="10469880" cy="777240"/>
          </a:xfrm>
          <a:prstGeom prst="rect">
            <a:avLst/>
          </a:prstGeom>
          <a:solidFill>
            <a:srgbClr val="EEF3F8"/>
          </a:solidFill>
          <a:ln w="9525">
            <a:solidFill>
              <a:srgbClr val="C2D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2286000"/>
            <a:ext cx="10149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222A33"/>
                </a:solidFill>
                <a:latin typeface="Calibri"/>
              </a:rPr>
              <a:t>Aprobar el Gate R1 (cierre Mes 1): diseno de datos y arquitectura objetivo.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46120"/>
            <a:ext cx="548640" cy="777240"/>
          </a:xfrm>
          <a:prstGeom prst="rect">
            <a:avLst/>
          </a:prstGeom>
          <a:solidFill>
            <a:srgbClr val="1C4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46120"/>
            <a:ext cx="548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3246120"/>
            <a:ext cx="10469880" cy="777240"/>
          </a:xfrm>
          <a:prstGeom prst="rect">
            <a:avLst/>
          </a:prstGeom>
          <a:solidFill>
            <a:srgbClr val="EEF3F8"/>
          </a:solidFill>
          <a:ln w="9525">
            <a:solidFill>
              <a:srgbClr val="C2D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3246120"/>
            <a:ext cx="10149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222A33"/>
                </a:solidFill>
                <a:latin typeface="Calibri"/>
              </a:rPr>
              <a:t>Incorporar al alcance, sin costo ni plazo adicional, la arquitectura de datos v36.1.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06240"/>
            <a:ext cx="548640" cy="777240"/>
          </a:xfrm>
          <a:prstGeom prst="rect">
            <a:avLst/>
          </a:prstGeom>
          <a:solidFill>
            <a:srgbClr val="1C4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206240"/>
            <a:ext cx="548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206240"/>
            <a:ext cx="10469880" cy="777240"/>
          </a:xfrm>
          <a:prstGeom prst="rect">
            <a:avLst/>
          </a:prstGeom>
          <a:solidFill>
            <a:srgbClr val="EEF3F8"/>
          </a:solidFill>
          <a:ln w="9525">
            <a:solidFill>
              <a:srgbClr val="C2D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206240"/>
            <a:ext cx="10149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222A33"/>
                </a:solidFill>
                <a:latin typeface="Calibri"/>
              </a:rPr>
              <a:t>Confirmar a la Gerencia de TI como aprobador de los gates R5 y R6 (hardening/DR y Go-Live).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E7A3D"/>
                </a:solidFill>
                <a:latin typeface="Calibri"/>
              </a:rPr>
              <a:t>Recomendacion ARQ: los componentes de mayor riesgo ya estan construidos. Se recomienda aprobar el avance.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AURIXA · Sustentacion Gerencia de TI · v36.1 · jun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Mapa de las dos etapas y releases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1C4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7040880" cy="548640"/>
          </a:xfrm>
          <a:prstGeom prst="rect">
            <a:avLst/>
          </a:prstGeom>
          <a:solidFill>
            <a:srgbClr val="D7E8F7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7040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Calibri"/>
              </a:rPr>
              <a:t>ETAPA 1 - Core funcional (Jun-Sep) · R1-R4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280160"/>
            <a:ext cx="4050791" cy="548640"/>
          </a:xfrm>
          <a:prstGeom prst="rect">
            <a:avLst/>
          </a:prstGeom>
          <a:solidFill>
            <a:srgbClr val="D2EEEB"/>
          </a:solidFill>
          <a:ln w="9525">
            <a:solidFill>
              <a:srgbClr val="1C4D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280160"/>
            <a:ext cx="4050791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1C4D49"/>
                </a:solidFill>
                <a:latin typeface="Calibri"/>
              </a:rPr>
              <a:t>ETAPA 2 - Hardening + Go-Live (Oct-Nov) · R5-R6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841248" cy="640080"/>
          </a:xfrm>
          <a:prstGeom prst="rect">
            <a:avLst/>
          </a:prstGeom>
          <a:solidFill>
            <a:srgbClr val="D7E8F7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8412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Calibri"/>
              </a:rPr>
              <a:t>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23160"/>
            <a:ext cx="8412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R1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39596" y="2057400"/>
            <a:ext cx="841248" cy="640080"/>
          </a:xfrm>
          <a:prstGeom prst="rect">
            <a:avLst/>
          </a:prstGeom>
          <a:solidFill>
            <a:srgbClr val="D7E8F7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9596" y="2057400"/>
            <a:ext cx="8412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Calibri"/>
              </a:rPr>
              <a:t>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9596" y="2423160"/>
            <a:ext cx="8412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R1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21992" y="2057400"/>
            <a:ext cx="841248" cy="640080"/>
          </a:xfrm>
          <a:prstGeom prst="rect">
            <a:avLst/>
          </a:prstGeom>
          <a:solidFill>
            <a:srgbClr val="D7E8F7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21992" y="2057400"/>
            <a:ext cx="8412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Calibri"/>
              </a:rPr>
              <a:t>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21992" y="2423160"/>
            <a:ext cx="8412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R2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4388" y="2057400"/>
            <a:ext cx="841248" cy="640080"/>
          </a:xfrm>
          <a:prstGeom prst="rect">
            <a:avLst/>
          </a:prstGeom>
          <a:solidFill>
            <a:srgbClr val="D7E8F7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4388" y="2057400"/>
            <a:ext cx="8412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Calibri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4388" y="2423160"/>
            <a:ext cx="8412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R2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86784" y="2057400"/>
            <a:ext cx="841248" cy="640080"/>
          </a:xfrm>
          <a:prstGeom prst="rect">
            <a:avLst/>
          </a:prstGeom>
          <a:solidFill>
            <a:srgbClr val="D7E8F7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86784" y="2057400"/>
            <a:ext cx="8412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Calibri"/>
              </a:rPr>
              <a:t>S5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86784" y="2423160"/>
            <a:ext cx="8412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R3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69180" y="2057400"/>
            <a:ext cx="841248" cy="640080"/>
          </a:xfrm>
          <a:prstGeom prst="rect">
            <a:avLst/>
          </a:prstGeom>
          <a:solidFill>
            <a:srgbClr val="D7E8F7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9180" y="2057400"/>
            <a:ext cx="8412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Calibri"/>
              </a:rPr>
              <a:t>S6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2423160"/>
            <a:ext cx="8412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R3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51576" y="2057400"/>
            <a:ext cx="841248" cy="640080"/>
          </a:xfrm>
          <a:prstGeom prst="rect">
            <a:avLst/>
          </a:prstGeom>
          <a:solidFill>
            <a:srgbClr val="D7E8F7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51576" y="2057400"/>
            <a:ext cx="8412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Calibri"/>
              </a:rPr>
              <a:t>S7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51576" y="2423160"/>
            <a:ext cx="8412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R4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33972" y="2057400"/>
            <a:ext cx="841248" cy="640080"/>
          </a:xfrm>
          <a:prstGeom prst="rect">
            <a:avLst/>
          </a:prstGeom>
          <a:solidFill>
            <a:srgbClr val="D7E8F7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33972" y="2057400"/>
            <a:ext cx="8412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Calibri"/>
              </a:rPr>
              <a:t>S8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33972" y="2423160"/>
            <a:ext cx="8412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R4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16368" y="2057400"/>
            <a:ext cx="841248" cy="640080"/>
          </a:xfrm>
          <a:prstGeom prst="rect">
            <a:avLst/>
          </a:prstGeom>
          <a:solidFill>
            <a:srgbClr val="D2EEEB"/>
          </a:solidFill>
          <a:ln w="9525">
            <a:solidFill>
              <a:srgbClr val="1C4D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16368" y="2057400"/>
            <a:ext cx="8412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C4D49"/>
                </a:solidFill>
                <a:latin typeface="Calibri"/>
              </a:rPr>
              <a:t>S9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16368" y="2423160"/>
            <a:ext cx="8412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R5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98764" y="2057400"/>
            <a:ext cx="841248" cy="640080"/>
          </a:xfrm>
          <a:prstGeom prst="rect">
            <a:avLst/>
          </a:prstGeom>
          <a:solidFill>
            <a:srgbClr val="D2EEEB"/>
          </a:solidFill>
          <a:ln w="9525">
            <a:solidFill>
              <a:srgbClr val="1C4D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98764" y="2057400"/>
            <a:ext cx="8412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C4D49"/>
                </a:solidFill>
                <a:latin typeface="Calibri"/>
              </a:rPr>
              <a:t>S10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8764" y="2423160"/>
            <a:ext cx="8412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R5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81160" y="2057400"/>
            <a:ext cx="841248" cy="640080"/>
          </a:xfrm>
          <a:prstGeom prst="rect">
            <a:avLst/>
          </a:prstGeom>
          <a:solidFill>
            <a:srgbClr val="D2EEEB"/>
          </a:solidFill>
          <a:ln w="9525">
            <a:solidFill>
              <a:srgbClr val="1C4D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60" y="2057400"/>
            <a:ext cx="8412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C4D49"/>
                </a:solidFill>
                <a:latin typeface="Calibri"/>
              </a:rPr>
              <a:t>S11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2423160"/>
            <a:ext cx="8412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R5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63556" y="2057400"/>
            <a:ext cx="841248" cy="640080"/>
          </a:xfrm>
          <a:prstGeom prst="rect">
            <a:avLst/>
          </a:prstGeom>
          <a:solidFill>
            <a:srgbClr val="D2EEEB"/>
          </a:solidFill>
          <a:ln w="9525">
            <a:solidFill>
              <a:srgbClr val="1C4D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63556" y="2057400"/>
            <a:ext cx="8412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C4D49"/>
                </a:solidFill>
                <a:latin typeface="Calibri"/>
              </a:rPr>
              <a:t>S12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63556" y="2423160"/>
            <a:ext cx="8412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R6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045952" y="2057400"/>
            <a:ext cx="841248" cy="640080"/>
          </a:xfrm>
          <a:prstGeom prst="rect">
            <a:avLst/>
          </a:prstGeom>
          <a:solidFill>
            <a:srgbClr val="D2EEEB"/>
          </a:solidFill>
          <a:ln w="9525">
            <a:solidFill>
              <a:srgbClr val="1C4D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045952" y="2057400"/>
            <a:ext cx="8412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C4D49"/>
                </a:solidFill>
                <a:latin typeface="Calibri"/>
              </a:rPr>
              <a:t>S13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45952" y="2423160"/>
            <a:ext cx="8412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R6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3836" y="297180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1F4E79"/>
                </a:solidFill>
                <a:latin typeface="Calibri"/>
              </a:rPr>
              <a:t>▲ R1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3836" y="3209544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30 jun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38628" y="297180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1F4E79"/>
                </a:solidFill>
                <a:latin typeface="Calibri"/>
              </a:rPr>
              <a:t>▲ R2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38628" y="3209544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31 jul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03420" y="297180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1F4E79"/>
                </a:solidFill>
                <a:latin typeface="Calibri"/>
              </a:rPr>
              <a:t>▲ R3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03420" y="3209544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31 ago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8212" y="297180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1F4E79"/>
                </a:solidFill>
                <a:latin typeface="Calibri"/>
              </a:rPr>
              <a:t>▲ R4 FIN E1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8212" y="3209544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30 sep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15400" y="297180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1F4E79"/>
                </a:solidFill>
                <a:latin typeface="Calibri"/>
              </a:rPr>
              <a:t>▲ R5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15400" y="3209544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31 oct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80192" y="297180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1F4E79"/>
                </a:solidFill>
                <a:latin typeface="Calibri"/>
              </a:rPr>
              <a:t>▲ R6 GO-LIVE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80192" y="3209544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30 nov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3840480"/>
            <a:ext cx="11274552" cy="2194560"/>
          </a:xfrm>
          <a:prstGeom prst="rect">
            <a:avLst/>
          </a:prstGeom>
          <a:solidFill>
            <a:srgbClr val="F4F6F8"/>
          </a:solidFill>
          <a:ln w="9525">
            <a:solidFill>
              <a:srgbClr val="C2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Capa de arquitectura de datos v36.1 - construida por adelantado (riesgo mitigado por diseno)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" y="4434840"/>
            <a:ext cx="3566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" y="4434840"/>
            <a:ext cx="33832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22A33"/>
                </a:solidFill>
                <a:latin typeface="Calibri"/>
              </a:rPr>
              <a:t>Ingesta COPY · S3-S6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43400" y="4434840"/>
            <a:ext cx="3566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34840" y="4434840"/>
            <a:ext cx="33832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22A33"/>
                </a:solidFill>
                <a:latin typeface="Calibri"/>
              </a:rPr>
              <a:t>Cola durable Redpanda · S4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46720" y="4434840"/>
            <a:ext cx="3566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38160" y="4434840"/>
            <a:ext cx="33832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22A33"/>
                </a:solidFill>
                <a:latin typeface="Calibri"/>
              </a:rPr>
              <a:t>Replica lectura HA · S9-S10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0080" y="5074920"/>
            <a:ext cx="3566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" y="5074920"/>
            <a:ext cx="33832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22A33"/>
                </a:solidFill>
                <a:latin typeface="Calibri"/>
              </a:rPr>
              <a:t>PgBouncer 10k · S4·S9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43400" y="5074920"/>
            <a:ext cx="3566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34840" y="5074920"/>
            <a:ext cx="33832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22A33"/>
                </a:solidFill>
                <a:latin typeface="Calibri"/>
              </a:rPr>
              <a:t>Compresion 6h · S6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46720" y="5074920"/>
            <a:ext cx="3566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9AA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138160" y="5074920"/>
            <a:ext cx="33832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222A33"/>
                </a:solidFill>
                <a:latin typeface="Calibri"/>
              </a:rPr>
              <a:t>Tier frio MinIO/S3 · S10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" y="574243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C4D49"/>
                </a:solidFill>
                <a:latin typeface="Calibri"/>
              </a:rPr>
              <a:t>Refuerza O3 (&lt;5s), O4 (10k sensores), O5 (&gt;99.9% uptime) y el SLA Zero Data Loss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AURIXA · Sustentacion Gerencia de TI · v36.1 · jun 2026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Arquitectura de datos v36.1 - el adelanto tecnico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DDEC"/>
                </a:solidFill>
                <a:latin typeface="Calibri"/>
              </a:rPr>
              <a:t>Componentes ya construidos en codigo, sin costo ni plazo adicional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1C4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74320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143000"/>
            <a:ext cx="2670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Componente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143000"/>
            <a:ext cx="548640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143000"/>
            <a:ext cx="54132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Que resuelve (lenguaje gerencial)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143000"/>
            <a:ext cx="146304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3376" y="1143000"/>
            <a:ext cx="13898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Sprint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49840" y="1143000"/>
            <a:ext cx="182880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6416" y="1143000"/>
            <a:ext cx="17556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Evidencia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527048"/>
            <a:ext cx="2743200" cy="60350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1527048"/>
            <a:ext cx="263347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Ingesta alta tasa (C++)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527048"/>
            <a:ext cx="5486400" cy="60350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55264" y="1527048"/>
            <a:ext cx="537667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Recibe 10k sensores y escribe por lotes (COPY); no se cae ni pierde datos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1527048"/>
            <a:ext cx="1463040" cy="60350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1664" y="1527048"/>
            <a:ext cx="135331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S3-S6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9840" y="1527048"/>
            <a:ext cx="1828800" cy="60350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04704" y="1527048"/>
            <a:ext cx="171907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telemetry_ingest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130552"/>
            <a:ext cx="27432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2130552"/>
            <a:ext cx="263347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Cola durable Redpanda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130552"/>
            <a:ext cx="54864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55264" y="2130552"/>
            <a:ext cx="537667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Si la base se ralentiza, los datos quedan en cola y se confirman: cero perdida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2130552"/>
            <a:ext cx="14630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1664" y="2130552"/>
            <a:ext cx="135331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S4·S12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49840" y="2130552"/>
            <a:ext cx="18288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04704" y="2130552"/>
            <a:ext cx="171907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docker-compose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734056"/>
            <a:ext cx="2743200" cy="60350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" y="2734056"/>
            <a:ext cx="263347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Replica de lectura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2734056"/>
            <a:ext cx="5486400" cy="60350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55264" y="2734056"/>
            <a:ext cx="537667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Dashboards y reportes leen de una copia espejo; el primario solo escribe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2734056"/>
            <a:ext cx="1463040" cy="60350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1664" y="2734056"/>
            <a:ext cx="135331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S6·S9-S10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49840" y="2734056"/>
            <a:ext cx="1828800" cy="60350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04704" y="2734056"/>
            <a:ext cx="171907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db_replica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337560"/>
            <a:ext cx="27432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" y="3337560"/>
            <a:ext cx="263347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PgBouncer (pooling)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3337560"/>
            <a:ext cx="54864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55264" y="3337560"/>
            <a:ext cx="537667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~10.000 clientes con ~200 conexiones reales; sin cambios de codigo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0" y="3337560"/>
            <a:ext cx="14630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1664" y="3337560"/>
            <a:ext cx="135331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S4·S9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49840" y="3337560"/>
            <a:ext cx="18288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04704" y="3337560"/>
            <a:ext cx="171907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pgbouncer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941064"/>
            <a:ext cx="2743200" cy="60350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2064" y="3941064"/>
            <a:ext cx="263347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TimescaleDB 6h + compresion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3941064"/>
            <a:ext cx="5486400" cy="60350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55264" y="3941064"/>
            <a:ext cx="537667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Mas velocidad de ingesta y menos disco (compresion por sensor)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86800" y="3941064"/>
            <a:ext cx="1463040" cy="60350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41664" y="3941064"/>
            <a:ext cx="135331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S6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49840" y="3941064"/>
            <a:ext cx="1828800" cy="60350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04704" y="3941064"/>
            <a:ext cx="171907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29_*.sql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544568"/>
            <a:ext cx="27432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2064" y="4544568"/>
            <a:ext cx="263347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Tier frio MinIO/S3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0" y="4544568"/>
            <a:ext cx="54864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55264" y="4544568"/>
            <a:ext cx="537667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Datos &gt;1 ano archivados (Parquet ZSTD) y liberados del disco caliente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86800" y="4544568"/>
            <a:ext cx="14630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41664" y="4544568"/>
            <a:ext cx="135331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S10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149840" y="4544568"/>
            <a:ext cx="18288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204704" y="4544568"/>
            <a:ext cx="171907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archive_cold_tier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148072"/>
            <a:ext cx="2743200" cy="60350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2064" y="5148072"/>
            <a:ext cx="263347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Observabilidad /api/metrics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0" y="5148072"/>
            <a:ext cx="5486400" cy="60350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55264" y="5148072"/>
            <a:ext cx="537667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Metricas en vivo: probar el SLA con datos, no con opiniones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686800" y="5148072"/>
            <a:ext cx="1463040" cy="60350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41664" y="5148072"/>
            <a:ext cx="135331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S4·S9-S13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149840" y="5148072"/>
            <a:ext cx="1828800" cy="60350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204704" y="5148072"/>
            <a:ext cx="171907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main.cpp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AURIXA · Sustentacion Gerencia de TI · v36.1 · jun 2026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Flujo de datos extremo a extremo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DDEC"/>
                </a:solidFill>
                <a:latin typeface="Calibri"/>
              </a:rPr>
              <a:t>Como se sostiene la capacidad de 10.000 sensores sin perder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1C4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286000" cy="1005840"/>
          </a:xfrm>
          <a:prstGeom prst="rect">
            <a:avLst/>
          </a:prstGeom>
          <a:solidFill>
            <a:srgbClr val="EEF3F8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10.000 sensores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TLS · mining_gateway (6 hilos)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371600"/>
            <a:ext cx="2743200" cy="1005840"/>
          </a:xfrm>
          <a:prstGeom prst="rect">
            <a:avLst/>
          </a:prstGeom>
          <a:solidFill>
            <a:srgbClr val="EEF3F8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444752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TelemetryIngestor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9202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Cache + cola acotada (C++)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2560320" cy="1005840"/>
          </a:xfrm>
          <a:prstGeom prst="rect">
            <a:avLst/>
          </a:prstGeom>
          <a:solidFill>
            <a:srgbClr val="FDF3DD"/>
          </a:solidFill>
          <a:ln w="9525">
            <a:solidFill>
              <a:srgbClr val="B5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444752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B56A00"/>
                </a:solidFill>
                <a:latin typeface="Calibri"/>
              </a:rPr>
              <a:t>Redpanda (Kafka)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Cola durable · commit por lote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3108960" cy="1097280"/>
          </a:xfrm>
          <a:prstGeom prst="rect">
            <a:avLst/>
          </a:prstGeom>
          <a:solidFill>
            <a:srgbClr val="EEF3F8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999232"/>
            <a:ext cx="2926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TimescaleDB PRIMARIO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747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Solo escritura · COPY por lote</a:t>
            </a:r>
          </a:p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chunks 6h + compresion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2926080"/>
            <a:ext cx="3291840" cy="1097280"/>
          </a:xfrm>
          <a:prstGeom prst="rect">
            <a:avLst/>
          </a:prstGeom>
          <a:solidFill>
            <a:srgbClr val="D2EEEB"/>
          </a:solidFill>
          <a:ln w="9525">
            <a:solidFill>
              <a:srgbClr val="1C4D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2999232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C4D49"/>
                </a:solidFill>
                <a:latin typeface="Calibri"/>
              </a:rPr>
              <a:t>REPLICA DE LECTURA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4747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Dashboards · KPIs · reportes (SSE)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2926080"/>
            <a:ext cx="3749039" cy="1097280"/>
          </a:xfrm>
          <a:prstGeom prst="rect">
            <a:avLst/>
          </a:prstGeom>
          <a:solidFill>
            <a:srgbClr val="F4F6F8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2999232"/>
            <a:ext cx="356615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595959"/>
                </a:solidFill>
                <a:latin typeface="Calibri"/>
              </a:rPr>
              <a:t>MinIO / S3 TIER FRIO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3474720"/>
            <a:ext cx="35661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Datos &gt;1 ano · Parquet ZSTD</a:t>
            </a:r>
          </a:p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consultable con DuckDB/Athena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72000"/>
            <a:ext cx="7406640" cy="914400"/>
          </a:xfrm>
          <a:prstGeom prst="rect">
            <a:avLst/>
          </a:prstGeom>
          <a:solidFill>
            <a:srgbClr val="EEF3F8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645152"/>
            <a:ext cx="7223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~10.000 clientes de la app  -&gt;  PgBouncer (transaction pooling)  -&gt;  ~200 conexiones reales -&gt; PRIMARIO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572000"/>
            <a:ext cx="3566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E7A3D"/>
                </a:solidFill>
                <a:latin typeface="Calibri"/>
              </a:rPr>
              <a:t>Resultado: O4 (10k), O3 (&lt;5s),</a:t>
            </a:r>
          </a:p>
          <a:p>
            <a:pPr algn="l"/>
            <a:r>
              <a:rPr sz="1300" b="1" i="0">
                <a:solidFill>
                  <a:srgbClr val="1E7A3D"/>
                </a:solidFill>
                <a:latin typeface="Calibri"/>
              </a:rPr>
              <a:t>O5 (&gt;99.9%) y Zero Data Loss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AURIXA · Sustentacion Gerencia de TI · v36.1 · jun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Etapa 1 - Core funcional · sprints y entregables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DDEC"/>
                </a:solidFill>
                <a:latin typeface="Calibri"/>
              </a:rPr>
              <a:t>Valor temprano: sistema funcional completo al cierre (R4, 30 sep)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1C4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82296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143000"/>
            <a:ext cx="7498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Sprint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1143000"/>
            <a:ext cx="228600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16736" y="1143000"/>
            <a:ext cx="22128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Objetivo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143000"/>
            <a:ext cx="640080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2736" y="1143000"/>
            <a:ext cx="63276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Entregables a Gerencia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0" y="1143000"/>
            <a:ext cx="210312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3536" y="1143000"/>
            <a:ext cx="202996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Gate / Hito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527048"/>
            <a:ext cx="82296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1527048"/>
            <a:ext cx="71323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S1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1527048"/>
            <a:ext cx="228600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35024" y="1527048"/>
            <a:ext cx="217627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Arranque y alcance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1527048"/>
            <a:ext cx="640080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1527048"/>
            <a:ext cx="629107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Acta kick-off; SOW y cronograma aprobados; equipo de 10; backlog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60" y="1527048"/>
            <a:ext cx="210312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21824" y="1527048"/>
            <a:ext cx="1993391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Gate PM-0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039112"/>
            <a:ext cx="8229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2039112"/>
            <a:ext cx="71323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S2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0160" y="2039112"/>
            <a:ext cx="22860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35024" y="2039112"/>
            <a:ext cx="217627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Base tecnica y datos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2039112"/>
            <a:ext cx="64008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21024" y="2039112"/>
            <a:ext cx="629107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Esquema PostgreSQL; CI/CD; shell ReportStudio; RBAC inicial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6960" y="2039112"/>
            <a:ext cx="21031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21824" y="2039112"/>
            <a:ext cx="1993391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Gate R1 (30 jun)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551176"/>
            <a:ext cx="82296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" y="2551176"/>
            <a:ext cx="71323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S3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0160" y="2551176"/>
            <a:ext cx="228600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35024" y="2551176"/>
            <a:ext cx="217627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Motor y acceso seguro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66160" y="2551176"/>
            <a:ext cx="640080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21024" y="2551176"/>
            <a:ext cx="629107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Nucleo C++; APIs + canal en vivo; login. v36.1: ingesta durable + PgBouncer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66960" y="2551176"/>
            <a:ext cx="210312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21824" y="2551176"/>
            <a:ext cx="1993391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Inicio Mes 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063240"/>
            <a:ext cx="8229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" y="3063240"/>
            <a:ext cx="71323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S4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80160" y="3063240"/>
            <a:ext cx="22860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35024" y="3063240"/>
            <a:ext cx="217627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Permisos y telemetria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60" y="3063240"/>
            <a:ext cx="64008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21024" y="3063240"/>
            <a:ext cx="629107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Roles; auto-guardado; telemetria validada (/api/metrics); plan QA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66960" y="3063240"/>
            <a:ext cx="21031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21824" y="3063240"/>
            <a:ext cx="1993391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Gate R2 (31 jul)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575304"/>
            <a:ext cx="82296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2064" y="3575304"/>
            <a:ext cx="71323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S5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0160" y="3575304"/>
            <a:ext cx="228600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35024" y="3575304"/>
            <a:ext cx="217627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Editor y mapa minero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66160" y="3575304"/>
            <a:ext cx="640080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21024" y="3575304"/>
            <a:ext cx="629107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ReportStudio (texto/tablas/img); mapa interactivo con zonas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66960" y="3575304"/>
            <a:ext cx="210312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21824" y="3575304"/>
            <a:ext cx="1993391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Mes 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087368"/>
            <a:ext cx="8229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2064" y="4087368"/>
            <a:ext cx="71323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S6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80160" y="4087368"/>
            <a:ext cx="22860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35024" y="4087368"/>
            <a:ext cx="217627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Sensores, voz e IA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66160" y="4087368"/>
            <a:ext cx="64008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21024" y="4087368"/>
            <a:ext cx="629107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10.000 sensores sobre pipeline v36.1; dictado minero; IA local; ETL AWS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966960" y="4087368"/>
            <a:ext cx="21031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21824" y="4087368"/>
            <a:ext cx="1993391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Gate R3 (31 ago)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4599432"/>
            <a:ext cx="82296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2064" y="4599432"/>
            <a:ext cx="71323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S7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280160" y="4599432"/>
            <a:ext cx="228600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335024" y="4599432"/>
            <a:ext cx="217627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Exportacion e integra.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566160" y="4599432"/>
            <a:ext cx="640080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21024" y="4599432"/>
            <a:ext cx="629107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PDF/Word; panel gerencial KPIs; auditoria de accesos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966960" y="4599432"/>
            <a:ext cx="210312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021824" y="4599432"/>
            <a:ext cx="1993391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Mes 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5111496"/>
            <a:ext cx="8229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12064" y="5111496"/>
            <a:ext cx="71323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S8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280160" y="5111496"/>
            <a:ext cx="22860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335024" y="5111496"/>
            <a:ext cx="217627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Offline y validacion E1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566160" y="5111496"/>
            <a:ext cx="64008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21024" y="5111496"/>
            <a:ext cx="629107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Offline con sync; regresion E1; acta cierre core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966960" y="5111496"/>
            <a:ext cx="21031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021824" y="5111496"/>
            <a:ext cx="1993391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Gate R4 - FIN E1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AURIXA · Sustentacion Gerencia de TI · v36.1 · jun 2026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Etapa 2 - Hardening + Go-Live · sprints y entregables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DDEC"/>
                </a:solidFill>
                <a:latin typeface="Calibri"/>
              </a:rPr>
              <a:t>Seguridad, continuidad y salida a produccion (R6, 30 nov)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1C4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82296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143000"/>
            <a:ext cx="7498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Sprint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1143000"/>
            <a:ext cx="237744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16736" y="1143000"/>
            <a:ext cx="23042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Objetivo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143000"/>
            <a:ext cx="640080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4176" y="1143000"/>
            <a:ext cx="63276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Entregables a Gerencia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0" y="1143000"/>
            <a:ext cx="201168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94976" y="1143000"/>
            <a:ext cx="19385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Gate / Hito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527048"/>
            <a:ext cx="822960" cy="60350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1527048"/>
            <a:ext cx="71323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S9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1527048"/>
            <a:ext cx="2377440" cy="60350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35024" y="1527048"/>
            <a:ext cx="226771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Rendimiento y seguridad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1527048"/>
            <a:ext cx="6400800" cy="60350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12464" y="1527048"/>
            <a:ext cx="629107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Optimizacion; pentest OWASP; hardening. v36.1: replica + pooling en linea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0" y="1527048"/>
            <a:ext cx="2011680" cy="60350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13264" y="1527048"/>
            <a:ext cx="190195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Inicio Etapa 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130552"/>
            <a:ext cx="8229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2130552"/>
            <a:ext cx="71323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S10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0160" y="2130552"/>
            <a:ext cx="23774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35024" y="2130552"/>
            <a:ext cx="226771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Continuidad y DR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2130552"/>
            <a:ext cx="64008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12464" y="2130552"/>
            <a:ext cx="629107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Backups + restauracion; simulacro DR (replica+tier frio); monitoreo 24/7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2130552"/>
            <a:ext cx="20116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13264" y="2130552"/>
            <a:ext cx="190195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Gate parcial R5: DR &lt;15 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734056"/>
            <a:ext cx="822960" cy="60350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" y="2734056"/>
            <a:ext cx="71323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S11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0160" y="2734056"/>
            <a:ext cx="2377440" cy="60350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35024" y="2734056"/>
            <a:ext cx="226771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Optimizacion pre-UAT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0" y="2734056"/>
            <a:ext cx="6400800" cy="60350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12464" y="2734056"/>
            <a:ext cx="629107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Afinamiento IA; optimizacion core; cierre P0/P1; certificacion QA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00" y="2734056"/>
            <a:ext cx="2011680" cy="60350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3264" y="2734056"/>
            <a:ext cx="190195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Gate R5 (31 oct)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337560"/>
            <a:ext cx="8229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" y="3337560"/>
            <a:ext cx="71323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S12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80160" y="3337560"/>
            <a:ext cx="23774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35024" y="3337560"/>
            <a:ext cx="226771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Estres, UAT, m. blanca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0" y="3337560"/>
            <a:ext cx="64008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12464" y="3337560"/>
            <a:ext cx="629107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10.000 sensores simultaneos; UAT operadores; marcha blanca 48-72h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58400" y="3337560"/>
            <a:ext cx="20116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13264" y="3337560"/>
            <a:ext cx="190195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Mes 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941064"/>
            <a:ext cx="822960" cy="60350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2064" y="3941064"/>
            <a:ext cx="71323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S13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0160" y="3941064"/>
            <a:ext cx="2377440" cy="60350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35024" y="3941064"/>
            <a:ext cx="226771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Go-Live y transferencia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0" y="3941064"/>
            <a:ext cx="6400800" cy="60350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12464" y="3941064"/>
            <a:ext cx="629107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Produccion VPS Lima; transferencia a TI; manuales; acta cierre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058400" y="3941064"/>
            <a:ext cx="2011680" cy="60350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13264" y="3941064"/>
            <a:ext cx="190195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Gate R6 - FIN PROYECTO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AURIXA · Sustentacion Gerencia de TI · v36.1 · jun 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Gates de control - se aprueba con evidencia, no por percepcion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DDEC"/>
                </a:solidFill>
                <a:latin typeface="Calibri"/>
              </a:rPr>
              <a:t>Una puerta no superada detiene el avance y evita el descontrol de alcance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1C4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28016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143000"/>
            <a:ext cx="120700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Release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143000"/>
            <a:ext cx="82296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73936" y="1143000"/>
            <a:ext cx="7498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Sprint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143000"/>
            <a:ext cx="109728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6896" y="1143000"/>
            <a:ext cx="102412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Fecha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143000"/>
            <a:ext cx="429768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4176" y="1143000"/>
            <a:ext cx="42245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Criterio de aprobacion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143000"/>
            <a:ext cx="210312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1856" y="1143000"/>
            <a:ext cx="202996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Aprueba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0" y="1143000"/>
            <a:ext cx="2587752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94976" y="1143000"/>
            <a:ext cx="2514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Evidencia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527048"/>
            <a:ext cx="1280160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1527048"/>
            <a:ext cx="1170431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R1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1527048"/>
            <a:ext cx="822960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92224" y="1527048"/>
            <a:ext cx="71323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S2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1527048"/>
            <a:ext cx="1097280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15184" y="1527048"/>
            <a:ext cx="9875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30 jun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1527048"/>
            <a:ext cx="4297680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4" y="1527048"/>
            <a:ext cx="41879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Diseno y arquitectura aprobados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80" y="1527048"/>
            <a:ext cx="2103120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0144" y="1527048"/>
            <a:ext cx="1993391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ARQ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1527048"/>
            <a:ext cx="2587752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13264" y="1527048"/>
            <a:ext cx="2478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Acta + demo + esquema BD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093976"/>
            <a:ext cx="1280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" y="2093976"/>
            <a:ext cx="1170431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R2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37360" y="2093976"/>
            <a:ext cx="822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92224" y="2093976"/>
            <a:ext cx="71323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S4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2093976"/>
            <a:ext cx="1097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15184" y="2093976"/>
            <a:ext cx="9875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31 jul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0" y="2093976"/>
            <a:ext cx="4297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12464" y="2093976"/>
            <a:ext cx="41879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Motor operacional + seguridad base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80" y="2093976"/>
            <a:ext cx="2103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10144" y="2093976"/>
            <a:ext cx="1993391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ARQ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0" y="2093976"/>
            <a:ext cx="258775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13264" y="2093976"/>
            <a:ext cx="2478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Demo telemetria + RBAC + VPS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2660904"/>
            <a:ext cx="1280160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064" y="2660904"/>
            <a:ext cx="1170431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R3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37360" y="2660904"/>
            <a:ext cx="822960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92224" y="2660904"/>
            <a:ext cx="71323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S6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0" y="2660904"/>
            <a:ext cx="1097280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15184" y="2660904"/>
            <a:ext cx="9875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31 ago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0" y="2660904"/>
            <a:ext cx="4297680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12464" y="2660904"/>
            <a:ext cx="41879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Editor + sensores + IA base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55280" y="2660904"/>
            <a:ext cx="2103120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10144" y="2660904"/>
            <a:ext cx="1993391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ARQ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058400" y="2660904"/>
            <a:ext cx="2587752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13264" y="2660904"/>
            <a:ext cx="2478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Demo editor + mapa + sensores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227832"/>
            <a:ext cx="1280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2064" y="3227832"/>
            <a:ext cx="1170431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1F4E79"/>
                </a:solidFill>
                <a:latin typeface="Calibri"/>
              </a:rPr>
              <a:t>R4 · FIN E1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737360" y="3227832"/>
            <a:ext cx="822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792224" y="3227832"/>
            <a:ext cx="71323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S8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60320" y="3227832"/>
            <a:ext cx="1097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15184" y="3227832"/>
            <a:ext cx="9875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30 sep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0" y="3227832"/>
            <a:ext cx="4297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12464" y="3227832"/>
            <a:ext cx="41879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1F4E79"/>
                </a:solidFill>
                <a:latin typeface="Calibri"/>
              </a:rPr>
              <a:t>Sistema integrado e2e - FIN ETAPA 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55280" y="3227832"/>
            <a:ext cx="2103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10144" y="3227832"/>
            <a:ext cx="1993391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Gerencia + ARQ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58400" y="3227832"/>
            <a:ext cx="258775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13264" y="3227832"/>
            <a:ext cx="2478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Demo offline + informe QA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3794760"/>
            <a:ext cx="1280160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12064" y="3794760"/>
            <a:ext cx="1170431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R5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37360" y="3794760"/>
            <a:ext cx="822960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792224" y="3794760"/>
            <a:ext cx="71323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S11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560320" y="3794760"/>
            <a:ext cx="1097280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615184" y="3794760"/>
            <a:ext cx="9875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31 oct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0" y="3794760"/>
            <a:ext cx="4297680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712464" y="3794760"/>
            <a:ext cx="41879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Hardening + DR + optimizacion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955280" y="3794760"/>
            <a:ext cx="2103120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10144" y="3794760"/>
            <a:ext cx="1993391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1C4D49"/>
                </a:solidFill>
                <a:latin typeface="Calibri"/>
              </a:rPr>
              <a:t>ARQ + Gerencia TI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058400" y="3794760"/>
            <a:ext cx="2587752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113264" y="3794760"/>
            <a:ext cx="2478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Pentest + DR + carga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4361688"/>
            <a:ext cx="1280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12064" y="4361688"/>
            <a:ext cx="1170431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1E7A3D"/>
                </a:solidFill>
                <a:latin typeface="Calibri"/>
              </a:rPr>
              <a:t>R6 · GO-LIVE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737360" y="4361688"/>
            <a:ext cx="822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792224" y="4361688"/>
            <a:ext cx="71323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S13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560320" y="4361688"/>
            <a:ext cx="1097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615184" y="4361688"/>
            <a:ext cx="9875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30 nov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57600" y="4361688"/>
            <a:ext cx="4297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712464" y="4361688"/>
            <a:ext cx="41879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1E7A3D"/>
                </a:solidFill>
                <a:latin typeface="Calibri"/>
              </a:rPr>
              <a:t>Go-Live produccion - FIN PROYECTO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955280" y="4361688"/>
            <a:ext cx="2103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010144" y="4361688"/>
            <a:ext cx="1993391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Gerencia General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058400" y="4361688"/>
            <a:ext cx="258775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113264" y="4361688"/>
            <a:ext cx="2478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Acta Go-Live + handover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AURIXA · Sustentacion Gerencia de TI · v36.1 · jun 2026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KPIs medibles del SOW (O1-O7) y SLA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DDEC"/>
                </a:solidFill>
                <a:latin typeface="Calibri"/>
              </a:rPr>
              <a:t>Cada objetivo tiene meta y sprint de validacion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1C4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82296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143000"/>
            <a:ext cx="7498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1143000"/>
            <a:ext cx="329184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16736" y="1143000"/>
            <a:ext cx="32186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Objetivo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43000"/>
            <a:ext cx="210312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143000"/>
            <a:ext cx="202996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Meta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1143000"/>
            <a:ext cx="182880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11696" y="1143000"/>
            <a:ext cx="17556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Validacion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143000"/>
            <a:ext cx="3776472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0496" y="1143000"/>
            <a:ext cx="3703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Refuerzo v36.1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527048"/>
            <a:ext cx="822960" cy="457200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1527048"/>
            <a:ext cx="7132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O1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160" y="1527048"/>
            <a:ext cx="3291840" cy="457200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35024" y="1527048"/>
            <a:ext cx="31821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Rapidez de pantalla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527048"/>
            <a:ext cx="2103120" cy="457200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6864" y="1527048"/>
            <a:ext cx="199339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&lt; 20 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1527048"/>
            <a:ext cx="1828800" cy="457200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9984" y="1527048"/>
            <a:ext cx="17190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S9, S11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1527048"/>
            <a:ext cx="3776472" cy="457200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58784" y="1527048"/>
            <a:ext cx="36667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Lecturas desde replica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1984248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1984248"/>
            <a:ext cx="7132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O2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0160" y="1984248"/>
            <a:ext cx="32918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35024" y="1984248"/>
            <a:ext cx="31821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Auto-guardado seguro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1984248"/>
            <a:ext cx="2103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26864" y="1984248"/>
            <a:ext cx="199339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&lt; 0.5 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1984248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9984" y="1984248"/>
            <a:ext cx="17190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S4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0" y="1984248"/>
            <a:ext cx="377647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58784" y="1984248"/>
            <a:ext cx="36667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-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441448"/>
            <a:ext cx="822960" cy="457200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" y="2441448"/>
            <a:ext cx="7132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O3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80160" y="2441448"/>
            <a:ext cx="3291840" cy="457200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35024" y="2441448"/>
            <a:ext cx="31821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Generacion de reportes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2441448"/>
            <a:ext cx="2103120" cy="457200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26864" y="2441448"/>
            <a:ext cx="199339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&lt; 5 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2441448"/>
            <a:ext cx="1828800" cy="457200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9984" y="2441448"/>
            <a:ext cx="17190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S7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03920" y="2441448"/>
            <a:ext cx="3776472" cy="457200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58784" y="2441448"/>
            <a:ext cx="36667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Replica aislada de la ingesta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2898648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2064" y="2898648"/>
            <a:ext cx="7132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O4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0160" y="2898648"/>
            <a:ext cx="32918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35024" y="2898648"/>
            <a:ext cx="31821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Capacidad de monitoreo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0" y="2898648"/>
            <a:ext cx="2103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26864" y="2898648"/>
            <a:ext cx="199339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F4E79"/>
                </a:solidFill>
                <a:latin typeface="Calibri"/>
              </a:rPr>
              <a:t>10.000 sensores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75120" y="2898648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29984" y="2898648"/>
            <a:ext cx="17190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S6, S12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03920" y="2898648"/>
            <a:ext cx="377647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58784" y="2898648"/>
            <a:ext cx="36667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C4D49"/>
                </a:solidFill>
                <a:latin typeface="Calibri"/>
              </a:rPr>
              <a:t>COPY+Redpanda+PgBouncer+compresion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3355848"/>
            <a:ext cx="822960" cy="457200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2064" y="3355848"/>
            <a:ext cx="7132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O5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80160" y="3355848"/>
            <a:ext cx="3291840" cy="457200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35024" y="3355848"/>
            <a:ext cx="31821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Estabilidad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3355848"/>
            <a:ext cx="2103120" cy="457200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26864" y="3355848"/>
            <a:ext cx="199339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F4E79"/>
                </a:solidFill>
                <a:latin typeface="Calibri"/>
              </a:rPr>
              <a:t>&gt; 99.9% uptime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75120" y="3355848"/>
            <a:ext cx="1828800" cy="457200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29984" y="3355848"/>
            <a:ext cx="17190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S10, S13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03920" y="3355848"/>
            <a:ext cx="3776472" cy="457200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58784" y="3355848"/>
            <a:ext cx="36667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1C4D49"/>
                </a:solidFill>
                <a:latin typeface="Calibri"/>
              </a:rPr>
              <a:t>Replica + cola durable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3813048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12064" y="3813048"/>
            <a:ext cx="7132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O6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280160" y="3813048"/>
            <a:ext cx="32918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335024" y="3813048"/>
            <a:ext cx="31821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IA local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0" y="3813048"/>
            <a:ext cx="2103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26864" y="3813048"/>
            <a:ext cx="199339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&lt; 1 s/parrafo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75120" y="3813048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729984" y="3813048"/>
            <a:ext cx="17190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S6, S11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03920" y="3813048"/>
            <a:ext cx="377647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58784" y="3813048"/>
            <a:ext cx="36667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-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4270248"/>
            <a:ext cx="822960" cy="457200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12064" y="4270248"/>
            <a:ext cx="7132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O7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280160" y="4270248"/>
            <a:ext cx="3291840" cy="457200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35024" y="4270248"/>
            <a:ext cx="31821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Trazabilidad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0" y="4270248"/>
            <a:ext cx="2103120" cy="457200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26864" y="4270248"/>
            <a:ext cx="1993391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100% auditado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675120" y="4270248"/>
            <a:ext cx="1828800" cy="457200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729984" y="4270248"/>
            <a:ext cx="17190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S4, S8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503920" y="4270248"/>
            <a:ext cx="3776472" cy="457200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58784" y="4270248"/>
            <a:ext cx="36667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222A33"/>
                </a:solidFill>
                <a:latin typeface="Calibri"/>
              </a:rPr>
              <a:t>-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200" y="477316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SLA: respuesta &lt;20 ms · uptime 99.9% · 0% perdida de datos (Zero Data Loss) · IA &lt;1 s.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AURIXA · Sustentacion Gerencia de TI · v36.1 · jun 2026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Riesgos gestionados - v36.1 reduce los de mayor impacto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DDEC"/>
                </a:solidFill>
                <a:latin typeface="Calibri"/>
              </a:rPr>
              <a:t>Los 3 riesgos nuevos quedan mitigados por diseno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1C4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143000"/>
            <a:ext cx="102412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143000"/>
            <a:ext cx="91440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91056" y="1143000"/>
            <a:ext cx="8412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Imp.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143000"/>
            <a:ext cx="356616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05456" y="1143000"/>
            <a:ext cx="34930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Riesgo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143000"/>
            <a:ext cx="384048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71616" y="1143000"/>
            <a:ext cx="37673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Mitigacion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20" y="1143000"/>
            <a:ext cx="237744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12096" y="1143000"/>
            <a:ext cx="23042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Estado v36.1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527048"/>
            <a:ext cx="109728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1527048"/>
            <a:ext cx="98755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R-E1-02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1527048"/>
            <a:ext cx="91440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9344" y="1527048"/>
            <a:ext cx="80467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B12A2A"/>
                </a:solidFill>
                <a:latin typeface="Calibri"/>
              </a:rPr>
              <a:t>Alto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1527048"/>
            <a:ext cx="356616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23744" y="1527048"/>
            <a:ext cx="345643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Complejidad nucleo C++ tiempo real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527048"/>
            <a:ext cx="384048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9904" y="1527048"/>
            <a:ext cx="373075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Modularizacion; smoke tests WebSocket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1527048"/>
            <a:ext cx="237744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30384" y="1527048"/>
            <a:ext cx="226771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1E7A3D"/>
                </a:solidFill>
                <a:latin typeface="Calibri"/>
              </a:rPr>
              <a:t>Mitigado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039112"/>
            <a:ext cx="10972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2039112"/>
            <a:ext cx="98755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R-E1-05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54480" y="2039112"/>
            <a:ext cx="9144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9344" y="2039112"/>
            <a:ext cx="80467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B12A2A"/>
                </a:solidFill>
                <a:latin typeface="Calibri"/>
              </a:rPr>
              <a:t>Alto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68880" y="2039112"/>
            <a:ext cx="35661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23744" y="2039112"/>
            <a:ext cx="345643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Ampliacion de alcance (A-G)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039112"/>
            <a:ext cx="38404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9904" y="2039112"/>
            <a:ext cx="373075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Change control ARQ; comite; trazabilidad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75520" y="2039112"/>
            <a:ext cx="23774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30384" y="2039112"/>
            <a:ext cx="226771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Vigente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551176"/>
            <a:ext cx="109728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" y="2551176"/>
            <a:ext cx="98755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R-E1-09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54480" y="2551176"/>
            <a:ext cx="91440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09344" y="2551176"/>
            <a:ext cx="80467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B56A00"/>
                </a:solidFill>
                <a:latin typeface="Calibri"/>
              </a:rPr>
              <a:t>Medio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68880" y="2551176"/>
            <a:ext cx="356616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23744" y="2551176"/>
            <a:ext cx="345643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Perdida de telemetria en rafagas 10k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2551176"/>
            <a:ext cx="384048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9904" y="2551176"/>
            <a:ext cx="373075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Cola durable Redpanda + cola acotada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75520" y="2551176"/>
            <a:ext cx="237744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30384" y="2551176"/>
            <a:ext cx="226771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1E7A3D"/>
                </a:solidFill>
                <a:latin typeface="Calibri"/>
              </a:rPr>
              <a:t>Mitigado x diseno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063240"/>
            <a:ext cx="10972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2064" y="3063240"/>
            <a:ext cx="98755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R-E1-10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54480" y="3063240"/>
            <a:ext cx="9144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09344" y="3063240"/>
            <a:ext cx="80467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B56A00"/>
                </a:solidFill>
                <a:latin typeface="Calibri"/>
              </a:rPr>
              <a:t>Medio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0" y="3063240"/>
            <a:ext cx="35661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23744" y="3063240"/>
            <a:ext cx="345643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Agotamiento de conexiones de BD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3063240"/>
            <a:ext cx="38404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89904" y="3063240"/>
            <a:ext cx="373075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PgBouncer pooling + conexion dedicada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75520" y="3063240"/>
            <a:ext cx="23774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30384" y="3063240"/>
            <a:ext cx="226771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1E7A3D"/>
                </a:solidFill>
                <a:latin typeface="Calibri"/>
              </a:rPr>
              <a:t>Mitigado x diseno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3575304"/>
            <a:ext cx="109728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2064" y="3575304"/>
            <a:ext cx="98755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R-E2-02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54480" y="3575304"/>
            <a:ext cx="91440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09344" y="3575304"/>
            <a:ext cx="80467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B12A2A"/>
                </a:solidFill>
                <a:latin typeface="Calibri"/>
              </a:rPr>
              <a:t>Alto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68880" y="3575304"/>
            <a:ext cx="356616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23744" y="3575304"/>
            <a:ext cx="345643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Fallo en simulacro DR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35040" y="3575304"/>
            <a:ext cx="384048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89904" y="3575304"/>
            <a:ext cx="373075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Replica + tier frio + runbooks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875520" y="3575304"/>
            <a:ext cx="237744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30384" y="3575304"/>
            <a:ext cx="226771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1E7A3D"/>
                </a:solidFill>
                <a:latin typeface="Calibri"/>
              </a:rPr>
              <a:t>Atenuado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4087368"/>
            <a:ext cx="10972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12064" y="4087368"/>
            <a:ext cx="98755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R-E2-03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554480" y="4087368"/>
            <a:ext cx="9144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09344" y="4087368"/>
            <a:ext cx="80467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B12A2A"/>
                </a:solidFill>
                <a:latin typeface="Calibri"/>
              </a:rPr>
              <a:t>Alto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68880" y="4087368"/>
            <a:ext cx="35661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523744" y="4087368"/>
            <a:ext cx="345643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Carga 10k no cumple SLA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35040" y="4087368"/>
            <a:ext cx="38404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89904" y="4087368"/>
            <a:ext cx="373075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Pipeline validado; tuning; QA certifica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875520" y="4087368"/>
            <a:ext cx="23774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930384" y="4087368"/>
            <a:ext cx="226771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1E7A3D"/>
                </a:solidFill>
                <a:latin typeface="Calibri"/>
              </a:rPr>
              <a:t>Atenuado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4599432"/>
            <a:ext cx="109728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12064" y="4599432"/>
            <a:ext cx="98755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R-E2-08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554480" y="4599432"/>
            <a:ext cx="91440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609344" y="4599432"/>
            <a:ext cx="80467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B56A00"/>
                </a:solidFill>
                <a:latin typeface="Calibri"/>
              </a:rPr>
              <a:t>Medio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468880" y="4599432"/>
            <a:ext cx="356616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523744" y="4599432"/>
            <a:ext cx="345643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Crecimiento de almacenamiento (costo)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035040" y="4599432"/>
            <a:ext cx="384048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089904" y="4599432"/>
            <a:ext cx="373075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222A33"/>
                </a:solidFill>
                <a:latin typeface="Calibri"/>
              </a:rPr>
              <a:t>Tier frio MinIO/S3 + drop_chunks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875520" y="4599432"/>
            <a:ext cx="2377440" cy="512064"/>
          </a:xfrm>
          <a:prstGeom prst="rect">
            <a:avLst/>
          </a:prstGeom>
          <a:solidFill>
            <a:srgbClr val="EEF3F8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930384" y="4599432"/>
            <a:ext cx="226771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1E7A3D"/>
                </a:solidFill>
                <a:latin typeface="Calibri"/>
              </a:rPr>
              <a:t>Mitigado x diseno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AURIXA · Sustentacion Gerencia de TI · v36.1 · jun 2026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Equipo y carga (validacion PMO)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DDEC"/>
                </a:solidFill>
                <a:latin typeface="Calibri"/>
              </a:rPr>
              <a:t>10 recursos especializados · carga 90-100% en meses activos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1C4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3703320" cy="841248"/>
          </a:xfrm>
          <a:prstGeom prst="rect">
            <a:avLst/>
          </a:prstGeom>
          <a:solidFill>
            <a:srgbClr val="EEF3F8"/>
          </a:solidFill>
          <a:ln w="9525">
            <a:solidFill>
              <a:srgbClr val="C2D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822960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822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BE1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380744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22A33"/>
                </a:solidFill>
                <a:latin typeface="Calibri"/>
              </a:rPr>
              <a:t>Core C++ / tiempo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8308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C4D49"/>
                </a:solidFill>
                <a:latin typeface="Calibri"/>
              </a:rPr>
              <a:t>Carga prom. activos: 92.0%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325880"/>
            <a:ext cx="3703320" cy="841248"/>
          </a:xfrm>
          <a:prstGeom prst="rect">
            <a:avLst/>
          </a:prstGeom>
          <a:solidFill>
            <a:srgbClr val="EEF3F8"/>
          </a:solidFill>
          <a:ln w="9525">
            <a:solidFill>
              <a:srgbClr val="C2D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325880"/>
            <a:ext cx="822960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0248" y="1325880"/>
            <a:ext cx="822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BE2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1380744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22A33"/>
                </a:solidFill>
                <a:latin typeface="Calibri"/>
              </a:rPr>
              <a:t>Seguridad / biometria / 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178308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C4D49"/>
                </a:solidFill>
                <a:latin typeface="Calibri"/>
              </a:rPr>
              <a:t>Carga prom. activos: 92.7%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1325880"/>
            <a:ext cx="3703320" cy="841248"/>
          </a:xfrm>
          <a:prstGeom prst="rect">
            <a:avLst/>
          </a:prstGeom>
          <a:solidFill>
            <a:srgbClr val="EEF3F8"/>
          </a:solidFill>
          <a:ln w="9525">
            <a:solidFill>
              <a:srgbClr val="C2D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325880"/>
            <a:ext cx="822960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1325880"/>
            <a:ext cx="822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BE3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1380744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22A33"/>
                </a:solidFill>
                <a:latin typeface="Calibri"/>
              </a:rPr>
              <a:t>DBA / AWS / ETL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178308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C4D49"/>
                </a:solidFill>
                <a:latin typeface="Calibri"/>
              </a:rPr>
              <a:t>Carga prom. activos: 95.0%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276856"/>
            <a:ext cx="3703320" cy="841248"/>
          </a:xfrm>
          <a:prstGeom prst="rect">
            <a:avLst/>
          </a:prstGeom>
          <a:solidFill>
            <a:srgbClr val="EEF3F8"/>
          </a:solidFill>
          <a:ln w="9525">
            <a:solidFill>
              <a:srgbClr val="C2D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276856"/>
            <a:ext cx="822960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276856"/>
            <a:ext cx="822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FE1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2331720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22A33"/>
                </a:solidFill>
                <a:latin typeface="Calibri"/>
              </a:rPr>
              <a:t>Interfaces / ReportStudio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2734056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C4D49"/>
                </a:solidFill>
                <a:latin typeface="Calibri"/>
              </a:rPr>
              <a:t>Carga prom. activos: 98.0%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0248" y="2276856"/>
            <a:ext cx="3703320" cy="841248"/>
          </a:xfrm>
          <a:prstGeom prst="rect">
            <a:avLst/>
          </a:prstGeom>
          <a:solidFill>
            <a:srgbClr val="EEF3F8"/>
          </a:solidFill>
          <a:ln w="9525">
            <a:solidFill>
              <a:srgbClr val="C2D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70248" y="2276856"/>
            <a:ext cx="822960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70248" y="2276856"/>
            <a:ext cx="822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FE2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4648" y="2331720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22A33"/>
                </a:solidFill>
                <a:latin typeface="Calibri"/>
              </a:rPr>
              <a:t>UX y soporte (Mes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4648" y="2734056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C4D49"/>
                </a:solidFill>
                <a:latin typeface="Calibri"/>
              </a:rPr>
              <a:t>Carga prom. activos: 94.5%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83296" y="2276856"/>
            <a:ext cx="3703320" cy="841248"/>
          </a:xfrm>
          <a:prstGeom prst="rect">
            <a:avLst/>
          </a:prstGeom>
          <a:solidFill>
            <a:srgbClr val="EEF3F8"/>
          </a:solidFill>
          <a:ln w="9525">
            <a:solidFill>
              <a:srgbClr val="C2D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83296" y="2276856"/>
            <a:ext cx="822960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3296" y="2276856"/>
            <a:ext cx="822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ARQ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97696" y="2331720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22A33"/>
                </a:solidFill>
                <a:latin typeface="Calibri"/>
              </a:rPr>
              <a:t>Arquitecto TI / PMO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97696" y="2734056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C4D49"/>
                </a:solidFill>
                <a:latin typeface="Calibri"/>
              </a:rPr>
              <a:t>Carga prom. activos: 96.5%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227832"/>
            <a:ext cx="3703320" cy="841248"/>
          </a:xfrm>
          <a:prstGeom prst="rect">
            <a:avLst/>
          </a:prstGeom>
          <a:solidFill>
            <a:srgbClr val="EEF3F8"/>
          </a:solidFill>
          <a:ln w="9525">
            <a:solidFill>
              <a:srgbClr val="C2D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3227832"/>
            <a:ext cx="822960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227832"/>
            <a:ext cx="822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3282696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22A33"/>
                </a:solidFill>
                <a:latin typeface="Calibri"/>
              </a:rPr>
              <a:t>Infraestructura VPS (Mes 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3685032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C4D49"/>
                </a:solidFill>
                <a:latin typeface="Calibri"/>
              </a:rPr>
              <a:t>Carga prom. activos: 96.3%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70248" y="3227832"/>
            <a:ext cx="3703320" cy="841248"/>
          </a:xfrm>
          <a:prstGeom prst="rect">
            <a:avLst/>
          </a:prstGeom>
          <a:solidFill>
            <a:srgbClr val="EEF3F8"/>
          </a:solidFill>
          <a:ln w="9525">
            <a:solidFill>
              <a:srgbClr val="C2D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70248" y="3227832"/>
            <a:ext cx="822960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70248" y="3227832"/>
            <a:ext cx="822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QA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84648" y="3282696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22A33"/>
                </a:solidFill>
                <a:latin typeface="Calibri"/>
              </a:rPr>
              <a:t>Calidad / auditoria (Mes 2)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84648" y="3685032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C4D49"/>
                </a:solidFill>
                <a:latin typeface="Calibri"/>
              </a:rPr>
              <a:t>Carga prom. activos: 96.1%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83296" y="3227832"/>
            <a:ext cx="3703320" cy="841248"/>
          </a:xfrm>
          <a:prstGeom prst="rect">
            <a:avLst/>
          </a:prstGeom>
          <a:solidFill>
            <a:srgbClr val="EEF3F8"/>
          </a:solidFill>
          <a:ln w="9525">
            <a:solidFill>
              <a:srgbClr val="C2D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83296" y="3227832"/>
            <a:ext cx="822960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83296" y="3227832"/>
            <a:ext cx="822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IA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97696" y="3282696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22A33"/>
                </a:solidFill>
                <a:latin typeface="Calibri"/>
              </a:rPr>
              <a:t>Modelos ONNX/NLP/STT (Mes 2)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97696" y="3685032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C4D49"/>
                </a:solidFill>
                <a:latin typeface="Calibri"/>
              </a:rPr>
              <a:t>Carga prom. activos: 97.9%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4178808"/>
            <a:ext cx="3703320" cy="841248"/>
          </a:xfrm>
          <a:prstGeom prst="rect">
            <a:avLst/>
          </a:prstGeom>
          <a:solidFill>
            <a:srgbClr val="EEF3F8"/>
          </a:solidFill>
          <a:ln w="9525">
            <a:solidFill>
              <a:srgbClr val="C2D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" y="4178808"/>
            <a:ext cx="822960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4178808"/>
            <a:ext cx="822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PAF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71600" y="4233672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222A33"/>
                </a:solidFill>
                <a:latin typeface="Calibri"/>
              </a:rPr>
              <a:t>Soporte PMO / analista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71600" y="4636008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C4D49"/>
                </a:solidFill>
                <a:latin typeface="Calibri"/>
              </a:rPr>
              <a:t>Carga prom. activos: 93.8%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/>
              </a:rPr>
              <a:t>FE2, SYS, QA e IA inician en el Mes 2: su menor promedio anual es esperado y esta comunicado a Gerencia (metrica: promedio de meses activos).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AURIXA · Sustentacion Gerencia de TI · v36.1 · jun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38100"/>
          </a:xfrm>
          <a:prstGeom prst="rect">
            <a:avLst/>
          </a:prstGeom>
          <a:solidFill>
            <a:srgbClr val="1C4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FDDEC"/>
                </a:solidFill>
                <a:latin typeface="Calibri"/>
              </a:rPr>
              <a:t>RECOMENDACION DE 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Se recomienda aprobar el avance del proyecto.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6984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DFE8F2"/>
                </a:solidFill>
                <a:latin typeface="Calibri"/>
              </a:rPr>
              <a:t>El programa esta ordenado por resultados verificables, con el equipo real de 10 recursos, economia recalculada y trazabilidad 1:1 con el SOW. Los componentes tecnicos de mayor riesgo (ingesta 10k, alta disponibilidad, escalamiento y ciclo de vida de datos) YA estan construidos: convierten varios riesgos Alto en mitigados por diseno antes de los gates R2-R5.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Decision solicitada hoy: ratificar plan 13 sprints / 6 gates · aprobar Gate R1 · incorporar arquitectura de datos v36.1 al alcance.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