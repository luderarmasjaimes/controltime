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Avance / readiness al corte (%)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333"/>
                    </a:solidFill>
                    <a:latin typeface="Calibri"/>
                  </a:defRPr>
                </a:pPr>
                <a:endParaRPr lang="es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Junio
R1</c:v>
                </c:pt>
                <c:pt idx="1">
                  <c:v>Julio
R2</c:v>
                </c:pt>
                <c:pt idx="2">
                  <c:v>Agosto
R3</c:v>
                </c:pt>
                <c:pt idx="3">
                  <c:v>Septiembre
R4</c:v>
                </c:pt>
                <c:pt idx="4">
                  <c:v>Octubre
R5</c:v>
                </c:pt>
                <c:pt idx="5">
                  <c:v>Noviembre
R6*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90.9</c:v>
                </c:pt>
                <c:pt idx="2">
                  <c:v>75.8</c:v>
                </c:pt>
                <c:pt idx="3">
                  <c:v>58.1</c:v>
                </c:pt>
                <c:pt idx="4">
                  <c:v>37.700000000000003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5F-40E5-A8EC-FEA871851D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7CCD6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201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06240"/>
            <a:ext cx="4206240" cy="4206240"/>
          </a:xfrm>
          <a:prstGeom prst="ellipse">
            <a:avLst/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149840" y="5029200"/>
            <a:ext cx="2743200" cy="2743200"/>
          </a:xfrm>
          <a:prstGeom prst="ellipse">
            <a:avLst/>
          </a:prstGeom>
          <a:solidFill>
            <a:srgbClr val="3F4E7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835640" y="5623560"/>
            <a:ext cx="1554480" cy="155448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GERENCIA Y TI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Actualizado del Proyecto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02920" y="30632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E7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Integral de Telemetría y Automatización Minera con IA — Beemetry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397764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 de agosto de 2026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ADR-000 a ADR-129 (130 registros) · SPEC-001 a SPEC-024 · Cronograma v36.1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TimeTelemetry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5257800"/>
            <a:ext cx="274320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502920" y="5440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S6 en cierre (10–21 ago) · Gate de release R3 vence el 31 de agosto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proyecto en cuatro cifras, al corte de hoy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42032" cy="1965960"/>
          </a:xfrm>
          <a:prstGeom prst="roundRect">
            <a:avLst>
              <a:gd name="adj" fmla="val 3721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267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(000–129)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24912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arquitectónicas registradas; +18 en los últimos 3 días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46120" y="1508760"/>
            <a:ext cx="2542032" cy="1965960"/>
          </a:xfrm>
          <a:prstGeom prst="roundRect">
            <a:avLst>
              <a:gd name="adj" fmla="val 3721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3383280" y="1645920"/>
            <a:ext cx="2267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395728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canónicas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2724912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formalizadas + SPEC-024 GEOCATMIN, nueva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2542032" cy="1965960"/>
          </a:xfrm>
          <a:prstGeom prst="roundRect">
            <a:avLst>
              <a:gd name="adj" fmla="val 3721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126480" y="1645920"/>
            <a:ext cx="2267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54,1%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126480" y="2395728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ejecución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2724912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/ 196 tareas canónicas cerradas (medición por tasks.md, no por ADR)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732520" y="1508760"/>
            <a:ext cx="2542032" cy="1965960"/>
          </a:xfrm>
          <a:prstGeom prst="roundRect">
            <a:avLst>
              <a:gd name="adj" fmla="val 3721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869680" y="1645920"/>
            <a:ext cx="22677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S6 / 13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869680" y="2395728"/>
            <a:ext cx="22677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en cierre hoy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2724912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release R3 vence el 31-ago-2026 (en 10 días)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794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gerencial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160520"/>
            <a:ext cx="11185855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técnica es sustancial, pero el avance real de producto es 54,1%, no el volumen de ADR — un ADR documenta una decisión, no un entregable aceptado.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preparación por gate es desigual: R2 90,9%, R3 75,8%, R4 58,1%, R5 37,7%. Offline, alertas y DR siguen casi sin tareas cerradas.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18 y el 21 de agosto se agregaron 18 ADR nuevos (112–129), incluyendo un módulo completo — bot de WhatsApp / soporte, con adjuntos docx/pptx/pdf/jpg/png, CV vía web y lectura QR/OCR — que hoy no tiene SPEC ni sprint asignado en el cronograma v36.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telemetría comprobada: 25.000 eventos/s por edge, cero pérdida. 100.000 eventos/s no está aprobado.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medición del avance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475488" cy="475488"/>
          </a:xfrm>
          <a:prstGeom prst="ellipse">
            <a:avLst/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6152" y="1600200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avance se cuenta por tareas, no por ADR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16152" y="1947672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canónica de specs/NNN-*/tasks.md se cuenta una sola vez (script scripts/project-status-metrics.ps1). Resultado al corte: 106/196 = 54,1%. No equivale a horas, presupuesto ni aceptación productiva.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944368"/>
            <a:ext cx="475488" cy="475488"/>
          </a:xfrm>
          <a:prstGeom prst="ellipse">
            <a:avLst/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02920" y="29443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6152" y="2898648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ADR mide decisión y coherencia, no producto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16152" y="324612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= existe dirección, puede cambiar · accepted = decisión aprobada, no prueba implementación · implemented = existe código, no prueba aceptación integral. Solo un criterio de aceptación con evidencia cierra una tarea.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42816"/>
            <a:ext cx="475488" cy="475488"/>
          </a:xfrm>
          <a:prstGeom prst="ellipse">
            <a:avLst/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502920" y="42428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16152" y="4197096"/>
            <a:ext cx="9692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readiness mensual es una fotografía, no una proyección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16152" y="4544568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porcentajes de julio–octubre son tareas cerradas / planificadas de las SPEC de ese release, tomadas hoy. No se contabiliza avance futuro que todavía no ocurrió; noviembre usa 10 controles de salida distintos (ver diapositiva 9).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5541264"/>
            <a:ext cx="11185855" cy="566928"/>
          </a:xfrm>
          <a:prstGeom prst="roundRect">
            <a:avLst>
              <a:gd name="adj" fmla="val 9677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85800" y="5541264"/>
            <a:ext cx="1082009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actualización: cada viernes se corre el script de métricas, se adjunta evidencia de pruebas y un porcentaje solo cambia cuando cambia una tarea o un criterio de aceptación.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MAESTRO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sprints · 6 releases · 1 jun – 30 nov 2026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02920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01–12 jun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502920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67591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367591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95023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15–26 jun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367591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32261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2232261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59693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jun–10 jul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2232261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96932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3096932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124364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13–24 jul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3096932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61603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3961603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989035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jul–07 ago</a:t>
            </a:r>
            <a:endParaRPr lang="en-US" sz="760" dirty="0"/>
          </a:p>
        </p:txBody>
      </p:sp>
      <p:sp>
        <p:nvSpPr>
          <p:cNvPr id="23" name="Text 21"/>
          <p:cNvSpPr/>
          <p:nvPr/>
        </p:nvSpPr>
        <p:spPr>
          <a:xfrm>
            <a:off x="3961603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26274" y="158191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26274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4826274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53706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10–21 ago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4826274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90944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/>
          <p:nvPr/>
        </p:nvSpPr>
        <p:spPr>
          <a:xfrm>
            <a:off x="5690944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S7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18376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ago–04 sep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5690944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55615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32"/>
          <p:cNvSpPr/>
          <p:nvPr/>
        </p:nvSpPr>
        <p:spPr>
          <a:xfrm>
            <a:off x="6555615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S8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83047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07–18 sep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6555615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420286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/>
          <p:nvPr/>
        </p:nvSpPr>
        <p:spPr>
          <a:xfrm>
            <a:off x="7420286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S9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447718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sep–02 oct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7420286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84956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2" name="Text 40"/>
          <p:cNvSpPr/>
          <p:nvPr/>
        </p:nvSpPr>
        <p:spPr>
          <a:xfrm>
            <a:off x="8284956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12388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05–16 oct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8284956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149627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4"/>
          <p:cNvSpPr/>
          <p:nvPr/>
        </p:nvSpPr>
        <p:spPr>
          <a:xfrm>
            <a:off x="9149627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S11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177059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19–30 oct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9149627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14298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8"/>
          <p:cNvSpPr/>
          <p:nvPr/>
        </p:nvSpPr>
        <p:spPr>
          <a:xfrm>
            <a:off x="10014298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0041730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02–13 nov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10014298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0878968" y="1965960"/>
            <a:ext cx="809807" cy="1417320"/>
          </a:xfrm>
          <a:prstGeom prst="roundRect">
            <a:avLst>
              <a:gd name="adj" fmla="val 677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Text 52"/>
          <p:cNvSpPr/>
          <p:nvPr/>
        </p:nvSpPr>
        <p:spPr>
          <a:xfrm>
            <a:off x="10878968" y="2075688"/>
            <a:ext cx="80980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S13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0906400" y="2496312"/>
            <a:ext cx="754943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6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16–27 nov</a:t>
            </a:r>
            <a:endParaRPr lang="en-US" sz="760" dirty="0"/>
          </a:p>
        </p:txBody>
      </p:sp>
      <p:sp>
        <p:nvSpPr>
          <p:cNvPr id="56" name="Text 54"/>
          <p:cNvSpPr/>
          <p:nvPr/>
        </p:nvSpPr>
        <p:spPr>
          <a:xfrm>
            <a:off x="10878968" y="3044952"/>
            <a:ext cx="809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02920" y="370332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8" name="Text 56"/>
          <p:cNvSpPr/>
          <p:nvPr/>
        </p:nvSpPr>
        <p:spPr>
          <a:xfrm>
            <a:off x="813816" y="36758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 (S1–S5)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3154680" y="370332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0" name="Text 58"/>
          <p:cNvSpPr/>
          <p:nvPr/>
        </p:nvSpPr>
        <p:spPr>
          <a:xfrm>
            <a:off x="3465576" y="36758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cierre hoy (S6)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806440" y="3703320"/>
            <a:ext cx="23774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60"/>
          <p:cNvSpPr/>
          <p:nvPr/>
        </p:nvSpPr>
        <p:spPr>
          <a:xfrm>
            <a:off x="6117336" y="36758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</a:t>
            </a:r>
            <a:endParaRPr lang="en-US" sz="105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60520"/>
          <a:ext cx="11185855" cy="214426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51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S1–S2 · jun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Planificación, arquitectura, diseño de datos, shell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S3–S4 · jul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central, accesos seguros, telemetría, VPS desarrollo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S5–S6 · 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Editor, mapas, sensores, IA base, dictado por voz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S7–S8 · sep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Exportación, integraciones, modo offline, QA del 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S9–S11 · oct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Hardening, DR, optimización, preparación de UAT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S12–S13 · nov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Estrés 10k, UAT, marcha blanca, Go-Live y transferencia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PUERTAS DE CONTROL GERENCIAL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Releases y gates: fecha, criterio y estado real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92256" cy="3584448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8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 de aprobación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al 21-ago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y arquitectura aprobados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 — 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operacional + seguridad 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90,9% (10/11) — cierre formal pendiente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2026-08-31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 + sensores + IA base — FIN vence en 10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75,8% (50/66) — en curso, aceptación integrada abierta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2026-09-30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integrado e2e — FIN ETAPA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58,1% (36/62) readiness — offline y alertas críticos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2026-10-31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+ DR + optimización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37,7% (26/69) readiness — sin pentest/DR aún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2026-11-30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Go-Live producción — FIN PROYECTO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 (4/10 controles) — no habilita producción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349240"/>
            <a:ext cx="11185855" cy="777240"/>
          </a:xfrm>
          <a:prstGeom prst="roundRect">
            <a:avLst>
              <a:gd name="adj" fmla="val 7059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3"/>
          <p:cNvSpPr/>
          <p:nvPr/>
        </p:nvSpPr>
        <p:spPr>
          <a:xfrm>
            <a:off x="685800" y="5349240"/>
            <a:ext cx="10820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gates y no percepción:  </a:t>
            </a: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avance se aprueba con evidencia (build, tests, pentest, DR, UAT), no por avance de calendario. Un gate no superado detiene el avance y evita el descontrol de alcance.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MES A MES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Readiness disponible al corte, desde el inicio hasta el cierre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508760"/>
          <a:ext cx="777240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549640" y="1508760"/>
            <a:ext cx="3139135" cy="1417320"/>
          </a:xfrm>
          <a:prstGeom prst="roundRect">
            <a:avLst>
              <a:gd name="adj" fmla="val 4516"/>
            </a:avLst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8732520" y="1627632"/>
            <a:ext cx="27733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732520" y="2194560"/>
            <a:ext cx="27733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campo (0/14)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732520" y="2514600"/>
            <a:ext cx="27733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derivado, sin fecha en el cronograma v36 — diseño conceptual formalizado (ADR-110), sin implementación.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549640" y="3200400"/>
            <a:ext cx="313913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Noviembre usa un criterio distinto: 4 de 10 controles de salida (pentest, DR, UAT, go-live — diapositiva 9), no tareas de SPEC.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valores son la preparación disponible al 21-ago, no una proyección de trabajo futuro.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DOMINIO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por frente funcional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4901184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62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decisivo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Ingesta / telemetría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Soak 1h/24h y nueva topología para 100k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/ RBAC / auditoría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Amb.-verde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Pentest externo, runbooks, evidencia productiva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/ Odoo (TimeTelemetry)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Amb.-verde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CA-4: create/write productivo autorizado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/ realtime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Regresión, SLA e integración de sitio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Reportabilidad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completa, export multigráfico, UAT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/ zonas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Anti-IDOR, contrato API, render/export en CI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GIS / 3D / GEOCATMIN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reales, performance, aceptación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Biometría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FMR/FNMR, PAD, DPIA, hardware real, reenrolamiento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/ ThingsBoard legacy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Validación contra entorno/credenciales del cliente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 / WhatsApp (nuevo)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Amarillo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SPEC formal; credenciales Meta de producción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Rojo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SPEC-016 en 0/5 y prueba extremo a extremo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Rojo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SPEC-014 en 0/10 como flujo integral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 / HA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Rojo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SPEC-015 en 0/11; promoción, restore, RTO/RPO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Operaciones de campo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Rojo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 en 0/14; aprobar ADR-110 y reprogramar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EPP / Enterprise LATAM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B61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 (ADR-025) / solo F0 propuesto (ADR-035)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 DE SALIDA A PRODUCCIÓN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de salida R6 — Go-Live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468880" cy="4572000"/>
          </a:xfrm>
          <a:prstGeom prst="roundRect">
            <a:avLst>
              <a:gd name="adj" fmla="val 2963"/>
            </a:avLst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02920" y="219456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4/10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30632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cumplidos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40% de readiness de salida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60120" y="3977640"/>
            <a:ext cx="1554480" cy="0"/>
          </a:xfrm>
          <a:prstGeom prst="line">
            <a:avLst/>
          </a:prstGeom>
          <a:noFill/>
          <a:ln w="1905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31520" y="4160520"/>
            <a:ext cx="2011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controles técnicos aprobados no sustituyen pentest, DR, UAT, despliegue/rollback ni marcha blanca.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6120" y="1463040"/>
          <a:ext cx="8442655" cy="467715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42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al corte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TypeScript sin errores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tests 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 — 47/47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productivo 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 (advertencias no bloqueantes)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+ CTest backend (árbol actual)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Cumplido — build 100%, CTest 1/1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 Playwright de flujos críticos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ejecutado en esta auditoría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Pentest externo, P0/P1 cerrados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Simulacro DR — RTO&lt;15 min / RPO≈0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UAT firmado por operadores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Despliegue/rollback automatizado probado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Marcha blanca 48–72 h y acta go-live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INFORME DEL 18-AGO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ADR nuevos en 3 días (112 a 129)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615184" cy="4480560"/>
          </a:xfrm>
          <a:prstGeom prst="roundRect">
            <a:avLst>
              <a:gd name="adj" fmla="val 2797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667512" y="17556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67512" y="24323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nuevos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7889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/ 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7512" y="3383280"/>
            <a:ext cx="2286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conversacional (menú, reclamos, IA), multilínea por área, administración de números, chat web persistente, RRHH y scoring de CVs. Ahora también en el widget web: adjuntos, CV y QR/OCR (ADR-129).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67512" y="5074920"/>
            <a:ext cx="2286000" cy="320040"/>
          </a:xfrm>
          <a:prstGeom prst="roundRect">
            <a:avLst>
              <a:gd name="adj" fmla="val 514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67512" y="5074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NUEVO — SIN SPEC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67512" y="5486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ADR-112 a 118, 122, 129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00984" y="1600200"/>
            <a:ext cx="2615184" cy="4480560"/>
          </a:xfrm>
          <a:prstGeom prst="roundRect">
            <a:avLst>
              <a:gd name="adj" fmla="val 2797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3465576" y="17556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65576" y="24323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nuevos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65576" y="27889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Biometría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65576" y="3383280"/>
            <a:ext cx="2286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Fusión ONNX solo-veto, pool de conexiones a ai_engine, thread-safety de eye_analyzer, liveness activo reactivado.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65576" y="5486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ADR-119, 124–126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99048" y="1600200"/>
            <a:ext cx="2615184" cy="4480560"/>
          </a:xfrm>
          <a:prstGeom prst="roundRect">
            <a:avLst>
              <a:gd name="adj" fmla="val 2797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263640" y="17556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263640" y="24323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nuevos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63640" y="27889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/ Mapas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63640" y="3383280"/>
            <a:ext cx="2286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 TLS en mining-gateway, coordenadas geográficas de empresa, integración nativa GEOCATMIN/INGEMMET.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63640" y="5486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ADR-120, 121, 123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7112" y="1600200"/>
            <a:ext cx="2615184" cy="4480560"/>
          </a:xfrm>
          <a:prstGeom prst="roundRect">
            <a:avLst>
              <a:gd name="adj" fmla="val 2797"/>
            </a:avLst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9061704" y="1755648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9061704" y="243230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nuevos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061704" y="27889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Reportabilidad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061704" y="3383280"/>
            <a:ext cx="2286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del caché offline por usuario/tenant, plantillas nativas de presentación 16:9.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061704" y="5486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E9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ADR-127, 128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DECISIÓN DE GERENCIA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nuevo aún no incorporado al cronograma v36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55768" cy="2148840"/>
          </a:xfrm>
          <a:prstGeom prst="roundRect">
            <a:avLst>
              <a:gd name="adj" fmla="val 340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31520" y="17556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31520" y="175564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PENDIENTE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217627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/ 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42032"/>
            <a:ext cx="49985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ADR implementados y verificados por build/tests (incluye ADR-129: adjuntos, CV web, QR/OCR). Sin número de SPEC, sin sprint asignado. Entrega real a un teléfono depende de credenciales de producción de Meta.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3008" y="1554480"/>
            <a:ext cx="5455768" cy="2148840"/>
          </a:xfrm>
          <a:prstGeom prst="roundRect">
            <a:avLst>
              <a:gd name="adj" fmla="val 340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6461608" y="175564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461608" y="175564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PENDIENTE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61608" y="217627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GEOCATMIN (SPEC-024)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61608" y="2542032"/>
            <a:ext cx="49985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ADR-121/123 implementados — integración nativa con INGEMMET. Tiene spec.md pero no tasks.md: queda fuera del conteo de 196 tareas hasta que se descomponga.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5455768" cy="2148840"/>
          </a:xfrm>
          <a:prstGeom prst="roundRect">
            <a:avLst>
              <a:gd name="adj" fmla="val 340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Shape 13"/>
          <p:cNvSpPr/>
          <p:nvPr/>
        </p:nvSpPr>
        <p:spPr>
          <a:xfrm>
            <a:off x="731520" y="417880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731520" y="417880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PENDIENTE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459943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campo (SPEC-022)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4965192"/>
            <a:ext cx="49985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0/14 tareas. Ya reconocido como proyecto derivado desde el informe del 18-ago. Sigue sin product owner, arquitecto ni presupuesto asignado.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3008" y="3977640"/>
            <a:ext cx="5455768" cy="2148840"/>
          </a:xfrm>
          <a:prstGeom prst="roundRect">
            <a:avLst>
              <a:gd name="adj" fmla="val 340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6461608" y="417880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6461608" y="4178808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PENDIENTE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61608" y="4599432"/>
            <a:ext cx="499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LATAM (ADR-035)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61608" y="4965192"/>
            <a:ext cx="499856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fase F0 está vigente. F1–F4 (topología edge/hub multipaís) siguen sin código ni decisión comercial.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RIESGO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gerenciales, priorizados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85855" cy="51663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535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66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Acción / decisión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 archivos sin commitear (234 el 18-ago); CHANGELOG sin tocar desde el 27-jul pese a 61 ADR nuevos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Pérdida de trabajo y trazabilidad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Segmentar ramas/commits por SPEC y respaldar ya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Offline, alertas y DR casi sin tareas cerradas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R4/R5 no alcanzables por inercia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dedicado y plan semanal con evidencia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6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pentest externo, UAT ni DR agendados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habilita go-live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Agendar proveedores/usuarios y ventanas ahora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Soporte/WhatsApp sin SPEC ni presupuesto formal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 no contractual sin decisión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Aprobar SPEC-025 o posponer explícitamente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real depende de acceso del cliente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Puede bloquear R4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Responsable, credenciales, ventana y dataset de aceptación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Escritura Odoo no probada productivamente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solo parcialmente aceptada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Ventana controlada con registro de rollback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Biometría sin calibración/cumplimiento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de seguridad/privacidad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representativo, laboratorio y DPIA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Operaciones de campo fuera del cronograma actual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Sobrecarga R6 y expectativas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Aprobar rebaseline, personal y piloto separados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3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 &gt;500 kB y warnings CSS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UX en enlaces lentos / PDA de campo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30" dirty="0">
                          <a:solidFill>
                            <a:srgbClr val="1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splitting, limpiar @apply, presupuesto de bundle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C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A PRODUCCIÓN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recuperación, mes a mes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90724" cy="3749040"/>
          </a:xfrm>
          <a:prstGeom prst="roundRect">
            <a:avLst>
              <a:gd name="adj" fmla="val 2824"/>
            </a:avLst>
          </a:prstGeom>
          <a:solidFill>
            <a:srgbClr val="E8A33D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667512" y="1737360"/>
            <a:ext cx="22615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18–31 AGO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67512" y="2084832"/>
            <a:ext cx="22615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R3 con evidencia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" y="2816352"/>
            <a:ext cx="22615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80" dirty="0">
                <a:solidFill>
                  <a:srgbClr val="3A3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pendientes de SPEC-021, regresión de ReportStudio, CI con build+CTest backend y Playwright crítico, acta de gate R3. Decidir alcance de Soporte/WhatsApp.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3367964" y="1554480"/>
            <a:ext cx="2590724" cy="3749040"/>
          </a:xfrm>
          <a:prstGeom prst="roundRect">
            <a:avLst>
              <a:gd name="adj" fmla="val 282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3532556" y="1737360"/>
            <a:ext cx="22615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32556" y="2084832"/>
            <a:ext cx="22615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 integrado — 3 equipos en paralelo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2556" y="2816352"/>
            <a:ext cx="22615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A: offline (SPEC-014) y pruebas WAN/replay. Equipo B: alertas (SPEC-016) e integración dashboard/informe. Equipo C: AWS/ThingsBoard real + Odoo CA-4 autorizada.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90724" cy="3749040"/>
          </a:xfrm>
          <a:prstGeom prst="roundRect">
            <a:avLst>
              <a:gd name="adj" fmla="val 282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397600" y="1737360"/>
            <a:ext cx="22615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97600" y="2084832"/>
            <a:ext cx="22615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 sin negociación de evidencia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97600" y="2816352"/>
            <a:ext cx="22615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Simulacro failover/restore cronometrado, pentest externo con cierre de P0/P1, soak de telemetría, calibración biométrica o exclusión formal de alcance.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9098051" y="1554480"/>
            <a:ext cx="2590724" cy="3749040"/>
          </a:xfrm>
          <a:prstGeom prst="roundRect">
            <a:avLst>
              <a:gd name="adj" fmla="val 2824"/>
            </a:avLst>
          </a:prstGeom>
          <a:solidFill>
            <a:srgbClr val="E7ECF7"/>
          </a:solidFill>
          <a:ln w="12700">
            <a:solidFill>
              <a:srgbClr val="C7CCD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9262643" y="1737360"/>
            <a:ext cx="22615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97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NOVIEMBRE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62643" y="2084832"/>
            <a:ext cx="22615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 — Go-Live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62643" y="2816352"/>
            <a:ext cx="22615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con operadores, marcha blanca 48–72 h, rollback probado. Go-live solo si los 10 controles de la diapositiva 8 están completos.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502920" y="5532120"/>
            <a:ext cx="11185855" cy="594360"/>
          </a:xfrm>
          <a:prstGeom prst="roundRect">
            <a:avLst>
              <a:gd name="adj" fmla="val 9231"/>
            </a:avLst>
          </a:prstGeom>
          <a:solidFill>
            <a:srgbClr val="1B23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685800" y="5532120"/>
            <a:ext cx="10820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derivados, sin fecha en v36: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campo (aprobar ADR-110 + SPEC-022, equipo y piloto) y Soporte/WhatsApp (formalizar SPEC-025, sprint destino si se aprueba).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SOLICITA A GERENCIA Y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pendientes para no bloquear el cronograma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4592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o diferir explícitamente la incorporación del módulo Soporte/WhatsApp al alcance contractual (SPEC-025) y su sprint destino.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51460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rebaseline de Operaciones de Campo como proyecto derivado: product owner, equipo y presupuesto de piloto.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290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50292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38328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pentest externo, simulacro DR y UAT con fechas y proveedores concretos — sin esto R5/R6 no pueden cerrar.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50292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425196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s-PE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acceso a los entornos productivos y a las bases de datos necesarias para la operación y soporte de la plataforma.</a:t>
            </a:r>
            <a:endParaRPr lang="en-US" sz="13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2920" y="5166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5120640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postura comercial sobre Enterprise LATAM (ADR-035 F1–F4) y sobre la validación externa de RUC/SUNAT.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2C6F0EC3-ED0A-A174-BD41-224A9C9B7F04}"/>
              </a:ext>
            </a:extLst>
          </p:cNvPr>
          <p:cNvSpPr/>
          <p:nvPr/>
        </p:nvSpPr>
        <p:spPr>
          <a:xfrm>
            <a:off x="502920" y="5971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8A33D"/>
          </a:solidFill>
          <a:ln/>
        </p:spPr>
        <p:txBody>
          <a:bodyPr/>
          <a:lstStyle/>
          <a:p>
            <a:pPr algn="ctr"/>
            <a:r>
              <a:rPr lang="es-MX" b="1" dirty="0">
                <a:solidFill>
                  <a:srgbClr val="1B2333"/>
                </a:solidFill>
                <a:latin typeface="Cambria" pitchFamily="34" charset="0"/>
                <a:ea typeface="Cambria" pitchFamily="34" charset="-122"/>
              </a:rPr>
              <a:t>6</a:t>
            </a:r>
            <a:endParaRPr lang="es-PE" b="1" dirty="0">
              <a:solidFill>
                <a:srgbClr val="1B2333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AE830790-981E-62CE-0A50-AADEA7C538D9}"/>
              </a:ext>
            </a:extLst>
          </p:cNvPr>
          <p:cNvSpPr/>
          <p:nvPr/>
        </p:nvSpPr>
        <p:spPr>
          <a:xfrm>
            <a:off x="1188720" y="5808081"/>
            <a:ext cx="9692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s-PE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con soporte y recursos de inteligencia artificial (IA) acordes con la complejidad y los requerimientos del proyecto.</a:t>
            </a:r>
            <a:endParaRPr lang="en-US" sz="13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840480" cy="3840480"/>
          </a:xfrm>
          <a:prstGeom prst="ellipse">
            <a:avLst/>
          </a:prstGeom>
          <a:solidFill>
            <a:srgbClr val="2E3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-365760" y="-365760"/>
            <a:ext cx="2194560" cy="219456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502920" y="22860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revisión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2651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gate R3 — 31 de agosto de 2026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35204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actualizadas cada viernes con scripts/project-status-metrics.ps1. Próximo corte: viernes 28-ago-2026, previo al gate.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2743200" cy="0"/>
          </a:xfrm>
          <a:prstGeom prst="line">
            <a:avLst/>
          </a:prstGeom>
          <a:noFill/>
          <a:ln w="254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502920" y="452628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verdad: 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docs/decisions/README.md (ADR-000–129)  ·  specs/REGISTRY.md  ·  specs/BACKLOG.md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scripts/project-status-metrics.ps1  ·  docs_/01_Planificacion/Cronograma_Maestro_AURIXA_v36.md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Beemetry · Plataforma Minera  |  Corte 21-ago-2026  |  Confidencial — uso interno Gerencia / TI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48695" y="651052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2451</Words>
  <Application>Microsoft Office PowerPoint</Application>
  <PresentationFormat>Panorámica</PresentationFormat>
  <Paragraphs>385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TimeTelemetry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Cronograma Actualizado del Proyecto — Plataforma Minera Beemetry</dc:title>
  <dc:subject>PptxGenJS Presentation</dc:subject>
  <dc:creator>Beemetry / TimeTelemetry</dc:creator>
  <cp:lastModifiedBy>lenovo´</cp:lastModifiedBy>
  <cp:revision>2</cp:revision>
  <dcterms:created xsi:type="dcterms:W3CDTF">2026-08-21T17:10:45Z</dcterms:created>
  <dcterms:modified xsi:type="dcterms:W3CDTF">2026-08-21T22:07:00Z</dcterms:modified>
</cp:coreProperties>
</file>