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 / readiness al corte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Junio
R1</c:v>
                  </c:pt>
                  <c:pt idx="1">
                    <c:v>Julio
R2</c:v>
                  </c:pt>
                  <c:pt idx="2">
                    <c:v>Agosto
R3</c:v>
                  </c:pt>
                  <c:pt idx="3">
                    <c:v>Septiembre
R4</c:v>
                  </c:pt>
                  <c:pt idx="4">
                    <c:v>Octubre
R5</c:v>
                  </c:pt>
                  <c:pt idx="5">
                    <c:v>Noviembre
R6*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90.9</c:v>
                </c:pt>
                <c:pt idx="2">
                  <c:v>75.8</c:v>
                </c:pt>
                <c:pt idx="3">
                  <c:v>58.1</c:v>
                </c:pt>
                <c:pt idx="4">
                  <c:v>37.7</c:v>
                </c:pt>
                <c:pt idx="5">
                  <c:v>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CD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4206240" cy="4206240"/>
          </a:xfrm>
          <a:prstGeom prst="ellipse">
            <a:avLst/>
          </a:prstGeom>
          <a:solidFill>
            <a:srgbClr val="2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5029200"/>
            <a:ext cx="2743200" cy="2743200"/>
          </a:xfrm>
          <a:prstGeom prst="ellipse">
            <a:avLst/>
          </a:prstGeom>
          <a:solidFill>
            <a:srgbClr val="3F4E70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562356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GERENCIA Y 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Actualizado del Proyecto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Telemetría y Automatización Minera con IA — Beemetry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21 de agosto de 2026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ADR-000 a ADR-128 (129 registros) · SPEC-001 a SPEC-024 · Cronograma v36.1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TimeTelemetry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25780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440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S6 en cierre (10–21 ago) · Gate de release R3 vence el 31 de agosto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cuatro cifras, al corte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(000–128)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 registradas; +17 en los últimos 3 días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4592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canónicas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7249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formalizadas + SPEC-024 GEOCATMIN, nueva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4592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54,1%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ejecución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7249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196 tareas canónicas cerradas (medición por tasks.md, no por ADR)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32520" y="15087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164592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/ 13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869680" y="239572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en cierre hoy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2724912"/>
            <a:ext cx="22677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release R3 vence el 31-ago-2026 (en 10 días)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gerencial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1118585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técnica es sustancial, pero el avance real de producto es 54,1%, no el volumen de ADR — un ADR documenta una decisión, no un entregable aceptado.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preparación por gate es desigual: R2 90,9%, R3 75,8%, R4 58,1%, R5 37,7%. Offline, alertas y DR siguen casi sin tareas cerradas.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18 y el 21 de agosto se agregaron 17 ADR nuevos (112–128), incluyendo un módulo completo — bot de WhatsApp / soporte — que hoy no tiene SPEC ni sprint asignado en el cronograma v36.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telemetría comprobada: 25.000 eventos/s por edge, cero pérdida. 100.000 eventos/s no está aprobado.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medición del avance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475488" cy="475488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160020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se cuenta por tareas, no por ADR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6152" y="194767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canónica de specs/NNN-*/tasks.md se cuenta una sola vez (script scripts/project-status-metrics.ps1). Resultado al corte: 106/196 = 54,1%. No equivale a horas, presupuesto ni aceptación productiva.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44368"/>
            <a:ext cx="475488" cy="475488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6152" y="289864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ADR mide decisión y coherencia, no producto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152" y="32461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= existe dirección, puede cambiar · accepted = decisión aprobada, no prueba implementación · implemented = existe código, no prueba aceptación integral. Solo un criterio de aceptación con evidencia cierra una tarea.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42816"/>
            <a:ext cx="475488" cy="475488"/>
          </a:xfrm>
          <a:prstGeom prst="ellipse">
            <a:avLst/>
          </a:prstGeom>
          <a:solidFill>
            <a:srgbClr val="1B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42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16152" y="4197096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readiness mensual es una fotografía, no una proyección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16152" y="454456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porcentajes de julio–octubre son tareas cerradas / planificadas de las SPEC de ese release, tomadas hoy. No se contabiliza avance futuro que todavía no ocurrió; noviembre usa 10 controles de salida distintos (ver diapositiva 9).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541264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41264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actualización: cada viernes se corre el script de métricas, se adjunta evidencia de pruebas y un porcentaje solo cambia cuando cambia una tarea o un criterio de aceptación.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MAESTRO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sprints · 6 releases · 1 jun – 30 nov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2E3A5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01–12 jun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67591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2E3A55"/>
          </a:solidFill>
          <a:ln/>
        </p:spPr>
      </p:sp>
      <p:sp>
        <p:nvSpPr>
          <p:cNvPr id="9" name="Text 7"/>
          <p:cNvSpPr/>
          <p:nvPr/>
        </p:nvSpPr>
        <p:spPr>
          <a:xfrm>
            <a:off x="1367591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5023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15–26 jun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367591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32261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2E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2232261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59693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jun–10 jul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232261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6932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2E3A55"/>
          </a:solidFill>
          <a:ln/>
        </p:spPr>
      </p:sp>
      <p:sp>
        <p:nvSpPr>
          <p:cNvPr id="17" name="Text 15"/>
          <p:cNvSpPr/>
          <p:nvPr/>
        </p:nvSpPr>
        <p:spPr>
          <a:xfrm>
            <a:off x="3096932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24364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13–24 jul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3096932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61603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2E3A55"/>
          </a:solidFill>
          <a:ln/>
        </p:spPr>
      </p:sp>
      <p:sp>
        <p:nvSpPr>
          <p:cNvPr id="21" name="Text 19"/>
          <p:cNvSpPr/>
          <p:nvPr/>
        </p:nvSpPr>
        <p:spPr>
          <a:xfrm>
            <a:off x="3961603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89035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jul–07 ago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3961603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6274" y="158191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26274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826274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3706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 ago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4826274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90944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90944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8376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ago–04 sep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5690944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55615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5615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3047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07–18 sep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6555615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20286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0286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47718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sep–02 oct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7420286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84956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956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12388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05–16 oct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8284956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149627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9627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77059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 oct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9149627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014298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14298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41730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02–13 nov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10014298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878968" y="1965960"/>
            <a:ext cx="809807" cy="1417320"/>
          </a:xfrm>
          <a:prstGeom prst="roundRect">
            <a:avLst>
              <a:gd name="adj" fmla="val 677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78968" y="2075688"/>
            <a:ext cx="8098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06400" y="2496312"/>
            <a:ext cx="75494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16–27 nov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10878968" y="3044952"/>
            <a:ext cx="80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" y="370332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E3A55"/>
          </a:solidFill>
          <a:ln/>
        </p:spPr>
      </p:sp>
      <p:sp>
        <p:nvSpPr>
          <p:cNvPr id="58" name="Text 56"/>
          <p:cNvSpPr/>
          <p:nvPr/>
        </p:nvSpPr>
        <p:spPr>
          <a:xfrm>
            <a:off x="813816" y="3675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 (S1–S5)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154680" y="370332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</p:sp>
      <p:sp>
        <p:nvSpPr>
          <p:cNvPr id="60" name="Text 58"/>
          <p:cNvSpPr/>
          <p:nvPr/>
        </p:nvSpPr>
        <p:spPr>
          <a:xfrm>
            <a:off x="3465576" y="3675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cierre hoy (S6)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806440" y="370332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17336" y="3675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60520"/>
          <a:ext cx="11185855" cy="214884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8351215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S1–S2 ·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Planificación, arquitectura, diseño de datos, shell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S3–S4 · jul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central, accesos seguros, telemetría, VPS desarrollo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S5–S6 · 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Editor, mapas, sensores, IA base, dictado por voz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S7–S8 ·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Exportación, integraciones, modo offline, QA del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S9–S11 ·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Hardening, DR, optimización, preparación de UAT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S12–S13 ·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Estrés 10k, UAT, marcha blanca, Go-Live y transferencia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Text 61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DE CONTROL GERENCIAL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Releases y gates: fecha, criterio y estado real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3566160"/>
        </p:xfrm>
        <a:graphic>
          <a:graphicData uri="http://schemas.openxmlformats.org/drawingml/2006/table">
            <a:tbl>
              <a:tblPr/>
              <a:tblGrid>
                <a:gridCol w="1051560"/>
                <a:gridCol w="1234440"/>
                <a:gridCol w="4937760"/>
                <a:gridCol w="396849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aprobación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al 21-ago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y arquitectura aprobados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operacional + seguridad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90,9% (10/11) — cierre formal pendiente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+ sensores + IA base — FIN vence en 10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75,8% (50/66) — en curso, aceptación integrada abierta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integrado e2e — FIN ETAPA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58,1% (36/62) readiness — offline y alertas críticos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 + DR + optimización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37,7% (26/69) readiness — sin pentest/DR aún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producción — FIN PROYECTO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(4/10 controles) — no habilita producción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349240"/>
            <a:ext cx="108200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gates y no percepción: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se aprueba con evidencia (build, tests, pentest, DR, UAT), no por avance de calendario. Un gate no superado detiene el avance y evita el descontrol de alcance.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MES A 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disponible al corte, desde el inicio hasta el cierre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7772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08760"/>
            <a:ext cx="3139135" cy="1417320"/>
          </a:xfrm>
          <a:prstGeom prst="roundRect">
            <a:avLst>
              <a:gd name="adj" fmla="val 4516"/>
            </a:avLst>
          </a:prstGeom>
          <a:solidFill>
            <a:srgbClr val="1B2333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627632"/>
            <a:ext cx="27733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732520" y="2194560"/>
            <a:ext cx="2773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(0/14)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32520" y="2514600"/>
            <a:ext cx="27733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derivado, sin fecha en el cronograma v36 — diseño conceptual formalizado (ADR-110), sin implementación.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49640" y="3200400"/>
            <a:ext cx="313913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Noviembre usa un criterio distinto: 4 de 10 controles de salida (pentest, DR, UAT, go-live — diapositiva 9), no tareas de SPEC.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valores son la preparación disponible al 21-ago, no una proyección de trabajo futuro.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DOMINIO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por frente funcional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50292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7162495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decisivo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 / telemetría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Soak 1h/24h y nueva topología para 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/ RBAC / auditoría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Amb.-verde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externo, runbooks, evidencia productiva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/ Odoo (TimeTelemetry)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Amb.-verde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CA-4: create/write productivo autorizado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 realtime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Regresión, SLA e integración de sitio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completa, export multigráfico, UAT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/ zonas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Anti-IDOR, contrato API, render/export en 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 / 3D / GEOCATMIN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reales, performance, aceptación operacional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FMR/FNMR, PAD, DPIA, hardware real, reenrolamiento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ThingsBoard legacy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contra entorno/credenciales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/ WhatsApp (nuevo)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SPEC formal; credenciales Meta de producción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SPEC-016 en 0/5 y prueba extremo a extremo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SPEC-014 en 0/10 como flujo integral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/ 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SPEC-015 en 0/11; promoción, restore, RTO/RPO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de campo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en 0/14; aprobar ADR-110 y reprogramar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/ Enterprise LATAM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(ADR-025) / solo F0 propuesto (ADR-035)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SALIDA A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de salida R6 — Go-Live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468880" cy="4572000"/>
          </a:xfrm>
          <a:prstGeom prst="roundRect">
            <a:avLst>
              <a:gd name="adj" fmla="val 2963"/>
            </a:avLst>
          </a:prstGeom>
          <a:solidFill>
            <a:srgbClr val="1B23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cumplidos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40% de readiness de salida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3977640"/>
            <a:ext cx="15544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6052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técnicos aprobados no sustituyen pentest, DR, UAT, despliegue/rollback ni marcha blanca.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463040"/>
          <a:ext cx="8442655" cy="4709160"/>
        </p:xfrm>
        <a:graphic>
          <a:graphicData uri="http://schemas.openxmlformats.org/drawingml/2006/table">
            <a:tbl>
              <a:tblPr/>
              <a:tblGrid>
                <a:gridCol w="457200"/>
                <a:gridCol w="5242255"/>
                <a:gridCol w="2743200"/>
              </a:tblGrid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al corte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sin errores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47/47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productivo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(advertencias no bloqueantes)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+ CTest backend (árbol actual)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build 100%, CTest 1/1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6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Playwright de flujos críticos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ejecutado en esta auditoría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externo, P0/P1 cerrados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Simulacro DR — RTO&lt;15 min / RPO≈0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firmado por operadores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Despliegue/rollback automatizado 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 blanca 48–72 h y acta go-live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INFORME DEL 18-AGO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ADR nuevos en 3 días (112 a 128)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2E3A55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7556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7512" y="243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2788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/ WhatsApp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383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conversacional (menú, reclamos, IA), multilínea por área, administración de números, chat web persistente, RRHH y scoring de CVs.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5074920"/>
            <a:ext cx="2286000" cy="320040"/>
          </a:xfrm>
          <a:prstGeom prst="roundRect">
            <a:avLst>
              <a:gd name="adj" fmla="val 51429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NUEVO — SIN SPEC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ADR-112 a 118, 122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00984" y="160020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2E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7556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65576" y="243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2788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Biometría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65576" y="3383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ONNX solo-veto, pool de conexiones a ai_engine, thread-safety de eye_analyzer, liveness activo reactivado.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5576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ADR-119, 124–126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99048" y="160020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2E3A5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7556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243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788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Mapas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3383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TLS en mining-gateway, coordenadas geográficas de empresa, integración nativa GEOCATMIN/INGEMMET.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ADR-120, 121, 123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897112" y="1600200"/>
            <a:ext cx="2615184" cy="4480560"/>
          </a:xfrm>
          <a:prstGeom prst="roundRect">
            <a:avLst>
              <a:gd name="adj" fmla="val 2797"/>
            </a:avLst>
          </a:prstGeom>
          <a:solidFill>
            <a:srgbClr val="2E3A55"/>
          </a:solidFill>
          <a:ln/>
        </p:spPr>
      </p:sp>
      <p:sp>
        <p:nvSpPr>
          <p:cNvPr id="25" name="Text 23"/>
          <p:cNvSpPr/>
          <p:nvPr/>
        </p:nvSpPr>
        <p:spPr>
          <a:xfrm>
            <a:off x="9061704" y="175564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061704" y="243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61704" y="2788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Reportabilidad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61704" y="3383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del caché offline por usuario/tenant, plantillas nativas de presentación 16:9.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61704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ADR-127, 128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DECISIÓN DE GERENCIA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nuevo aún no incorporado al cronograma v36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556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/ WhatsApp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4998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ADR implementados y verificados por build/tests. Sin número de SPEC, sin sprint asignado. Entrega real a un teléfono depende de credenciales de producción de Meta.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3008" y="155448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7556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7556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61608" y="2176272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GEOCATMIN (SPEC-024)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1608" y="2542032"/>
            <a:ext cx="4998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ADR-121/123 implementados — integración nativa con INGEMMET. Tiene spec.md pero no tasks.md: queda fuera del conteo de 196 tareas hasta que se descomponga.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1788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788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4599432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(SPEC-022)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965192"/>
            <a:ext cx="4998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0/14 tareas. Ya reconocido como proyecto derivado desde el informe del 18-ago. Sigue sin product owner, arquitecto ni presupuesto asignado.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3977640"/>
            <a:ext cx="5455768" cy="2148840"/>
          </a:xfrm>
          <a:prstGeom prst="roundRect">
            <a:avLst>
              <a:gd name="adj" fmla="val 340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1788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1788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61608" y="4599432"/>
            <a:ext cx="499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LATAM (ADR-035)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1608" y="4965192"/>
            <a:ext cx="4998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fase F0 está vigente. F1–F4 (topología edge/hub multipaís) siguen sin código ni decisión comercial.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gerenciales, priorizados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5855" cy="5166360"/>
        </p:xfrm>
        <a:graphic>
          <a:graphicData uri="http://schemas.openxmlformats.org/drawingml/2006/table">
            <a:tbl>
              <a:tblPr/>
              <a:tblGrid>
                <a:gridCol w="777240"/>
                <a:gridCol w="3931920"/>
                <a:gridCol w="2423160"/>
                <a:gridCol w="4053535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/ decisión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archivos sin commitear (234 el 18-ago); CHANGELOG sin tocar desde el 27-jul pese a 61 ADR nuevos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trabajo y trazabilidad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ramas/commits por SPEC y respaldar ya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Offline, alertas y DR casi sin tareas cerradas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R4/R5 no alcanzables por inercia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dedicado y plan semanal con evidencia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pentest externo, UAT ni DR agendados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habilita go-live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Agendar proveedores/usuarios y ventanas ahora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Soporte/WhatsApp sin SPEC ni presupuesto formal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no contractual sin decisión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SPEC-025 o posponer explícitamente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real depende de acceso del cliente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bloquear R4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Responsable, credenciales, ventana y dataset de aceptación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Odoo no probada productivamente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solo parcialmente aceptada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 controlada con registro de rollback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Biometría sin calibración/cumplimiento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seguridad/privacidad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representativo, laboratorio y DPIA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de campo fuera del cronograma actual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Sobrecarga R6 y expectativas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rebaseline, personal y piloto separados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&gt;500 kB y warnings CSS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en enlaces lentos / PDA de campo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splitting, limpiar @apply, presupuesto de bundle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A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recuperación, mes a 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90724" cy="3749040"/>
          </a:xfrm>
          <a:prstGeom prst="roundRect">
            <a:avLst>
              <a:gd name="adj" fmla="val 2824"/>
            </a:avLst>
          </a:prstGeom>
          <a:solidFill>
            <a:srgbClr val="E8A33D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37360"/>
            <a:ext cx="2261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18–31 AGO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2084832"/>
            <a:ext cx="22615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R3 con evidencia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816352"/>
            <a:ext cx="22615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A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pendientes de SPEC-021, regresión de ReportStudio, CI con build+CTest backend y Playwright crítico, acta de gate R3. Decidir alcance de Soporte/WhatsApp.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67964" y="1554480"/>
            <a:ext cx="2590724" cy="3749040"/>
          </a:xfrm>
          <a:prstGeom prst="roundRect">
            <a:avLst>
              <a:gd name="adj" fmla="val 282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2556" y="1737360"/>
            <a:ext cx="2261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32556" y="2084832"/>
            <a:ext cx="22615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 integrado — 3 equipos en paralelo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2556" y="2816352"/>
            <a:ext cx="22615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A: offline (SPEC-014) y pruebas WAN/replay. Equipo B: alertas (SPEC-016) e integración dashboard/informe. Equipo C: AWS/ThingsBoard real + Odoo CA-4 autorizada.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2590724" cy="3749040"/>
          </a:xfrm>
          <a:prstGeom prst="roundRect">
            <a:avLst>
              <a:gd name="adj" fmla="val 282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7600" y="1737360"/>
            <a:ext cx="2261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7600" y="2084832"/>
            <a:ext cx="22615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 sin negociación de evidencia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97600" y="2816352"/>
            <a:ext cx="22615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 failover/restore cronometrado, pentest externo con cierre de P0/P1, soak de telemetría, calibración biométrica o exclusión formal de alcance.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098051" y="1554480"/>
            <a:ext cx="2590724" cy="3749040"/>
          </a:xfrm>
          <a:prstGeom prst="roundRect">
            <a:avLst>
              <a:gd name="adj" fmla="val 2824"/>
            </a:avLst>
          </a:prstGeom>
          <a:solidFill>
            <a:srgbClr val="E7ECF7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643" y="1737360"/>
            <a:ext cx="22615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7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62643" y="2084832"/>
            <a:ext cx="22615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 — Go-Live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643" y="2816352"/>
            <a:ext cx="22615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con operadores, marcha blanca 48–72 h, rollback probado. Go-live solo si los 10 controles de la diapositiva 8 están completos.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85855" cy="594360"/>
          </a:xfrm>
          <a:prstGeom prst="roundRect">
            <a:avLst>
              <a:gd name="adj" fmla="val 9231"/>
            </a:avLst>
          </a:prstGeom>
          <a:solidFill>
            <a:srgbClr val="1B233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532120"/>
            <a:ext cx="108200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derivados, sin fecha en v36: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(aprobar ADR-110 + SPEC-022, equipo y piloto) y Soporte/WhatsApp (formalizar SPEC-025, sprint destino si se aprueba).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A GERENCIA Y 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pendientes para no bloquear el cronograma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o diferir explícitamente la incorporación del módulo Soporte/WhatsApp al alcance contractual (SPEC-025) y su sprint destino.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5146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rebaseline de Operaciones de Campo como proyecto derivado: product owner, equipo y presupuesto de piloto.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pentest externo, simulacro DR y UAT con fechas y proveedores concretos — sin esto R5/R6 no pueden cerrar.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commits y CHANGELOG al día: 365 archivos sin trazar es un riesgo de pérdida de trabajo, no solo de higiene.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166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51206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postura comercial sobre Enterprise LATAM (ADR-035 F1–F4) y sobre la validación externa de RUC/SUNAT.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2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-365760"/>
            <a:ext cx="2194560" cy="21945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gate R3 — 31 de agosto de 2026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actualizadas cada viernes con scripts/project-status-metrics.ps1. Próximo corte: viernes 28-ago-2026, previo al gate.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26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verdad: 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docs/decisions/README.md (ADR-000–128)  ·  specs/REGISTRY.md  ·  specs/BACKLOG.md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scripts/project-status-metrics.ps1  ·  docs_/01_Planificacion/Cronograma_Maestro_AURIXA_v36.md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Plataforma Minera  |  Corte 21-ago-2026  |  Confidencial — uso interno Gerencia / TI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48695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TimeTelemetry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Cronograma Actualizado del Proyecto — Plataforma Minera Beemetry</dc:title>
  <dc:subject>PptxGenJS Presentation</dc:subject>
  <dc:creator>Beemetry / TimeTelemetry</dc:creator>
  <cp:lastModifiedBy>Beemetry / TimeTelemetry</cp:lastModifiedBy>
  <cp:revision>1</cp:revision>
  <dcterms:created xsi:type="dcterms:W3CDTF">2026-08-21T17:10:45Z</dcterms:created>
  <dcterms:modified xsi:type="dcterms:W3CDTF">2026-08-21T17:10:45Z</dcterms:modified>
</cp:coreProperties>
</file>