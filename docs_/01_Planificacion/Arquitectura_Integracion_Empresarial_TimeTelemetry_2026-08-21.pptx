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863840" y="-1097280"/>
            <a:ext cx="7315200" cy="7315200"/>
          </a:xfrm>
          <a:prstGeom prst="rect">
            <a:avLst/>
          </a:prstGeom>
          <a:solidFill>
            <a:srgbClr val="2E3A55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692640" y="3108960"/>
            <a:ext cx="6400800" cy="6400800"/>
          </a:xfrm>
          <a:prstGeom prst="rect">
            <a:avLst/>
          </a:prstGeom>
          <a:solidFill>
            <a:srgbClr val="3F4E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INTEGRACIÓN EMPRESARIAL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992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de plataforma compartida para la transformación digital minera regional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TimeTelemetry  ·  Beemetry — Plataforma Minera y canales asociados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33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21 de agosto de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4256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ADR-002 · ADR-029/030/031/036 · ADR-082 · ADR-103 · ADR-110 · ADR-112–129 · ADR-123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64922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749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ARQUITECTURA OBJETIVO — REQUIERE APROBACIÓN DE GERENCIA Y TI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formalizar esto ahora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de construir cada sistema nuevo como un silo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685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ya no es la única superficie del cliente: hoy conviven un canal conversacional (WhatsApp / chat web), una integración real con el ERP TimeTelemetry (Odoo) y una propuesta de app de campo minero (MineriaCampo).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sistema que resuelve login, permisos o auditoría por su cuenta duplica riesgo de seguridad y rompe la trazabilidad única que hoy exige auditoría del 100% de acciones sensibles (ADR-030).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de Beemetry ya fue diseñado como núcleo de plataforma compartido y agnóstico de componente — no el backend de una sola app (ADR-031, jun-2026).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extiende ese mismo principio de ADR-031 a escala empresarial: entre sistemas y canales distintos, no solo entre módulos internos de Beemetry.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4069080" cy="3246120"/>
          </a:xfrm>
          <a:prstGeom prst="roundRect">
            <a:avLst>
              <a:gd name="adj" fmla="val 2817"/>
            </a:avLst>
          </a:prstGeom>
          <a:solidFill>
            <a:srgbClr val="1B2333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0" y="1965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09560" y="2286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login. Un modelo de permisos. Una auditoría.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909560" y="32461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Reutilizados por cada canal de atención y cada integración externa — nunca reimplementados sistema por sistema.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ARQUITECTÓNICO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pilares del backbone compartido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operativos dentro de Beemetry — este documento los eleva a norma corporativa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DEFF3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57400"/>
            <a:ext cx="548640" cy="548640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único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3429000"/>
            <a:ext cx="30998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tráfico autenticado pasa por un gateway central. Ningún sidecar, servicio interno ni canal habla directo con otro sistema.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495604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 · ADR-031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DEF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553712" y="2057400"/>
            <a:ext cx="548640" cy="548640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53712" y="274320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permisos, una sola vez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3429000"/>
            <a:ext cx="30998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única (cookie HttpOnly + JWT) y RBAC multitenant de 7 roles + 5 departamentos, consumidos por cualquier canal sin reimplementar login.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495604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ADR-029 · ADR-036 · ADR-082 · ADR-115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7830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DEFF3"/>
          </a:solidFill>
          <a:ln/>
        </p:spPr>
      </p:sp>
      <p:sp>
        <p:nvSpPr>
          <p:cNvPr id="18" name="Shape 16"/>
          <p:cNvSpPr/>
          <p:nvPr/>
        </p:nvSpPr>
        <p:spPr>
          <a:xfrm>
            <a:off x="8394192" y="2057400"/>
            <a:ext cx="548640" cy="548640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19" name="Text 17"/>
          <p:cNvSpPr/>
          <p:nvPr/>
        </p:nvSpPr>
        <p:spPr>
          <a:xfrm>
            <a:off x="839419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94192" y="274320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trazabilidad centralizada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94192" y="3429000"/>
            <a:ext cx="30998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acción sensible queda registrada en el servidor, con hash encadenado append-only para las categorías críticas — nunca en el cliente.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94192" y="495604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ADR-030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y canales — estado real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criterio de honestidad que el cronograma: se documenta lo que existe, no lo conceptual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2606040"/>
                <a:gridCol w="1600200"/>
                <a:gridCol w="382219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Sistema / canal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Integración con el backbone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Plataforma Minera (Beemetry)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Núcleo propio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Implementado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Es el backbone (ADR-002 / ADR-031)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Canal WhatsApp / chat web (soporte, comercial, reclamos, RRHH)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Canal, dentro de Beemetry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8860B"/>
                          </a:solidFill>
                        </a:rPr>
                        <a:t>Parcial / en curso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Nativo — mismo backend (ADR-112–129)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ERP / RP TimeTelemetry (Odoo)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Sistema externo del cliente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8860B"/>
                          </a:solidFill>
                        </a:rPr>
                        <a:t>Parcial / en curso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Réplica + outbox por gateway (ADR-103)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GEOCATMIN / INGEMMET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Servicio externo (Estado peruano)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Implementado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Consumo directo desde el gateway (ADR-123)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Almacenamiento de objetos (MinIO)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Infraestructura propia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Implementado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Servicio de plataforma (ADR-009)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App de Campo Minero (MineriaCampo)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Propuesta, sin construir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</a:rPr>
                        <a:t>Conceptual (0%)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Diseño exige gateway obligatorio (ADR-110, propuesto)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Web corporativa institucional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No existe hoy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B616E"/>
                          </a:solidFill>
                        </a:rPr>
                        <a:t>No existe / a construir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Por definir — debe nacer sobre el mismo SSO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App móvil dedicada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No existe (solo web responsive)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B616E"/>
                          </a:solidFill>
                        </a:rPr>
                        <a:t>No existe / a construir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Por definir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RRHH como sistema propio (HRIS)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Hoy es un departamento / canal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8860B"/>
                          </a:solidFill>
                        </a:rPr>
                        <a:t>Parcial / en curso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Reusa RBAC por departamento (ADR-115)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Gestión de reclamos como sistema propio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Hoy es una categoría de ticket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8860B"/>
                          </a:solidFill>
                        </a:rPr>
                        <a:t>Parcial / en curso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Reusa support_ticket + auditoría (ADR-112)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OBJETIVO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Canales de atención sobre un backbone compartido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252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DE ATENCIÓN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E5F2E6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36192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Minera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(Beemetry)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2139696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Implementado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98192" y="1481328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EDEFF3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3912" y="1536192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Corporativa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43912" y="2139696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 existe / a construir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30624" y="1481328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FBE6E4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6344" y="1536192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Campo Minero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76344" y="2139696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Conceptual (0%)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63056" y="1481328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EDEFF3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1536192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08776" y="2139696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 existe / a construir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95488" y="1481328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FBF1DA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41208" y="1536192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WhatsApp /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Web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41208" y="2139696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Parcial / en curso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027920" y="1481328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FBF1DA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73640" y="1536192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73640" y="2139696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Parcial / en curso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263396" y="2377440"/>
            <a:ext cx="0" cy="384048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95828" y="2377440"/>
            <a:ext cx="0" cy="384048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8260" y="2377440"/>
            <a:ext cx="0" cy="384048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60692" y="2377440"/>
            <a:ext cx="0" cy="384048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93124" y="2377440"/>
            <a:ext cx="0" cy="384048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25556" y="2377440"/>
            <a:ext cx="0" cy="384048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761488"/>
            <a:ext cx="11457432" cy="1481328"/>
          </a:xfrm>
          <a:prstGeom prst="roundRect">
            <a:avLst>
              <a:gd name="adj" fmla="val 5556"/>
            </a:avLst>
          </a:prstGeom>
          <a:solidFill>
            <a:srgbClr val="1B2333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85292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DE PLATAFORMA COMPARTIDA — Gateway único (ADR-002 / ADR-031)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182112"/>
            <a:ext cx="1795272" cy="932688"/>
          </a:xfrm>
          <a:prstGeom prst="roundRect">
            <a:avLst>
              <a:gd name="adj" fmla="val 4902"/>
            </a:avLst>
          </a:prstGeom>
          <a:solidFill>
            <a:srgbClr val="2E3A55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182112"/>
            <a:ext cx="1703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SSO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(ADR-029/082)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98192" y="3182112"/>
            <a:ext cx="1795272" cy="932688"/>
          </a:xfrm>
          <a:prstGeom prst="roundRect">
            <a:avLst>
              <a:gd name="adj" fmla="val 4902"/>
            </a:avLst>
          </a:prstGeom>
          <a:solidFill>
            <a:srgbClr val="2E3A55"/>
          </a:solidFill>
          <a:ln/>
        </p:spPr>
      </p:sp>
      <p:sp>
        <p:nvSpPr>
          <p:cNvPr id="34" name="Text 32"/>
          <p:cNvSpPr/>
          <p:nvPr/>
        </p:nvSpPr>
        <p:spPr>
          <a:xfrm>
            <a:off x="2343912" y="3182112"/>
            <a:ext cx="1703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Deptos.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(ADR-036/115)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30624" y="3182112"/>
            <a:ext cx="1795272" cy="932688"/>
          </a:xfrm>
          <a:prstGeom prst="roundRect">
            <a:avLst>
              <a:gd name="adj" fmla="val 4902"/>
            </a:avLst>
          </a:prstGeom>
          <a:solidFill>
            <a:srgbClr val="2E3A55"/>
          </a:solidFill>
          <a:ln/>
        </p:spPr>
      </p:sp>
      <p:sp>
        <p:nvSpPr>
          <p:cNvPr id="36" name="Text 34"/>
          <p:cNvSpPr/>
          <p:nvPr/>
        </p:nvSpPr>
        <p:spPr>
          <a:xfrm>
            <a:off x="4276344" y="3182112"/>
            <a:ext cx="1703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hash-chain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(ADR-030)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63056" y="3182112"/>
            <a:ext cx="1795272" cy="932688"/>
          </a:xfrm>
          <a:prstGeom prst="roundRect">
            <a:avLst>
              <a:gd name="adj" fmla="val 4902"/>
            </a:avLst>
          </a:prstGeom>
          <a:solidFill>
            <a:srgbClr val="2E3A55"/>
          </a:solidFill>
          <a:ln/>
        </p:spPr>
      </p:sp>
      <p:sp>
        <p:nvSpPr>
          <p:cNvPr id="38" name="Text 36"/>
          <p:cNvSpPr/>
          <p:nvPr/>
        </p:nvSpPr>
        <p:spPr>
          <a:xfrm>
            <a:off x="6208776" y="3182112"/>
            <a:ext cx="1703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C++ único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(ADR-002)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95488" y="3182112"/>
            <a:ext cx="1795272" cy="932688"/>
          </a:xfrm>
          <a:prstGeom prst="roundRect">
            <a:avLst>
              <a:gd name="adj" fmla="val 4902"/>
            </a:avLst>
          </a:prstGeom>
          <a:solidFill>
            <a:srgbClr val="2E3A55"/>
          </a:solidFill>
          <a:ln/>
        </p:spPr>
      </p:sp>
      <p:sp>
        <p:nvSpPr>
          <p:cNvPr id="40" name="Text 38"/>
          <p:cNvSpPr/>
          <p:nvPr/>
        </p:nvSpPr>
        <p:spPr>
          <a:xfrm>
            <a:off x="8141208" y="3182112"/>
            <a:ext cx="1703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externa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gobernada (ADR-103)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027920" y="3182112"/>
            <a:ext cx="1795272" cy="932688"/>
          </a:xfrm>
          <a:prstGeom prst="roundRect">
            <a:avLst>
              <a:gd name="adj" fmla="val 4902"/>
            </a:avLst>
          </a:prstGeom>
          <a:solidFill>
            <a:srgbClr val="2E3A55"/>
          </a:solidFill>
          <a:ln/>
        </p:spPr>
      </p:sp>
      <p:sp>
        <p:nvSpPr>
          <p:cNvPr id="42" name="Text 40"/>
          <p:cNvSpPr/>
          <p:nvPr/>
        </p:nvSpPr>
        <p:spPr>
          <a:xfrm>
            <a:off x="10073640" y="3182112"/>
            <a:ext cx="1703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+ IA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(ADR-112–118)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263396" y="4242816"/>
            <a:ext cx="0" cy="256032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95828" y="4242816"/>
            <a:ext cx="0" cy="256032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8260" y="4242816"/>
            <a:ext cx="0" cy="256032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60692" y="4242816"/>
            <a:ext cx="0" cy="256032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93124" y="4242816"/>
            <a:ext cx="0" cy="256032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25556" y="4242816"/>
            <a:ext cx="0" cy="256032"/>
          </a:xfrm>
          <a:prstGeom prst="line">
            <a:avLst/>
          </a:prstGeom>
          <a:noFill/>
          <a:ln w="15875">
            <a:solidFill>
              <a:srgbClr val="C7CC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5354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REGISTRO / FUENTES DE VERDAD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" y="4809744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FBF1DA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864608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RP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(Odoo)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" y="5468112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Parcial / en curso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298192" y="4809744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E5F2E6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43912" y="4864608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Telemetría / Sensores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(TimescaleDB)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343912" y="5468112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Implementado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230624" y="4809744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FBF1DA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76344" y="4864608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(depto. / futuro HRIS)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276344" y="5468112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Parcial / en curso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63056" y="4809744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FBF1DA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08776" y="4864608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(ticket / futuro sistema)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08776" y="5468112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Parcial / en curso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095488" y="4809744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E5F2E6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41208" y="4864608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GEOCATMIN /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INGEMMET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141208" y="5468112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Implementado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0027920" y="4809744"/>
            <a:ext cx="1795272" cy="896112"/>
          </a:xfrm>
          <a:prstGeom prst="roundRect">
            <a:avLst>
              <a:gd name="adj" fmla="val 6122"/>
            </a:avLst>
          </a:prstGeom>
          <a:solidFill>
            <a:srgbClr val="E5F2E6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73640" y="4864608"/>
            <a:ext cx="1703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(MinIO)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073640" y="5468112"/>
            <a:ext cx="170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Implementado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65760" y="59070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48640" y="5907024"/>
            <a:ext cx="19001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y operativo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677363" y="59070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860243" y="5907024"/>
            <a:ext cx="1505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/ en curso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593946" y="59070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776826" y="5907024"/>
            <a:ext cx="1834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/ a construir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839712" y="59070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022592" y="590702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Conceptual, sin implementación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BACKBONE EN DETALLE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servicios de plataforma, ya operativos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Reutilizados hoy por Beemetry, el canal de soporte y la integración RP/Odoo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587496" cy="1938528"/>
          </a:xfrm>
          <a:prstGeom prst="roundRect">
            <a:avLst>
              <a:gd name="adj" fmla="val 3302"/>
            </a:avLst>
          </a:prstGeom>
          <a:solidFill>
            <a:srgbClr val="EDEFF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293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2350008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788920"/>
            <a:ext cx="318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única en cookie HttpOnly + JWT, CSRF double-submit. Ningún canal reconstruye su propio login.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3429000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ADR-029 · ADR-082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00728" y="1783080"/>
            <a:ext cx="3587496" cy="1938528"/>
          </a:xfrm>
          <a:prstGeom prst="roundRect">
            <a:avLst>
              <a:gd name="adj" fmla="val 3302"/>
            </a:avLst>
          </a:prstGeom>
          <a:solidFill>
            <a:srgbClr val="EDEFF3"/>
          </a:solidFill>
          <a:ln/>
        </p:spPr>
      </p:sp>
      <p:sp>
        <p:nvSpPr>
          <p:cNvPr id="11" name="Text 9"/>
          <p:cNvSpPr/>
          <p:nvPr/>
        </p:nvSpPr>
        <p:spPr>
          <a:xfrm>
            <a:off x="4501896" y="19293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01896" y="2350008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multitenant + departamentos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01896" y="2788920"/>
            <a:ext cx="318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roles unificados y 5 departamentos operativos, con aislamiento por tenant y regla de 403 explícito.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01896" y="3429000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ADR-036 · ADR-042 · ADR-115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44256" y="1783080"/>
            <a:ext cx="3587496" cy="1938528"/>
          </a:xfrm>
          <a:prstGeom prst="roundRect">
            <a:avLst>
              <a:gd name="adj" fmla="val 3302"/>
            </a:avLst>
          </a:prstGeom>
          <a:solidFill>
            <a:srgbClr val="EDEFF3"/>
          </a:solidFill>
          <a:ln/>
        </p:spPr>
      </p:sp>
      <p:sp>
        <p:nvSpPr>
          <p:cNvPr id="16" name="Text 14"/>
          <p:cNvSpPr/>
          <p:nvPr/>
        </p:nvSpPr>
        <p:spPr>
          <a:xfrm>
            <a:off x="8345424" y="19293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45424" y="2350008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centralizada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45424" y="2788920"/>
            <a:ext cx="318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acciones sensibles auditadas en servidor; hash encadenado append-only en las categorías críticas.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45424" y="3429000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ADR-030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950208"/>
            <a:ext cx="3587496" cy="1938528"/>
          </a:xfrm>
          <a:prstGeom prst="roundRect">
            <a:avLst>
              <a:gd name="adj" fmla="val 3302"/>
            </a:avLst>
          </a:prstGeom>
          <a:solidFill>
            <a:srgbClr val="EDEFF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0965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" y="4517136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único (C++)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" y="4956048"/>
            <a:ext cx="318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punto de entrada autenticado. Los sidecars (IA, formula, mapas) nunca se exponen a la red pública.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5596128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00728" y="3950208"/>
            <a:ext cx="3587496" cy="1938528"/>
          </a:xfrm>
          <a:prstGeom prst="roundRect">
            <a:avLst>
              <a:gd name="adj" fmla="val 3302"/>
            </a:avLst>
          </a:prstGeom>
          <a:solidFill>
            <a:srgbClr val="EDEFF3"/>
          </a:solidFill>
          <a:ln/>
        </p:spPr>
      </p:sp>
      <p:sp>
        <p:nvSpPr>
          <p:cNvPr id="26" name="Text 24"/>
          <p:cNvSpPr/>
          <p:nvPr/>
        </p:nvSpPr>
        <p:spPr>
          <a:xfrm>
            <a:off x="4501896" y="40965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01896" y="4517136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externa gobernada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01896" y="4956048"/>
            <a:ext cx="318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local de solo lectura + outbox de escritura idempotente con backoff — nunca SQL directo a un tercero.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01896" y="5596128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ADR-103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44256" y="3950208"/>
            <a:ext cx="3587496" cy="1938528"/>
          </a:xfrm>
          <a:prstGeom prst="roundRect">
            <a:avLst>
              <a:gd name="adj" fmla="val 3302"/>
            </a:avLst>
          </a:prstGeom>
          <a:solidFill>
            <a:srgbClr val="EDEFF3"/>
          </a:solidFill>
          <a:ln/>
        </p:spPr>
      </p:sp>
      <p:sp>
        <p:nvSpPr>
          <p:cNvPr id="31" name="Text 29"/>
          <p:cNvSpPr/>
          <p:nvPr/>
        </p:nvSpPr>
        <p:spPr>
          <a:xfrm>
            <a:off x="8345424" y="40965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45424" y="4517136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+ IA local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45424" y="4956048"/>
            <a:ext cx="318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Business, chat web, IA on-prem (Ollama) y biometría local — sin depender de nubes externas.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45424" y="5596128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ADR-112–118 · ADR-104/105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TÉCNICO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Patrón de integración estándar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que ya rigen la integración RP/Odoo (ADR-103) — generalizadas para todo sistema nuevo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7725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965960"/>
            <a:ext cx="502920" cy="502920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87452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directo a base de datos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61872" y="2167128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canal ni integrador toca una BD ajena — ni la propia de otro sistema, ni la de un tercero. Todo pasa por el gateway.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54496" y="1783080"/>
            <a:ext cx="547725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965960"/>
            <a:ext cx="502920" cy="502920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59168" y="187452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contra réplica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59168" y="2167128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tráfico síncrono del usuario nunca espera un round-trip al sistema origen; lee de una réplica local de baja latencia.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98648"/>
            <a:ext cx="547725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081528"/>
            <a:ext cx="502920" cy="502920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61872" y="2990088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por outbox idempotente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61872" y="3282696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escrituras hacia sistemas externos se encolan con reintentos, backoff con jitter y circuit breaker — nunca síncronas bloqueantes.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54496" y="2898648"/>
            <a:ext cx="547725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3081528"/>
            <a:ext cx="502920" cy="502920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59168" y="2990088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RBAC heredados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59168" y="3282696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canal nuevo reutiliza sesión y permisos del backbone; no reimplementa login ni valida roles por su cuenta.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14216"/>
            <a:ext cx="547725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4197096"/>
            <a:ext cx="502920" cy="502920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61872" y="4105656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sin excepción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61872" y="4398264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acción sensible genera su entrada de auditoría en el servidor — nunca queda "al aire" ni depende del cliente.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54496" y="4014216"/>
            <a:ext cx="547725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CC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4197096"/>
            <a:ext cx="502920" cy="502920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32" name="Text 30"/>
          <p:cNvSpPr/>
          <p:nvPr/>
        </p:nvSpPr>
        <p:spPr>
          <a:xfrm>
            <a:off x="6419088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59168" y="4105656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fuera del repositorio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059168" y="4398264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y tokens de terceros viven en variables de entorno u orquestador, nunca hardcodeados ni versionados.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 transversal, ya endurecido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que el backbone aplica hoy a cualquier canal que lo use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434072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Qué garantiza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Sesión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Access token en cookie HttpOnly + SameSite=Strict; CSRF double-submit en toda mutación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E1F"/>
                          </a:solidFill>
                        </a:rPr>
                        <a:t>ADR-082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Contraseñas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Argon2id versionado, migración transparente desde esquemas previos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E1F"/>
                          </a:solidFill>
                        </a:rPr>
                        <a:t>ADR-077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Aleatoriedad criptográfica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Identificadores y secretos generados con CSPRNG, nunca PRNG estándar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E1F"/>
                          </a:solidFill>
                        </a:rPr>
                        <a:t>ADR-076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Multi-origen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CORS configurado explícitamente para frontends externos autorizados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E1F"/>
                          </a:solidFill>
                        </a:rPr>
                        <a:t>ADR-081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Multitenancy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Aislamiento estricto por tenant en cada consulta; sin fuga entre unidades mineras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E1F"/>
                          </a:solidFill>
                        </a:rPr>
                        <a:t>ADR-029 · ADR-036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Auditoría forense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Hash encadenado append-only en login y cambios de permisos; rechazo de UPDATE/DELETE incluso para el rol 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E1F"/>
                          </a:solidFill>
                        </a:rPr>
                        <a:t>ADR-030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Segmentación por departamento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403 explícito y auditable cuando un agente sin permiso global intenta operar fuera de su departamento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E1F"/>
                          </a:solidFill>
                        </a:rPr>
                        <a:t>ADR-115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</a:rPr>
                        <a:t>Validación fiscal regional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A55"/>
                          </a:solidFill>
                        </a:rPr>
                        <a:t>Perú, Ecuador, Chile y Costa Rica con fallback genérico — base para expansión LATAM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E1F"/>
                          </a:solidFill>
                        </a:rPr>
                        <a:t>ADR-102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863840" y="-1097280"/>
            <a:ext cx="7315200" cy="7315200"/>
          </a:xfrm>
          <a:prstGeom prst="rect">
            <a:avLst/>
          </a:prstGeom>
          <a:solidFill>
            <a:srgbClr val="2E3A55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692640" y="3108960"/>
            <a:ext cx="6400800" cy="6400800"/>
          </a:xfrm>
          <a:prstGeom prst="rect">
            <a:avLst/>
          </a:prstGeom>
          <a:solidFill>
            <a:srgbClr val="3F4E7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PROPUESTO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Silos aislados vs. backbone compartido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2430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POR SILOS — riesgo si no se gobierna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propio por sistema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distintos entre apps, sin fuente de verdad única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fragmentada o inexistente entre canales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Integradores con acceso directo a BD de terceros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duplicadas, difíciles de rotar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gerencial fragmentada — KPIs por sistema, no por empresa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BACKBONE — validado en producción parcial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único, reutilizado por todo canal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de 7 roles + 5 departamentos, una sola fuente de verdad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acciones sensibles auditadas, con hash encadenado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externas por gateway: réplica + outbox (patrón probado con RP/Odoo)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de credenciales centralizada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tablero de trazabilidad para toda la operación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de integración empresarial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el cronograma v36 — define el orden objetivo al que ese cronograma debe alinearse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331720" cy="585216"/>
          </a:xfrm>
          <a:prstGeom prst="roundRect">
            <a:avLst>
              <a:gd name="adj" fmla="val 7813"/>
            </a:avLst>
          </a:prstGeom>
          <a:solidFill>
            <a:srgbClr val="1B233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09397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21-ago-2026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8485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operativo dentro de Beemetry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Auth, RBAC, auditoría y gateway ya sirven a la plataforma minera, al canal de soporte y a la integración RP/Odoo.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432304"/>
            <a:ext cx="1104595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" y="2496312"/>
            <a:ext cx="2331720" cy="585216"/>
          </a:xfrm>
          <a:prstGeom prst="roundRect">
            <a:avLst>
              <a:gd name="adj" fmla="val 7813"/>
            </a:avLst>
          </a:prstGeom>
          <a:solidFill>
            <a:srgbClr val="1B2333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511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8072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· sep-2026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2496312"/>
            <a:ext cx="8485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el backbone como servicio expuesto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Mismo patrón de credenciales de servicio y RBAC que ya usa el webhook de RP (ADR-103), listo para un primer integrador externo nuevo.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1104595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" y="3209544"/>
            <a:ext cx="2331720" cy="585216"/>
          </a:xfrm>
          <a:prstGeom prst="roundRect">
            <a:avLst>
              <a:gd name="adj" fmla="val 7813"/>
            </a:avLst>
          </a:prstGeom>
          <a:solidFill>
            <a:srgbClr val="1B233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644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derivado, sin fecha en v36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3209544"/>
            <a:ext cx="8485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Minero offline-first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Aprobar ADR-110 y construir la app de campo, integrada exclusivamente por el gateway — nunca acceso directo al ERP.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1104595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57200" y="3922776"/>
            <a:ext cx="2331720" cy="585216"/>
          </a:xfrm>
          <a:prstGeom prst="roundRect">
            <a:avLst>
              <a:gd name="adj" fmla="val 7813"/>
            </a:avLst>
          </a:prstGeom>
          <a:solidFill>
            <a:srgbClr val="1B2333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423367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definir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3922776"/>
            <a:ext cx="8485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corporativa institucional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Nace directamente sobre el SSO del backbone, sin sistema de login propio.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04595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" y="4636008"/>
            <a:ext cx="2331720" cy="585216"/>
          </a:xfrm>
          <a:prstGeom prst="roundRect">
            <a:avLst>
              <a:gd name="adj" fmla="val 7813"/>
            </a:avLst>
          </a:prstGeom>
          <a:solidFill>
            <a:srgbClr val="1B2333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6908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" y="49469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definir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17520" y="4636008"/>
            <a:ext cx="8485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negocio: Reclamos y RRHH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Evaluar si requieren sistemas dedicados o siguen como módulos del backbone — decisión comercial, no técnica.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5285232"/>
            <a:ext cx="1104595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57200" y="5349240"/>
            <a:ext cx="2331720" cy="585216"/>
          </a:xfrm>
          <a:prstGeom prst="roundRect">
            <a:avLst>
              <a:gd name="adj" fmla="val 7813"/>
            </a:avLst>
          </a:prstGeom>
          <a:solidFill>
            <a:srgbClr val="1B2333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4041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5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94360" y="566013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ADR-035, F1–F4 sin decisión comercial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17520" y="5349240"/>
            <a:ext cx="8485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LATAM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Topología edge/hub multipaís sobre el mismo backbone, para operar varias unidades mineras de distintos países.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de gobierno, priorizados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566160"/>
                <a:gridCol w="3200400"/>
                <a:gridCol w="373075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Prio.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Riesgo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Impacto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Acción / decisión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</a:rPr>
                        <a:t>P0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3"/>
                          </a:solidFill>
                        </a:rPr>
                        <a:t>Ningún canal nuevo tiene hoy la obligación formal de pasar por el backbone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A55"/>
                          </a:solidFill>
                        </a:rPr>
                        <a:t>Un equipo puede construir login o BD propia "por velocidad"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333"/>
                          </a:solidFill>
                        </a:rPr>
                        <a:t>Aprobar este documento como ADR corporativo (candidato ADR-130)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</a:rPr>
                        <a:t>P0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3"/>
                          </a:solidFill>
                        </a:rPr>
                        <a:t>RP/Odoo es la única integración externa probada; el patrón no está generalizado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A55"/>
                          </a:solidFill>
                        </a:rPr>
                        <a:t>El próximo integrador puede repetir errores ya resueltos en ADR-103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333"/>
                          </a:solidFill>
                        </a:rPr>
                        <a:t>Extraer el patrón a un módulo de integración genérico antes del 2º integrador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3"/>
                          </a:solidFill>
                        </a:rPr>
                        <a:t>El motor del bot aún no procesa la opción RRHH de punta a punta (ADR-115)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A55"/>
                          </a:solidFill>
                        </a:rPr>
                        <a:t>Riesgo de anunciar una capacidad que el código no cumple todavía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333"/>
                          </a:solidFill>
                        </a:rPr>
                        <a:t>Cerrar handleInboundMessage antes de anunciar RRHH externamente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3"/>
                          </a:solidFill>
                        </a:rPr>
                        <a:t>Web corporativa y app móvil no tienen owner ni presupuesto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A55"/>
                          </a:solidFill>
                        </a:rPr>
                        <a:t>Si se construyen fuera del backbone, se pierde el principio rector desde el día uno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333"/>
                          </a:solidFill>
                        </a:rPr>
                        <a:t>Exigir revisión de arquitectura antes de aprobar cualquier RFP externo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3"/>
                          </a:solidFill>
                        </a:rPr>
                        <a:t>Multiplicar canales multiplica credenciales de terceros (Meta, Odoo, INGEMMET)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A55"/>
                          </a:solidFill>
                        </a:rPr>
                        <a:t>Superficie de secretos difícil de rotar y auditar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333"/>
                          </a:solidFill>
                        </a:rPr>
                        <a:t>Inventario único de credenciales de integración y política de rotación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863840" y="-1097280"/>
            <a:ext cx="7315200" cy="7315200"/>
          </a:xfrm>
          <a:prstGeom prst="rect">
            <a:avLst/>
          </a:prstGeom>
          <a:solidFill>
            <a:srgbClr val="2E3A55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692640" y="3108960"/>
            <a:ext cx="6400800" cy="6400800"/>
          </a:xfrm>
          <a:prstGeom prst="rect">
            <a:avLst/>
          </a:prstGeom>
          <a:solidFill>
            <a:srgbClr val="3F4E7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PENDIENTES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solicita a Gerencia y TI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3385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la arquitectura objetivo no quede solo en diagrama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828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este documento como norma arquitectónica corporativa (candidato a ADR-130), vinculante para cualquier sistema o canal nuevo.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67004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un responsable de "integración de plataforma" que revise cada integración nueva contra el patrón de la diapositiva 7.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5701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51129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el orden real de la hoja de ruta: ¿Campo Minero, Web corporativa o Enterprise LATAM primero?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9826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35254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si Reclamos y RRHH se mantienen como módulos del backbone o se convierten en sistemas dedicados — con impacto directo en presupuesto y cronograma.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23951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519379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la generalización del patrón de integración de RP/Odoo (ADR-103) como framework reusable antes de sumar el segundo integrador externo.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EDEFF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0652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documento no reemplaza el cronograma de ejecución — define la arquitectura objetivo a la que el cronograma y sus próximos sprints deben alinearse.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REVISIÓN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6334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 al cierre de gate R3 — 31 de agosto de 2026, para acordar el orden de la hoja de ruta con Gerencia y TI.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VERDAD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850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docs/decisions/README.md — ADR-002, ADR-029–031, ADR-036, ADR-042, ADR-076/077/081/082, ADR-102, ADR-103, ADR-110, ADR-112–129, ADR-123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docs_/01_Planificacion/Cronograma_Maestro_AURIXA_v36.md  ·  Cronograma_Actualizado_Presentacion_Gerencia_TI_2026-08-21.pptx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Beemetry · Plataforma Minera  —  TimeTelemetry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 · Arquitectura de Integración Empresarial  |  Corte 21-ago-2026  |  Confidencial — uso interno Gerencia / TI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2026-08-21T20:08:24Z</dcterms:created>
  <dcterms:modified xsi:type="dcterms:W3CDTF">2026-08-21T20:08:24Z</dcterms:modified>
</cp:coreProperties>
</file>