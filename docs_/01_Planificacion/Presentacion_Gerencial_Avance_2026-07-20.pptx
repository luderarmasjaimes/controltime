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avance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  <c:pt idx="4">
                    <c:v>R5</c:v>
                  </c:pt>
                  <c:pt idx="5">
                    <c:v>R6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75</c:v>
                </c:pt>
                <c:pt idx="2">
                  <c:v>87</c:v>
                </c:pt>
                <c:pt idx="3">
                  <c:v>65</c:v>
                </c:pt>
                <c:pt idx="4">
                  <c:v>25</c:v>
                </c:pt>
                <c:pt idx="5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ADR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bubble3D val="0"/>
            <c:spPr>
              <a:solidFill>
                <a:srgbClr val="334155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64748B"/>
              </a:solidFill>
              <a:effectLst/>
            </c:spPr>
          </c:dPt>
          <c:dPt>
            <c:idx val="4"/>
            <c:bubble3D val="0"/>
            <c:spPr>
              <a:solidFill>
                <a:srgbClr val="B45309"/>
              </a:solidFill>
              <a:effectLst/>
            </c:spPr>
          </c:dPt>
          <c:dPt>
            <c:idx val="5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R4</c:v>
                </c:pt>
                <c:pt idx="4">
                  <c:v>R5</c:v>
                </c:pt>
                <c:pt idx="5">
                  <c:v>Roadmap futuro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7</c:v>
                </c:pt>
                <c:pt idx="1">
                  <c:v>15</c:v>
                </c:pt>
                <c:pt idx="2">
                  <c:v>24</c:v>
                </c:pt>
                <c:pt idx="3">
                  <c:v>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548640"/>
            <a:ext cx="2377440" cy="2377440"/>
          </a:xfrm>
          <a:prstGeom prst="ellipse">
            <a:avLst/>
          </a:prstGeom>
          <a:noFill/>
          <a:ln w="9525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331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 /  AURIXA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 Gerencial de Avance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Integral de Telemetría, Trazabilidad y Automatización Minera con IA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Corte: 20 de julio de 2026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S4 · Release en curso R2 (gate 31-jul-2026)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TI / PMO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ejecutivo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avanza sin retrasos que requieran intervención — el módulo de Informes está muy por delante del calendario contractual.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7568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29260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arquitectónicas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(ADR) formalizadas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8745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207568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20440" y="29260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R1 — Arquitectura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diseño (cerrado 30-jun)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07568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55080" y="29260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R2 — Motor operacional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(gate 31-jul, en curso)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560" y="18745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207568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24/24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189720" y="29260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del módulo de Informes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implementados (100%)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160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4105656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seguridad interna cerrada esta semana: XSS, IDOR y 3 CVEs altas corregidos y verificados en vivo.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873752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873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34440" y="4818888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con AWS (ThingsBoard legacy) resuelta a nivel de código — pendiente validar contra el entorno real del cliente.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586984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55869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4440" y="553212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Disaster Recovery sigue en 0% (14/14 tareas) — debe iniciar en sep-oct para no arriesgar el gate R5 (31-oct).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/ AURIXA · Presentación Gerencial de Avance · 20 de julio de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Avance por Release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avance verificado contra código y specs reales, no contra percepción del equipo.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3152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60020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0F172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gate por Release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0" y="22860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869680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30-jun ✓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0" y="2834640"/>
            <a:ext cx="324612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0" y="290779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869680" y="29077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31-jul (en curso)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0" y="3456432"/>
            <a:ext cx="324612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0" y="352958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869680" y="352958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31-ago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0" y="4078224"/>
            <a:ext cx="324612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0" y="4151376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869680" y="415137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30-sep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0" y="4700016"/>
            <a:ext cx="324612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0" y="477316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R5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869680" y="47731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31-oct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229600" y="5321808"/>
            <a:ext cx="324612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0" y="53949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R6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869680" y="5394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30-nov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/ AURIXA · Presentación Gerencial de Avance · 20 de julio de 2026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 de alcance — Etapa 1 (R1–R3)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611880" cy="5074920"/>
          </a:xfrm>
          <a:prstGeom prst="roundRect">
            <a:avLst>
              <a:gd name="adj" fmla="val 2025"/>
            </a:avLst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61188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9304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· Arquitectura y diseño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011680" y="1783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30-jun — cerrado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329184" cy="3291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688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70432" y="239572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PostgreSQL aprobado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329184" cy="3291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3832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70432" y="331012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operativo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329184" cy="3291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2976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70432" y="422452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del editor navegable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5212080"/>
            <a:ext cx="329184" cy="3291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52120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70432" y="513892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superado: 7 roles unificados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89120" y="1234440"/>
            <a:ext cx="3611880" cy="5074920"/>
          </a:xfrm>
          <a:prstGeom prst="roundRect">
            <a:avLst>
              <a:gd name="adj" fmla="val 2025"/>
            </a:avLst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4389120" y="123444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/>
        </p:spPr>
      </p:sp>
      <p:sp>
        <p:nvSpPr>
          <p:cNvPr id="23" name="Shape 21"/>
          <p:cNvSpPr/>
          <p:nvPr/>
        </p:nvSpPr>
        <p:spPr>
          <a:xfrm>
            <a:off x="4389120" y="1737360"/>
            <a:ext cx="361188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1289304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· Motor operacional + seguridad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0" y="1783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852160" y="1783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31-jul — en curso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0" y="2468880"/>
            <a:ext cx="329184" cy="3291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24688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10912" y="239572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C++ + APIs REST + sensores en vivo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0" y="3383280"/>
            <a:ext cx="329184" cy="3291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4526280" y="33832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010912" y="331012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RBAC (7 roles) + auto-guardado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0" y="4297680"/>
            <a:ext cx="329184" cy="32918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4" name="Text 32"/>
          <p:cNvSpPr/>
          <p:nvPr/>
        </p:nvSpPr>
        <p:spPr>
          <a:xfrm>
            <a:off x="4526280" y="42976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010912" y="422452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AWS: código listo, falta validar en prod. del cliente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0" y="5212080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4526280" y="52120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010912" y="513892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maestro de pruebas QA — no iniciado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229600" y="1234440"/>
            <a:ext cx="3611880" cy="5074920"/>
          </a:xfrm>
          <a:prstGeom prst="roundRect">
            <a:avLst>
              <a:gd name="adj" fmla="val 2025"/>
            </a:avLst>
          </a:prstGeom>
          <a:solidFill>
            <a:srgbClr val="F1F5F9"/>
          </a:solidFill>
          <a:ln/>
        </p:spPr>
      </p:sp>
      <p:sp>
        <p:nvSpPr>
          <p:cNvPr id="40" name="Shape 38"/>
          <p:cNvSpPr/>
          <p:nvPr/>
        </p:nvSpPr>
        <p:spPr>
          <a:xfrm>
            <a:off x="8229600" y="123444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/>
        </p:spPr>
      </p:sp>
      <p:sp>
        <p:nvSpPr>
          <p:cNvPr id="41" name="Shape 39"/>
          <p:cNvSpPr/>
          <p:nvPr/>
        </p:nvSpPr>
        <p:spPr>
          <a:xfrm>
            <a:off x="8229600" y="1737360"/>
            <a:ext cx="361188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2" name="Text 40"/>
          <p:cNvSpPr/>
          <p:nvPr/>
        </p:nvSpPr>
        <p:spPr>
          <a:xfrm>
            <a:off x="8412480" y="1289304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· Editor + GIS + IA base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412480" y="1783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9692640" y="1783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31-ago — no inicia aún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412480" y="2468880"/>
            <a:ext cx="329184" cy="3291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6" name="Text 44"/>
          <p:cNvSpPr/>
          <p:nvPr/>
        </p:nvSpPr>
        <p:spPr>
          <a:xfrm>
            <a:off x="8366760" y="24688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851392" y="239572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ReportStudio — 24/24 ADR, muy superado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412480" y="3383280"/>
            <a:ext cx="329184" cy="3291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9" name="Text 47"/>
          <p:cNvSpPr/>
          <p:nvPr/>
        </p:nvSpPr>
        <p:spPr>
          <a:xfrm>
            <a:off x="8366760" y="33832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8851392" y="331012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 (incidente CSP de tiles resuelto)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412480" y="4297680"/>
            <a:ext cx="329184" cy="3291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2" name="Text 50"/>
          <p:cNvSpPr/>
          <p:nvPr/>
        </p:nvSpPr>
        <p:spPr>
          <a:xfrm>
            <a:off x="8366760" y="42976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851392" y="422452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Dictado de voz + IA local (Ollama/LanguageTool)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412480" y="5212080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5" name="Text 53"/>
          <p:cNvSpPr/>
          <p:nvPr/>
        </p:nvSpPr>
        <p:spPr>
          <a:xfrm>
            <a:off x="8366760" y="52120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8851392" y="513892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formal de 10.000 sensores — sin registrar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/ AURIXA · Presentación Gerencial de Avance · 20 de julio de 2026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 de alcance — Etapa 1 cierre + Etapa 2 (R4–R6)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611880" cy="5074920"/>
          </a:xfrm>
          <a:prstGeom prst="roundRect">
            <a:avLst>
              <a:gd name="adj" fmla="val 2025"/>
            </a:avLst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61188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9304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· Integración e2e (fin Etapa 1)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011680" y="1783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30-sep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329184" cy="3291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688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70432" y="239572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PDF/Word + panel gerencial KPIs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329184" cy="3291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3832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70432" y="331012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accesos + modo offline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329184" cy="32918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2976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70432" y="422452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AWS: pendiente validar en prod.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5212080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52120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70432" y="513892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completa E1 + acta de cierre QA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89120" y="1234440"/>
            <a:ext cx="3611880" cy="5074920"/>
          </a:xfrm>
          <a:prstGeom prst="roundRect">
            <a:avLst>
              <a:gd name="adj" fmla="val 2025"/>
            </a:avLst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4389120" y="123444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/>
        </p:spPr>
      </p:sp>
      <p:sp>
        <p:nvSpPr>
          <p:cNvPr id="23" name="Shape 21"/>
          <p:cNvSpPr/>
          <p:nvPr/>
        </p:nvSpPr>
        <p:spPr>
          <a:xfrm>
            <a:off x="4389120" y="1737360"/>
            <a:ext cx="361188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1289304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 · Hardening + DR + optimización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0" y="1783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852160" y="1783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31-oct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0" y="2468880"/>
            <a:ext cx="329184" cy="3291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24688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10912" y="239572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pre-pentest ampliado esta semana (XSS/IDOR/CVE/HSTS)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0" y="3383280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4526280" y="33832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010912" y="331012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 OWASP externo — sin agendar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0" y="4297680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4526280" y="42976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010912" y="422452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 — 0% (14/14 tareas sin iniciar)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0" y="5212080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4526280" y="52120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010912" y="513892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offsite + pruebas de carga — sin configurar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229600" y="1234440"/>
            <a:ext cx="3611880" cy="5074920"/>
          </a:xfrm>
          <a:prstGeom prst="roundRect">
            <a:avLst>
              <a:gd name="adj" fmla="val 2025"/>
            </a:avLst>
          </a:prstGeom>
          <a:solidFill>
            <a:srgbClr val="F1F5F9"/>
          </a:solidFill>
          <a:ln/>
        </p:spPr>
      </p:sp>
      <p:sp>
        <p:nvSpPr>
          <p:cNvPr id="40" name="Shape 38"/>
          <p:cNvSpPr/>
          <p:nvPr/>
        </p:nvSpPr>
        <p:spPr>
          <a:xfrm>
            <a:off x="8229600" y="123444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/>
        </p:spPr>
      </p:sp>
      <p:sp>
        <p:nvSpPr>
          <p:cNvPr id="41" name="Shape 39"/>
          <p:cNvSpPr/>
          <p:nvPr/>
        </p:nvSpPr>
        <p:spPr>
          <a:xfrm>
            <a:off x="8229600" y="1737360"/>
            <a:ext cx="361188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2" name="Text 40"/>
          <p:cNvSpPr/>
          <p:nvPr/>
        </p:nvSpPr>
        <p:spPr>
          <a:xfrm>
            <a:off x="8412480" y="1289304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 · Go-Live producción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412480" y="1783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9692640" y="1783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30-nov — fin de proyecto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412480" y="2468880"/>
            <a:ext cx="329184" cy="32918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46" name="Text 44"/>
          <p:cNvSpPr/>
          <p:nvPr/>
        </p:nvSpPr>
        <p:spPr>
          <a:xfrm>
            <a:off x="8366760" y="24688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851392" y="239572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estrés real de 10.000 sensores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412480" y="3383280"/>
            <a:ext cx="329184" cy="32918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49" name="Text 47"/>
          <p:cNvSpPr/>
          <p:nvPr/>
        </p:nvSpPr>
        <p:spPr>
          <a:xfrm>
            <a:off x="8366760" y="33832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8851392" y="331012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con operadores mineros en campo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412480" y="4297680"/>
            <a:ext cx="329184" cy="32918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52" name="Text 50"/>
          <p:cNvSpPr/>
          <p:nvPr/>
        </p:nvSpPr>
        <p:spPr>
          <a:xfrm>
            <a:off x="8366760" y="42976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851392" y="422452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Marcha blanca controlada 48–72 h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412480" y="5212080"/>
            <a:ext cx="329184" cy="32918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55" name="Text 53"/>
          <p:cNvSpPr/>
          <p:nvPr/>
        </p:nvSpPr>
        <p:spPr>
          <a:xfrm>
            <a:off x="8366760" y="52120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8851392" y="513892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formal + transferencia a operaciones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/ AURIXA · Presentación Gerencial de Avance · 20 de julio de 2026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 mes a 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vigente: 1 jun – 30 nov 2026 · 6 meses · 13 sprints · 6 gates · 2 etapas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3840480"/>
            <a:ext cx="112471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828800" cy="1417320"/>
          </a:xfrm>
          <a:prstGeom prst="roundRect">
            <a:avLst>
              <a:gd name="adj" fmla="val 387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048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· 01–12 jun</a:t>
            </a:r>
            <a:endParaRPr 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· 15–26 jun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1792" y="2926080"/>
            <a:ext cx="16824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y diseño de datos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07008" y="3584448"/>
            <a:ext cx="512064" cy="512064"/>
          </a:xfrm>
          <a:prstGeom prst="diamond">
            <a:avLst/>
          </a:prstGeom>
          <a:solidFill>
            <a:srgbClr val="22C55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7024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R1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30-jun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4892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68880" y="15087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JULIO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468880" y="2057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68880" y="2331720"/>
            <a:ext cx="1828800" cy="1417320"/>
          </a:xfrm>
          <a:prstGeom prst="roundRect">
            <a:avLst>
              <a:gd name="adj" fmla="val 3871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24048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· 29jun–10jul</a:t>
            </a:r>
            <a:endParaRPr 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· 13–24 jul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42032" y="2926080"/>
            <a:ext cx="16824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operacional + RBAC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27248" y="3584448"/>
            <a:ext cx="512064" cy="512064"/>
          </a:xfrm>
          <a:prstGeom prst="diamond">
            <a:avLst/>
          </a:prstGeom>
          <a:solidFill>
            <a:srgbClr val="B4530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427024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R2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31-jul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68880" y="4892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 — HOY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89120" y="15087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AGOSTO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389120" y="2057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389120" y="2331720"/>
            <a:ext cx="1828800" cy="1417320"/>
          </a:xfrm>
          <a:prstGeom prst="roundRect">
            <a:avLst>
              <a:gd name="adj" fmla="val 387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24048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· 27jul–7ago</a:t>
            </a:r>
            <a:endParaRPr 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· 10–21 ago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462272" y="2926080"/>
            <a:ext cx="16824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+ GIS + sensores + IA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47488" y="3584448"/>
            <a:ext cx="512064" cy="512064"/>
          </a:xfrm>
          <a:prstGeom prst="diamond">
            <a:avLst/>
          </a:prstGeom>
          <a:solidFill>
            <a:srgbClr val="94A3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0" y="427024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R3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31-ago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89120" y="4892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09360" y="15087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F172A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309360" y="2057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309360" y="2331720"/>
            <a:ext cx="1828800" cy="1417320"/>
          </a:xfrm>
          <a:prstGeom prst="roundRect">
            <a:avLst>
              <a:gd name="adj" fmla="val 387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24048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· 24ago–4sep</a:t>
            </a:r>
            <a:endParaRPr 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· 7–18 sep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82512" y="2926080"/>
            <a:ext cx="16824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+ integración e2e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67728" y="3584448"/>
            <a:ext cx="512064" cy="512064"/>
          </a:xfrm>
          <a:prstGeom prst="diamond">
            <a:avLst/>
          </a:prstGeom>
          <a:solidFill>
            <a:srgbClr val="94A3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427024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R4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E1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9360" y="4892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229600" y="15087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F172A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OCTUBRE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229600" y="2057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229600" y="2331720"/>
            <a:ext cx="1828800" cy="1417320"/>
          </a:xfrm>
          <a:prstGeom prst="roundRect">
            <a:avLst>
              <a:gd name="adj" fmla="val 387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21040" y="2404872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 · 21sep–2oct</a:t>
            </a:r>
            <a:endParaRPr 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 · 5–16 oct</a:t>
            </a:r>
            <a:endParaRPr 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 · 19–30 oct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302752" y="3081528"/>
            <a:ext cx="16824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+ DR + optimización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887968" y="3584448"/>
            <a:ext cx="512064" cy="512064"/>
          </a:xfrm>
          <a:prstGeom prst="diamond">
            <a:avLst/>
          </a:prstGeom>
          <a:solidFill>
            <a:srgbClr val="94A3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38160" y="427024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R5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31-oct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29600" y="4892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149840" y="15087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F172A"/>
          </a:solidFill>
          <a:ln/>
        </p:spPr>
      </p:sp>
      <p:sp>
        <p:nvSpPr>
          <p:cNvPr id="51" name="Text 49"/>
          <p:cNvSpPr/>
          <p:nvPr/>
        </p:nvSpPr>
        <p:spPr>
          <a:xfrm>
            <a:off x="1014984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NOV.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0149840" y="2057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149840" y="2331720"/>
            <a:ext cx="1828800" cy="1417320"/>
          </a:xfrm>
          <a:prstGeom prst="roundRect">
            <a:avLst>
              <a:gd name="adj" fmla="val 387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241280" y="24048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 · 2–13 nov</a:t>
            </a:r>
            <a:endParaRPr lang="en-US" sz="9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 · 16–27 nov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0222992" y="2926080"/>
            <a:ext cx="16824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Estrés 10k + UAT + Go-Live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0808208" y="3584448"/>
            <a:ext cx="512064" cy="512064"/>
          </a:xfrm>
          <a:prstGeom prst="diamond">
            <a:avLst/>
          </a:prstGeom>
          <a:solidFill>
            <a:srgbClr val="0F17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58400" y="427024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R6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30-nov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PROY.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149840" y="4892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48640" y="5394960"/>
            <a:ext cx="11430000" cy="777240"/>
          </a:xfrm>
          <a:prstGeom prst="roundRect">
            <a:avLst>
              <a:gd name="adj" fmla="val 7059"/>
            </a:avLst>
          </a:prstGeom>
          <a:solidFill>
            <a:srgbClr val="0F172A"/>
          </a:solidFill>
          <a:ln/>
        </p:spPr>
      </p:sp>
      <p:sp>
        <p:nvSpPr>
          <p:cNvPr id="60" name="Text 58"/>
          <p:cNvSpPr/>
          <p:nvPr/>
        </p:nvSpPr>
        <p:spPr>
          <a:xfrm>
            <a:off x="777240" y="53949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(20-jul) estamos en Sprint S4, dentro del Release R2 — a 11 días del gate del 31-jul. </a:t>
            </a:r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gate cerrado hasta hoy (R1) se ha retrasado; el mayor riesgo de calendario es el pentest externo de R5, aún sin agendar.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/ AURIXA · Presentación Gerencial de Avance · 20 de julio de 2026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arquitectónicas (ADR) por Release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ADR formalizados a la fecha — sin contradicciones detectadas entre ellos.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653796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clave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37960" y="224028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concentra el 44% de todas las decisiones del proyecto (24 de 55)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explica por qué el módulo de Informes está tan adelantado del calendario contractual.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 tiene solo 4 ADR pese a ser el release con más brechas reales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 que falta ahí no es diseño, es ejecución (correr el pentest, el simulacro DR, la prueba de carga).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de trazabilidad detectada esta semana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bloques de trabajo ya verificados (mapas, editor, dashboards, seguridad) se citan como ADR-055 a 058 pero no tienen archivo formal todavía.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/ AURIXA · Presentación Gerencial de Avance · 20 de julio de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y brechas abiertas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051560" cy="841248"/>
          </a:xfrm>
          <a:prstGeom prst="roundRect">
            <a:avLst>
              <a:gd name="adj" fmla="val 6522"/>
            </a:avLst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051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83080" y="14447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 OWASP externo sin agendar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83080" y="179222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ítem que, si se demora, corre la fecha del gate R5 (31-oct) en la misma medida.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59152"/>
            <a:ext cx="1051560" cy="841248"/>
          </a:xfrm>
          <a:prstGeom prst="roundRect">
            <a:avLst>
              <a:gd name="adj" fmla="val 6522"/>
            </a:avLst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59152"/>
            <a:ext cx="1051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243230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 en 0% de avance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277977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14/14 tareas sin iniciar (WAL archiving, pgBackRest, simulacro cronometrado) — debe arrancar en sep-oct.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4670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346704"/>
            <a:ext cx="1051560" cy="841248"/>
          </a:xfrm>
          <a:prstGeom prst="roundRect">
            <a:avLst>
              <a:gd name="adj" fmla="val 6522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46704"/>
            <a:ext cx="1051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83080" y="341985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AWS sin validar contra el cliente real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83080" y="37673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implementado y probado localmente; falta credenciales/acceso al AWS real para validación final.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33425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334256"/>
            <a:ext cx="1051560" cy="841248"/>
          </a:xfrm>
          <a:prstGeom prst="roundRect">
            <a:avLst>
              <a:gd name="adj" fmla="val 6522"/>
            </a:avLst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334256"/>
            <a:ext cx="1051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83080" y="4407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reciente sin ADR formal ni commit a git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83080" y="47548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bloques de trabajo verificados (18–19 jul) sin documentar como ADR ni confirmar en control de versiones.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32180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1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5321808"/>
            <a:ext cx="1051560" cy="841248"/>
          </a:xfrm>
          <a:prstGeom prst="roundRect">
            <a:avLst>
              <a:gd name="adj" fmla="val 6522"/>
            </a:avLst>
          </a:prstGeom>
          <a:solidFill>
            <a:srgbClr val="94A3B8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321808"/>
            <a:ext cx="1051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783080" y="5394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sin destino offsite configurado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783080" y="574243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ya soporta rclone; falta solo la configuración operativa del remote.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/ AURIXA · Presentación Gerencial de Avance · 20 de julio de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 a Gerencia de TI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13258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nota del avance real de R2 (~75%) y R3 (~87%)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167335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en curso, sin acción requerida todavía.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267712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6771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22219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sobre el release v0.1 anticipado del módulo de Informes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2569464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24/24 ADR listos, ~6 semanas antes del gate R3 — decisión de secuenciación de valor, no de alcance.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163824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16382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3118104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el agendamiento del pentest OWASP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3465576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único ítem que, si se demora, corre la fecha de R5. La auditoría interna reduce el riesgo, no reemplaza al pentest.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059936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05993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4014216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conocimiento de 3 brechas de proceso nuevas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36168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ADR-029 desactualizado (refresh token), 4 ADR sin formalizar, trabajo sin confirmar a git.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95604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95604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25880" y="491032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seguimiento activo a DR (R5) y validación AWS (R2–R4)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52578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requieren decisión hoy, pero deben entrar a seguimiento de sprint ya.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/ AURIXA · Presentación Gerencial de Avance · 20 de julio de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114800"/>
            <a:ext cx="4206240" cy="420624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4688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retrasos que requieran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intervención de Gerencia hoy.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— preguntas y discusión abierta.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TI / PMO · 20 de julio de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Gerencial de Avance — Beemetry / AURIXA</dc:title>
  <dc:subject>PptxGenJS Presentation</dc:subject>
  <dc:creator>Arquitectura TI / PMO</dc:creator>
  <cp:lastModifiedBy>Arquitectura TI / PMO</cp:lastModifiedBy>
  <cp:revision>1</cp:revision>
  <dcterms:created xsi:type="dcterms:W3CDTF">2026-07-20T22:37:32Z</dcterms:created>
  <dcterms:modified xsi:type="dcterms:W3CDTF">2026-07-20T22:37:32Z</dcterms:modified>
</cp:coreProperties>
</file>