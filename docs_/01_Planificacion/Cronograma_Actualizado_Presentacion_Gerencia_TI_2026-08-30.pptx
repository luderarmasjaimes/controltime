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Avance / readiness al corte (%)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Junio
R1</c:v>
                  </c:pt>
                  <c:pt idx="1">
                    <c:v>Julio
R2</c:v>
                  </c:pt>
                  <c:pt idx="2">
                    <c:v>Agosto
R3</c:v>
                  </c:pt>
                  <c:pt idx="3">
                    <c:v>Septiembre
R4</c:v>
                  </c:pt>
                  <c:pt idx="4">
                    <c:v>Octubre
R5</c:v>
                  </c:pt>
                  <c:pt idx="5">
                    <c:v>Noviembre
R6*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90.9</c:v>
                </c:pt>
                <c:pt idx="2">
                  <c:v>75.8</c:v>
                </c:pt>
                <c:pt idx="3">
                  <c:v>58.1</c:v>
                </c:pt>
                <c:pt idx="4">
                  <c:v>37.7</c:v>
                </c:pt>
                <c:pt idx="5">
                  <c:v>40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7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B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GERENCIA Y TI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916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Actualizado del Proyecto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Integral de Telemetría y Automatización Minera con IA — Beemetry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10424160" cy="0"/>
          </a:xfrm>
          <a:prstGeom prst="line">
            <a:avLst/>
          </a:prstGeom>
          <a:noFill/>
          <a:ln w="12700">
            <a:solidFill>
              <a:srgbClr val="3A55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65760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de agosto de 2026
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ADR-000 a ADR-136 (137 registros) · SPEC-001 a SPEC-024 · Cronograma v36.1
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TimeTelemetry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507492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2440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50749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S7 en curso (24 ago–04 sep)  ·  </a:t>
            </a:r>
            <a:pPr indent="0" marL="0">
              <a:buNone/>
            </a:pPr>
            <a:r>
              <a:rPr lang="en-US" sz="1500" b="1" dirty="0">
                <a:solidFill>
                  <a:srgbClr val="FF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release R3 vence MAÑANA, 31 de agosto — readiness sin cambio en 9 días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4922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— Plataforma Minera  |  Corte 30-ago-2026  |  Confidencial — uso interno Gerencia / TI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en cuatro cifras, al corte de hoy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48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(000–136)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68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arquitectónicas registradas; +7 desde el 21-ago (130–136)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27832" y="137160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EEF2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64992" y="1508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364992" y="2148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canónicas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64992" y="2468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formalizadas + SPEC-024 GEOCATMIN; sin cambio — SPEC-025 (Soporte/WhatsApp) sigue sin aprobar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98464" y="137160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EEF2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35624" y="1508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54,1%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135624" y="2148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ejecución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35624" y="2468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/ 196 tareas canónicas — IDÉNTICO al 18-ago: 12 días sin mover un checkbox pese a 7 ADR nuevos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69096" y="137160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06256" y="15087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/ 13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906256" y="2148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en curso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06256" y="2468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de release R3 vence MAÑANA, 31-ago-2026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gerencial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931920"/>
            <a:ext cx="112471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avance real de producto sigue en 54,1% — el volumen de ADR (+7 en 9 días) no movió ninguna tarea canónica de tasks.md. Es una brecha real entre "implementado y verificado" y "tarea cerrada", no una regresión de código.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vence MAÑANA (31-ago) con 75,8% (50/66), el mismo número que hace 9 días. Alto riesgo de que el gate se declare no cumplido en su fecha formal.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7 ADR nuevos (130–136) cambian de foco: de soporte/IA hacia plataforma y seguridad. Incluyen el hallazgo más grave de la sesión — una vulnerabilidad crítica de escalada de privilegios, ya corregida (ADR-134).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sin commitear bajaron de 365 (21-ago) a 187 hoy — mejora real, pero sigue siendo riesgo P0 de pérdida de trabajo.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— Plataforma Minera  |  Corte 30-ago-2026  |  Confidencial — uso interno Gerencia / TI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MIDE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medición del avance — sin cambios de criterio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990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avance se cuenta por tareas, no por ADR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647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tarea canónica de specs/NNN-*/tasks.md se cuenta una sola vez (script scripts/project-status-metrics.ps1, corrido hoy). Resultado al corte: 106/196 = 54,1%. No equivale a horas, presupuesto ni aceptación productiva.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877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ADR mide decisión y coherencia, no producto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95351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= existe dirección, puede cambiar · accepted = decisión aprobada, no prueba implementación · implemented = existe código y evidencia de verificación, no prueba que la tarea esté marcada cerrada en el gate. Los 7 ADR nuevos son implemented/verificados y aun así no movieron el 54,1%.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77647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readiness mensual es una fotografía, no una proyección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14223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porcentajes de julio–octubre son tareas cerradas / planificadas de las SPEC de ese release, tomadas hoy. No se contabiliza avance futuro que todavía no ocurrió; noviembre usa 10 controles de salida distintos (diapositiva 9).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525780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525780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actualización: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viernes se corre el script de métricas y se adjunta evidencia de pruebas; un porcentaje solo cambia cuando cambia una tarea o un criterio de aceptación. Hallazgo de esta pasada: el script tenía el campo de fecha de corte fijo desde el 18-ago — corregido hoy para que se calcule solo.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— Plataforma Minera  |  Corte 30-ago-2026  |  Confidencial — uso interno Gerencia / TI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MAESTRO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sprints · 6 releases · 1 jun – 30 nov 2026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818388" cy="868680"/>
          </a:xfrm>
          <a:prstGeom prst="roundRect">
            <a:avLst>
              <a:gd name="adj" fmla="val 5587"/>
            </a:avLst>
          </a:prstGeom>
          <a:solidFill>
            <a:srgbClr val="2E7D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563624"/>
            <a:ext cx="818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92808"/>
            <a:ext cx="81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01–12 jun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44144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6172" y="1508760"/>
            <a:ext cx="818388" cy="868680"/>
          </a:xfrm>
          <a:prstGeom prst="roundRect">
            <a:avLst>
              <a:gd name="adj" fmla="val 5587"/>
            </a:avLst>
          </a:prstGeom>
          <a:solidFill>
            <a:srgbClr val="2E7D3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76172" y="1563624"/>
            <a:ext cx="818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76172" y="1892808"/>
            <a:ext cx="81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15–26 jun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1376172" y="244144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49424" y="1508760"/>
            <a:ext cx="818388" cy="868680"/>
          </a:xfrm>
          <a:prstGeom prst="roundRect">
            <a:avLst>
              <a:gd name="adj" fmla="val 5587"/>
            </a:avLst>
          </a:prstGeom>
          <a:solidFill>
            <a:srgbClr val="2E7D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249424" y="1563624"/>
            <a:ext cx="818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249424" y="1892808"/>
            <a:ext cx="81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jun–10 jul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2249424" y="244144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22676" y="1508760"/>
            <a:ext cx="818388" cy="868680"/>
          </a:xfrm>
          <a:prstGeom prst="roundRect">
            <a:avLst>
              <a:gd name="adj" fmla="val 5587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122676" y="1563624"/>
            <a:ext cx="818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122676" y="1892808"/>
            <a:ext cx="81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13–24 jul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3122676" y="244144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95928" y="1508760"/>
            <a:ext cx="818388" cy="868680"/>
          </a:xfrm>
          <a:prstGeom prst="roundRect">
            <a:avLst>
              <a:gd name="adj" fmla="val 5587"/>
            </a:avLst>
          </a:prstGeom>
          <a:solidFill>
            <a:srgbClr val="2E7D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995928" y="1563624"/>
            <a:ext cx="818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995928" y="1892808"/>
            <a:ext cx="81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jul–07 ago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3995928" y="244144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69180" y="1508760"/>
            <a:ext cx="818388" cy="868680"/>
          </a:xfrm>
          <a:prstGeom prst="roundRect">
            <a:avLst>
              <a:gd name="adj" fmla="val 5587"/>
            </a:avLst>
          </a:prstGeom>
          <a:solidFill>
            <a:srgbClr val="2E7D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69180" y="1563624"/>
            <a:ext cx="818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869180" y="1892808"/>
            <a:ext cx="81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10–21 ago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4869180" y="244144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42432" y="1508760"/>
            <a:ext cx="818388" cy="868680"/>
          </a:xfrm>
          <a:prstGeom prst="roundRect">
            <a:avLst>
              <a:gd name="adj" fmla="val 5587"/>
            </a:avLst>
          </a:prstGeom>
          <a:solidFill>
            <a:srgbClr val="ED7D3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742432" y="1563624"/>
            <a:ext cx="818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742432" y="1892808"/>
            <a:ext cx="81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ago–04 sep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5742432" y="1216152"/>
            <a:ext cx="8183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742432" y="244144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15684" y="1508760"/>
            <a:ext cx="818388" cy="868680"/>
          </a:xfrm>
          <a:prstGeom prst="roundRect">
            <a:avLst>
              <a:gd name="adj" fmla="val 5587"/>
            </a:avLst>
          </a:prstGeom>
          <a:solidFill>
            <a:srgbClr val="C9D3D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15684" y="1563624"/>
            <a:ext cx="818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615684" y="1892808"/>
            <a:ext cx="81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07–18 sep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6615684" y="244144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88936" y="1508760"/>
            <a:ext cx="818388" cy="868680"/>
          </a:xfrm>
          <a:prstGeom prst="roundRect">
            <a:avLst>
              <a:gd name="adj" fmla="val 5587"/>
            </a:avLst>
          </a:prstGeom>
          <a:solidFill>
            <a:srgbClr val="C9D3D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488936" y="1563624"/>
            <a:ext cx="818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488936" y="1892808"/>
            <a:ext cx="81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sep–02 oct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7488936" y="244144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362188" y="1508760"/>
            <a:ext cx="818388" cy="868680"/>
          </a:xfrm>
          <a:prstGeom prst="roundRect">
            <a:avLst>
              <a:gd name="adj" fmla="val 5587"/>
            </a:avLst>
          </a:prstGeom>
          <a:solidFill>
            <a:srgbClr val="C9D3DE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362188" y="1563624"/>
            <a:ext cx="818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362188" y="1892808"/>
            <a:ext cx="81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05–16 oct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8362188" y="244144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235440" y="1508760"/>
            <a:ext cx="818388" cy="868680"/>
          </a:xfrm>
          <a:prstGeom prst="roundRect">
            <a:avLst>
              <a:gd name="adj" fmla="val 5587"/>
            </a:avLst>
          </a:prstGeom>
          <a:solidFill>
            <a:srgbClr val="C9D3D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235440" y="1563624"/>
            <a:ext cx="818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235440" y="1892808"/>
            <a:ext cx="81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19–30 oct</a:t>
            </a:r>
            <a:endParaRPr lang="en-US" sz="750" dirty="0"/>
          </a:p>
        </p:txBody>
      </p:sp>
      <p:sp>
        <p:nvSpPr>
          <p:cNvPr id="48" name="Text 46"/>
          <p:cNvSpPr txBox="1"/>
          <p:nvPr/>
        </p:nvSpPr>
        <p:spPr>
          <a:xfrm>
            <a:off x="9235440" y="244144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108692" y="1508760"/>
            <a:ext cx="818388" cy="868680"/>
          </a:xfrm>
          <a:prstGeom prst="roundRect">
            <a:avLst>
              <a:gd name="adj" fmla="val 5587"/>
            </a:avLst>
          </a:prstGeom>
          <a:solidFill>
            <a:srgbClr val="C9D3DE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0108692" y="1563624"/>
            <a:ext cx="818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10108692" y="1892808"/>
            <a:ext cx="81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02–13 nov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10108692" y="244144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0981944" y="1508760"/>
            <a:ext cx="818388" cy="868680"/>
          </a:xfrm>
          <a:prstGeom prst="roundRect">
            <a:avLst>
              <a:gd name="adj" fmla="val 5587"/>
            </a:avLst>
          </a:prstGeom>
          <a:solidFill>
            <a:srgbClr val="C9D3DE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10981944" y="1563624"/>
            <a:ext cx="8183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10981944" y="1892808"/>
            <a:ext cx="81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16–27 nov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10981944" y="244144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50292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 (S1–S6)   </a:t>
            </a:r>
            <a:pPr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 (S7)   </a:t>
            </a:r>
            <a:pPr indent="0" marL="0">
              <a:buNone/>
            </a:pPr>
            <a:r>
              <a:rPr lang="en-US" sz="1100" b="1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Planificado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74720"/>
          <a:ext cx="11201400" cy="2880360"/>
        </p:xfrm>
        <a:graphic>
          <a:graphicData uri="http://schemas.openxmlformats.org/drawingml/2006/table">
            <a:tbl>
              <a:tblPr/>
              <a:tblGrid>
                <a:gridCol w="1188720"/>
                <a:gridCol w="1920240"/>
                <a:gridCol w="8092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S1–S2 · jun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Planificación, arquitectura, diseño de datos, shell 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S3–S4 · jul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central, accesos seguros, telemetría, VPS desarrollo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S5–S6 · ago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Editor, mapas, sensores, IA base, dictado por voz — vence mañana, 31-ago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S7–S8 · sep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Exportación, integraciones, modo offline, QA del core — EN CURSO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S9–S11 · oct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Hardening, DR, optimización, preparación de UAT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S12–S13 · nov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Estrés 10k, UAT, marcha blanca, Go-Live y transferencia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" name="Text 56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— Plataforma Minera  |  Corte 30-ago-2026  |  Confidencial — uso interno Gerencia / TI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PUERTAS DE CONTROL GERENCIAL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y gates: fecha, criterio y estado real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92840" cy="310896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5349240"/>
                <a:gridCol w="3291840"/>
              </a:tblGrid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 de aprobación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al 30-ago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y arquitectura aprobados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 — 100%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operacional + seguridad 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8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90,9% (10/11) — cierre formal pendiente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 + sensores + IA base — VENCE MAÑANA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75,8% (50/66) — SIN CAMBIO en 9 días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2026-09-30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integrado e2e — FIN ETAPA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8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58,1% (36/62) readiness — offline y alertas críticos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Hardening + DR + optimización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8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37,7% (26/69) readiness — sin pentest/DR aún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2026-11-30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Go-Live producción — FIN PROYECTO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(4/10 controles) — no habilita producción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754880"/>
            <a:ext cx="11292840" cy="1188720"/>
          </a:xfrm>
          <a:prstGeom prst="roundRect">
            <a:avLst>
              <a:gd name="adj" fmla="val 4615"/>
            </a:avLst>
          </a:prstGeom>
          <a:solidFill>
            <a:srgbClr val="FBEAE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4754880"/>
            <a:ext cx="10835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esto importa: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cierra formalmente mañana con el mismo 75,8% de hace 9 días — ninguna tarea de SPEC-005/007/008/009/010/011/020/021/002 se cerró en ese período pese a 7 ADR nuevos implementados. El avance se aprueba con evidencia (build, tests, pentest, DR, UAT), no por avance de calendario: sin tareas cerradas, el gate no puede declararse cumplido sin una decisión explícita de excepción de Gerencia.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— Plataforma Minera  |  Corte 30-ago-2026  |  Confidencial — uso interno Gerencia / TI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MES A MES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disponible al corte — sin cambio frente al 21-ago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417320"/>
            <a:ext cx="4160520" cy="1417320"/>
          </a:xfrm>
          <a:prstGeom prst="roundRect">
            <a:avLst>
              <a:gd name="adj" fmla="val 3871"/>
            </a:avLst>
          </a:prstGeom>
          <a:solidFill>
            <a:srgbClr val="EEF2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0" y="141732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de campo (0/14)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derivado, sin fecha en el cronograma v36 — diseño conceptual formalizado (ADR-110), sin implementación.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589520" y="3017520"/>
            <a:ext cx="4160520" cy="1417320"/>
          </a:xfrm>
          <a:prstGeom prst="roundRect">
            <a:avLst>
              <a:gd name="adj" fmla="val 3871"/>
            </a:avLst>
          </a:prstGeom>
          <a:solidFill>
            <a:srgbClr val="FBEAE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2400" y="301752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Noviembre usa otro criterio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10 controles de salida (pentest, DR, UAT, go-live — diapositiva 8), no tareas de SPEC.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589520" y="4617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EEF2F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0" y="46177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valores son la preparación disponible al 30-ago, no una proyección de trabajo futuro. Son idénticos a los del 21-ago.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— Plataforma Minera  |  Corte 30-ago-2026  |  Confidencial — uso interno Gerencia / TI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POR DOMINIO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por frente funcional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11475720" cy="5074920"/>
        </p:xfrm>
        <a:graphic>
          <a:graphicData uri="http://schemas.openxmlformats.org/drawingml/2006/table">
            <a:tbl>
              <a:tblPr/>
              <a:tblGrid>
                <a:gridCol w="2606040"/>
                <a:gridCol w="1463040"/>
                <a:gridCol w="7406640"/>
              </a:tblGrid>
              <a:tr h="298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 decisivo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98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Ingesta / telemetría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Soak 1h/24h y nueva topología para 100k; fases 6-8/13 de ADR-131 pendientes de deploy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 / seguridad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ADR-132/133/134/135 verificados en vivo — decidir notificación retroactiva por ADR-134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/ RBAC / auditoría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Ámb.-verde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Pentest externo, runbooks, evidencia productiva; ADR-130 pendiente E2E con datos reales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/ Odoo (TimeTelemetry)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Ámb.-verde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CA-4: create/write productivo autorizado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/ realtime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Regresión, SLA e integración de sitio; nuevo panel de simulación (ADR-136) sin CI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Reportabilidad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completa, export multigráfico, UAT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Sensores / zonas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Anti-IDOR, contrato API, render/export en CI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GIS / 3D / GEOCATMIN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reales, performance, aceptación operacional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Biometría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FMR/FNMR, PAD, DPIA, hardware real, reenrolamiento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/ ThingsBoard legacy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contra entorno/credenciales del 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/ WhatsApp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Amarillo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ADR implementados, aún sin SPEC ni sprint; credenciales Meta de producción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Rojo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SPEC-016 en 0/5 y prueba extremo a extremo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Rojo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SPEC-014 en 0/10 como flujo integral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 / 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Rojo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SPEC-015 en 0/11; promoción, restore, RTO/RPO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Operaciones de campo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Rojo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 en 0/14; aprobar ADR-110 y reprogramar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8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EPP / Enterprise LATAM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 (ADR-025) / solo F0 propuesto (ADR-035)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— Plataforma Minera  |  Corte 30-ago-2026  |  Confidencial — uso interno Gerencia / TI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 DE SALIDA A PRODUCCIÓN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salida R6 — Go-Live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7589520" cy="4572000"/>
        </p:xfrm>
        <a:graphic>
          <a:graphicData uri="http://schemas.openxmlformats.org/drawingml/2006/table">
            <a:tbl>
              <a:tblPr/>
              <a:tblGrid>
                <a:gridCol w="548640"/>
                <a:gridCol w="4937760"/>
                <a:gridCol w="2103120"/>
              </a:tblGrid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al corte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 sin errores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tests 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 — 47/47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productivo 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 (advertencias no bloqueantes)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+ CTest backend (árbol actual)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 — build 100%, CTest 1/1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Playwright de flujos críticos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ejecutado en esta auditoría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Pentest externo, P0/P1 cerrados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Simulacro DR — RTO&lt;15 min / RPO≈0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 firmado por operadores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Despliegue/rollback automatizado probado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Marcha blanca 48–72 h y acta go-live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3716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1F3A5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21040" y="15087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3774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cumplidos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40% de readiness de salida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321040" y="329184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EEF2F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549640" y="34290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cambio desde el 21-ago. Los controles técnicos aprobados no sustituyen pentest, DR, UAT, despliegue/rollback ni marcha blanca. Ninguno de estos 6 controles pendientes tiene proveedor o fecha agendada todavía.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— Plataforma Minera  |  Corte 30-ago-2026  |  Confidencial — uso interno Gerencia / TI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INFORME DEL 21-AGO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ADR nuevos en 9 días (130 a 136) — el foco pasó de soporte/IA a seguridad y datos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EEF2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nuevos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5727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/ Seguridad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938528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cruzado empresa minera/organización, bearer en memoria + cookies namespaced, endurecimiento post red-team, MFA/TOTP + RUC en bootstrap, y el fix de la vulnerabilidad crítica de escalada de privilegios.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461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ADR-130, 132, 133, 134, 135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EEF2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5544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nuevos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5727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/ Core-IoT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1938528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del modelo de telemetría (dim_*/telemetry_fact*) para 5-10 años de capacidad, y telemetría calculada por lectura + dashboard de monitoreo de simulación.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2461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ADR-131, 136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11247120" cy="2194560"/>
          </a:xfrm>
          <a:prstGeom prst="roundRect">
            <a:avLst>
              <a:gd name="adj" fmla="val 2917"/>
            </a:avLst>
          </a:prstGeom>
          <a:solidFill>
            <a:srgbClr val="FBEAE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02336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CRÍTICO — ADR-134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endpoint público de autoregistro (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/api/auth/register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aceptaba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"role": "admin"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contra una empresa YA EXISTENTE con usuarios reales — explotado en vivo contra un tenant real durante el ejercicio de red-team, y devolvía una sesión de administrador completa con permisos de gestión cruzada entre tenants. Cerrado y verificado el mismo día contra el stack corriendo. Queda pendiente de decisión de Gerencia si corresponde notificar o auditar retroactivamente a los tenants que existían antes del fix (26-ago-2026).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— Plataforma Minera  |  Corte 30-ago-2026  |  Confidencial — uso interno Gerencia / TI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DECISIÓN DE GERENCIA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nuevo aún no incorporado al cronograma v36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150876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0876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PENDIENTE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/ WhatsApp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ADR implementados y verificados por build/tests. Sin número de SPEC, sin sprint asignado. Entrega real a un teléfono depende de credenciales de producción de Meta.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486400" cy="150876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50876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50876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PENDIENTE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de ADR-131 (fases 6-8/13)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1488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Dual-write, cutover de lecturas y retiro de tablas legacy del modelo de telemetría consolidado — implementado localmente, falta ventana de despliegue a backend C++ productivo.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5486400" cy="150876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20040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2004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PENDIENTE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20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retroactiva — ADR-134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vulnerabilidad crítica de escalada de privilegios estuvo presente antes del 26-ago. Decidir si corresponde auditoría/notificación a tenants preexistentes.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3063240"/>
            <a:ext cx="5486400" cy="150876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20040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32004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PENDIENTE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520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de campo (SPEC-022)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8404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0/14 tareas. Reconocido como proyecto derivado desde el informe del 18-ago. Sigue sin product owner, arquitecto ni presupuesto asignado.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5486400" cy="150876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89204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8920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PENDIENTE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212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Cómputo permanente — ADR-136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532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Telemetría calculada hoy corre vía script externo interino, decisión explícita para no tocar el backend sin pedido de negocio. Decidir si migra a backend C++ si deja de ser interino.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4754880"/>
            <a:ext cx="5486400" cy="1508760"/>
          </a:xfrm>
          <a:prstGeom prst="roundRect">
            <a:avLst>
              <a:gd name="adj" fmla="val 3636"/>
            </a:avLst>
          </a:prstGeom>
          <a:solidFill>
            <a:srgbClr val="EEF2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489204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0" y="48920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PENDIENTE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5212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LATAM (ADR-035)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5532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fase F0 está vigente. F1–F4 (topología edge/hub multipaís) siguen sin código ni decisión comercial.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— Plataforma Minera  |  Corte 30-ago-2026  |  Confidencial — uso interno Gerencia / TI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RIESGO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gerenciales, priorizados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11475720" cy="5074920"/>
        </p:xfrm>
        <a:graphic>
          <a:graphicData uri="http://schemas.openxmlformats.org/drawingml/2006/table">
            <a:tbl>
              <a:tblPr/>
              <a:tblGrid>
                <a:gridCol w="640080"/>
                <a:gridCol w="3931920"/>
                <a:gridCol w="2926080"/>
                <a:gridCol w="3977640"/>
              </a:tblGrid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/ decisión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 vence mañana (31-ago) al mismo 75,8% de hace 9 días — 0 tareas cerradas en el período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en riesgo de no cumplirse en su fecha formal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Decidir: cierre con excepción documentada, o extensión formal de R3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 archivos sin commitear (109 nuevos, 78 modificados); CHANGELOG sin tocar desde el 21-ago pese a 7 ADR nuevos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Pérdida de trabajo y trazabilidad — mejoró de 365 mitigando parcialmente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Segmentar ramas/commits por SPEC y respaldar ya; actualizar CHANGELOG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Vulnerabilidad crítica de escalada de privilegios (ADR-134) estuvo activa hasta el 26-ago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Exposición retroactiva sobre tenants reales antes del fix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Decidir alcance de auditoría/notificación retroactiva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2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Offline, alertas y DR casi sin tareas cerradas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R4/R5 no alcanzables por inercia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dedicado y plan semanal con evidencia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 de tasks.md desacoplado del trabajo real: 7 ADR implementados/verificados, 0 checkboxes movidos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gate mide tareas, no ADR — el avance reportado no refleja el trabajo real hecho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Formalizar tareas de SPEC para el trabajo ya implementado en ADR-130-136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pentest externo, UAT ni DR agendados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habilita go-live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Agendar proveedores/usuarios y ventanas ahora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Soporte/WhatsApp sin SPEC ni presupuesto formal (9 ADR ya implementados)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Alcance no contractual sin decisión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Aprobar SPEC-025 o posponer explícitamente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real depende de acceso del cliente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bloquear R4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Responsable, credenciales, ventana y dataset de aceptación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8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Biometría sin calibración/cumplimiento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de seguridad/privacidad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representativo, laboratorio y DPIA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C8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Bundles &gt;500 kB y warnings CSS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en enlaces lentos / PDA de campo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splitting, limpiar @apply, presupuesto de bundle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— Plataforma Minera  |  Corte 30-ago-2026  |  Confidencial — uso interno Gerencia / TI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A PRODUCCIÓN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recuperación, mes a mes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97480" cy="45720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30–31 AGO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97480" cy="3657600"/>
          </a:xfrm>
          <a:prstGeom prst="roundRect">
            <a:avLst>
              <a:gd name="adj" fmla="val 1695"/>
            </a:avLst>
          </a:prstGeom>
          <a:solidFill>
            <a:srgbClr val="EEF2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21488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R3 con evidencia — o declarar excepción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88036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CA pendientes de SPEC-005/007/008/009/010/011/020/021/002, incorporar CI backend/Playwright, acta formal de gate R3. Formalizar en tasks.md el trabajo de ADR-130-136 ya implementado. Decidir alcance de Soporte/WhatsApp.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97480" cy="4572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91840" y="14630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2011680"/>
            <a:ext cx="2697480" cy="3657600"/>
          </a:xfrm>
          <a:prstGeom prst="roundRect">
            <a:avLst>
              <a:gd name="adj" fmla="val 1695"/>
            </a:avLst>
          </a:prstGeom>
          <a:solidFill>
            <a:srgbClr val="EEF2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29000" y="21488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integrado — 3 equipos en paralelo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88036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A: offline (SPEC-014) y pruebas WAN/replay. Equipo B: alertas (SPEC-016) e integración dashboard/informe. Equipo C: AWS/ThingsBoard real + Odoo CA-4 autorizada + deploy de fases 6-8/13 de ADR-131.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97480" cy="4572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26480" y="14630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OCTUBRE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2011680"/>
            <a:ext cx="2697480" cy="3657600"/>
          </a:xfrm>
          <a:prstGeom prst="roundRect">
            <a:avLst>
              <a:gd name="adj" fmla="val 1695"/>
            </a:avLst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21488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sin negociación de evidencia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88036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Simulacro failover/restore cronometrado, pentest externo con cierre de P0/P1 (incluida verificación retroactiva de ADR-134), soak de telemetría, calibración biométrica o exclusión formal de alcance.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61120" y="1463040"/>
            <a:ext cx="2697480" cy="4572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61120" y="14630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NOVIEMBRE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61120" y="2011680"/>
            <a:ext cx="2697480" cy="3657600"/>
          </a:xfrm>
          <a:prstGeom prst="roundRect">
            <a:avLst>
              <a:gd name="adj" fmla="val 1695"/>
            </a:avLst>
          </a:prstGeom>
          <a:solidFill>
            <a:srgbClr val="EEF2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98280" y="21488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 — Go-Live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288036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con operadores, marcha blanca 48–72 h, rollback probado. Go-live solo si los 10 controles de la diapositiva 8 están completos.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557784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BEAE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derivados, sin fecha en v36: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de campo (aprobar ADR-110 + SPEC-022, equipo y piloto) y Soporte/WhatsApp (formalizar SPEC-025, sprint destino si se aprueba).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— Plataforma Minera  |  Corte 30-ago-2026  |  Confidencial — uso interno Gerencia / TI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SOLICITA A GERENCIA Y 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pendientes para no bloquear el cronograma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71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el cierre de R3 (vence mañana): excepción documentada con plan de cierre, o extensión formal de fecha.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1371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o diferir explícitamente la incorporación del módulo Soporte/WhatsApp al alcance contractual (SPEC-025) y su sprint destino.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6060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alcance de auditoría/notificación retroactiva por la vulnerabilidad crítica de escalada de privilegios cerrada en ADR-134.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6060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el rebaseline de Operaciones de Campo como proyecto derivado: product owner, equipo y presupuesto de piloto.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404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pentest externo, simulacro DR y UAT con fechas y proveedores concretos — sin esto R5/R6 no pueden cerrar.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38404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la ventana de despliegue productivo para las fases 6-8/13 de ADR-131 (consolidación del modelo de telemetría).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512064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5074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postura comercial sobre Enterprise LATAM (ADR-035 F1–F4) y sobre la validación externa de RUC/SUNAT.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0" y="5120640"/>
            <a:ext cx="457200" cy="45720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5074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con soporte y recursos de inteligencia artificial (IA) acordes con la complejidad y los requerimientos del proyecto.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— Plataforma Minera  |  Corte 30-ago-2026  |  Confidencial — uso interno Gerencia / TI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revisión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gate R3 — 31 de agosto de 2026 (mañana)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actualizadas cada viernes con scripts/project-status-metrics.ps1. Próximo corte: viernes 04-sep-2026, tras el cierre del gate.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10424160" cy="0"/>
          </a:xfrm>
          <a:prstGeom prst="line">
            <a:avLst/>
          </a:prstGeom>
          <a:noFill/>
          <a:ln w="12700">
            <a:solidFill>
              <a:srgbClr val="3A55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0233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verdad: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3891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docs/decisions/README.md (ADR-000–136)  ·  specs/REGISTRY.md  ·  specs/BACKLOG.md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scripts/project-status-metrics.ps1  ·  docs_/01_Planificacion/Cronograma_Maestro_AURIXA_v36.md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4922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Beemetry — Plataforma Minera  |  Corte 30-ago-2026  |  Confidencial — uso interno Gerencia / TI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2026-08-30T09:38:03Z</dcterms:created>
  <dcterms:modified xsi:type="dcterms:W3CDTF">2026-08-30T09:38:03Z</dcterms:modified>
</cp:coreProperties>
</file>