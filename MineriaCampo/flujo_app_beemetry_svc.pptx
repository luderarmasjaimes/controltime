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2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3A73"/>
                </a:solidFill>
              </a:defRPr>
            </a:pPr>
            <a:r>
              <a:rPr lang="es-PE" noProof="0" dirty="0"/>
              <a:t>Flujo general de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13232"/>
            <a:ext cx="10149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282"/>
                </a:solidFill>
              </a:defRPr>
            </a:pPr>
            <a:r>
              <a:rPr lang="es-PE" noProof="0" dirty="0"/>
              <a:t>Secuencia de punta a punta desde oficina hasta el ERP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993392" cy="1298448"/>
          </a:xfrm>
          <a:prstGeom prst="roundRect">
            <a:avLst/>
          </a:prstGeom>
          <a:solidFill>
            <a:srgbClr val="EAF2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94767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0A678"/>
                </a:solidFill>
              </a:defRPr>
            </a:pPr>
            <a:r>
              <a:rPr lang="es-PE" noProof="0" dirty="0"/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3A73"/>
                </a:solidFill>
              </a:defRPr>
            </a:pPr>
            <a:r>
              <a:rPr lang="es-PE" noProof="0" dirty="0"/>
              <a:t>Oficina / 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E3440"/>
                </a:solidFill>
              </a:defRPr>
            </a:pPr>
            <a:r>
              <a:rPr lang="es-PE" noProof="0" dirty="0"/>
              <a:t>Proyecto, dispositivo y certificado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3744" y="2322576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67D8"/>
                </a:solidFill>
              </a:defRPr>
            </a:pPr>
            <a:r>
              <a:rPr lang="es-PE" noProof="0" dirty="0"/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6936" y="1828800"/>
            <a:ext cx="1993392" cy="1298448"/>
          </a:xfrm>
          <a:prstGeom prst="roundRect">
            <a:avLst/>
          </a:prstGeom>
          <a:solidFill>
            <a:srgbClr val="F5F8FC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3054096" y="194767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67D8"/>
                </a:solidFill>
              </a:defRPr>
            </a:pPr>
            <a:r>
              <a:rPr lang="es-PE" noProof="0" dirty="0"/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226771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3A73"/>
                </a:solidFill>
              </a:defRPr>
            </a:pPr>
            <a:r>
              <a:rPr lang="es-PE" noProof="0" dirty="0"/>
              <a:t>App móvil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578608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E3440"/>
                </a:solidFill>
              </a:defRPr>
            </a:pPr>
            <a:r>
              <a:rPr lang="es-PE" noProof="0" dirty="0"/>
              <a:t>Proyectos y piezómetros asignados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267712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67D8"/>
                </a:solidFill>
              </a:defRPr>
            </a:pPr>
            <a:r>
              <a:rPr lang="es-PE" noProof="0" dirty="0"/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39512" y="1828800"/>
            <a:ext cx="1993392" cy="1298448"/>
          </a:xfrm>
          <a:prstGeom prst="roundRect">
            <a:avLst/>
          </a:prstGeom>
          <a:solidFill>
            <a:srgbClr val="F5F8FC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5376672" y="194767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67D8"/>
                </a:solidFill>
              </a:defRPr>
            </a:pPr>
            <a:r>
              <a:rPr lang="es-PE" noProof="0" dirty="0"/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226771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3A73"/>
                </a:solidFill>
              </a:defRPr>
            </a:pPr>
            <a:r>
              <a:rPr lang="es-PE" noProof="0" dirty="0"/>
              <a:t>Formularios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2578608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E3440"/>
                </a:solidFill>
              </a:defRPr>
            </a:pPr>
            <a:r>
              <a:rPr lang="es-PE" noProof="0" dirty="0"/>
              <a:t>Etapas independientes y fotos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897" y="2253996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67D8"/>
                </a:solidFill>
              </a:defRPr>
            </a:pPr>
            <a:r>
              <a:rPr lang="es-PE" noProof="0" dirty="0"/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62088" y="1828800"/>
            <a:ext cx="1993392" cy="1298448"/>
          </a:xfrm>
          <a:prstGeom prst="roundRect">
            <a:avLst/>
          </a:prstGeom>
          <a:solidFill>
            <a:srgbClr val="F5F8FC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7699248" y="194767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67D8"/>
                </a:solidFill>
              </a:defRPr>
            </a:pPr>
            <a:r>
              <a:rPr lang="es-PE" noProof="0" dirty="0"/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6771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3A73"/>
                </a:solidFill>
              </a:defRPr>
            </a:pPr>
            <a:r>
              <a:rPr lang="es-PE" noProof="0" dirty="0"/>
              <a:t>Informe final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578608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E3440"/>
                </a:solidFill>
              </a:defRPr>
            </a:pPr>
            <a:r>
              <a:rPr lang="es-PE" noProof="0" dirty="0"/>
              <a:t>Campos faltantes + 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2221992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67D8"/>
                </a:solidFill>
              </a:defRPr>
            </a:pPr>
            <a:r>
              <a:rPr lang="es-PE" noProof="0" dirty="0"/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84663" y="1828800"/>
            <a:ext cx="1993392" cy="1298448"/>
          </a:xfrm>
          <a:prstGeom prst="roundRect">
            <a:avLst/>
          </a:prstGeom>
          <a:solidFill>
            <a:srgbClr val="F5F8FC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10021824" y="194767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67D8"/>
                </a:solidFill>
              </a:defRPr>
            </a:pPr>
            <a:r>
              <a:rPr lang="es-PE" noProof="0" dirty="0"/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21824" y="226771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3A73"/>
                </a:solidFill>
              </a:defRPr>
            </a:pPr>
            <a:r>
              <a:rPr lang="es-PE" noProof="0" dirty="0"/>
              <a:t>ERP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21824" y="2578608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E3440"/>
                </a:solidFill>
              </a:defRPr>
            </a:pPr>
            <a:r>
              <a:rPr lang="es-PE" noProof="0" dirty="0"/>
              <a:t>Carga de datos e informe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886200"/>
            <a:ext cx="5257800" cy="1508760"/>
          </a:xfrm>
          <a:prstGeom prst="roundRect">
            <a:avLst/>
          </a:prstGeom>
          <a:solidFill>
            <a:srgbClr val="F8FAFE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914400" y="4032504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53A73"/>
                </a:solidFill>
              </a:defRPr>
            </a:pPr>
            <a:r>
              <a:rPr lang="es-PE" noProof="0" dirty="0"/>
              <a:t>Regla funcional principal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4416552"/>
            <a:ext cx="481888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Cada formulario puede guardarse por separado y continuarse después.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La relación base del sistema será: proyecto → piezómetros → formularios → informe final.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886200"/>
            <a:ext cx="5166360" cy="1508760"/>
          </a:xfrm>
          <a:prstGeom prst="roundRect">
            <a:avLst/>
          </a:prstGeom>
          <a:solidFill>
            <a:srgbClr val="F8FAFE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6492240" y="4032504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53A73"/>
                </a:solidFill>
              </a:defRPr>
            </a:pPr>
            <a:r>
              <a:rPr lang="es-PE" noProof="0" dirty="0"/>
              <a:t>Resultado esperado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8816" y="4416552"/>
            <a:ext cx="472744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Un informe PDF por piezómetro con lecturas, fotografías y datos técnicos.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Información estructurada para ser enviada al ERP.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428232"/>
            <a:ext cx="11064240" cy="13716"/>
          </a:xfrm>
          <a:prstGeom prst="rect">
            <a:avLst/>
          </a:prstGeom>
          <a:solidFill>
            <a:srgbClr val="D8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282"/>
                </a:solidFill>
              </a:defRPr>
            </a:pPr>
            <a:r>
              <a:rPr lang="es-PE" noProof="0" dirty="0"/>
              <a:t>Flujo propuesto para app de instalación de piezómetros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2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3A73"/>
                </a:solidFill>
              </a:defRPr>
            </a:pPr>
            <a:r>
              <a:rPr lang="es-PE" noProof="0" dirty="0"/>
              <a:t>1. Preparación desde oficina y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13232"/>
            <a:ext cx="10149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282"/>
                </a:solidFill>
              </a:defRPr>
            </a:pPr>
            <a:r>
              <a:rPr lang="es-PE" noProof="0" dirty="0"/>
              <a:t>Datos iniciales que alimentan el flujo móvil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498348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868680" y="1380744"/>
            <a:ext cx="4617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53A73"/>
                </a:solidFill>
              </a:defRPr>
            </a:pPr>
            <a:r>
              <a:rPr lang="es-PE" noProof="0" dirty="0"/>
              <a:t>Qué hace oficina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764792"/>
            <a:ext cx="4544568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Crea el proyecto en el ERP.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Registra los piezómetros asignados al proyecto.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Recibe el certificado de calibración.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456432"/>
            <a:ext cx="4983480" cy="1874519"/>
          </a:xfrm>
          <a:prstGeom prst="roundRect">
            <a:avLst/>
          </a:prstGeom>
          <a:solidFill>
            <a:srgbClr val="F8FAFE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868680" y="3602736"/>
            <a:ext cx="4617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53A73"/>
                </a:solidFill>
              </a:defRPr>
            </a:pPr>
            <a:r>
              <a:rPr lang="es-PE" noProof="0" dirty="0"/>
              <a:t>Datos del certificado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986784"/>
            <a:ext cx="4544568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Factores A, B, CF y TK.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Modelo, serie, capacidad y marca.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Estos datos se envían o sincronizan hacia la base de la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6235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30" i="1">
                <a:solidFill>
                  <a:srgbClr val="687282"/>
                </a:solidFill>
              </a:defRPr>
            </a:pPr>
            <a:r>
              <a:rPr lang="es-PE" noProof="0" dirty="0"/>
              <a:t>Objetivo: que campo no vuelva a digitar datos ya cargados en oficina.</a:t>
            </a:r>
          </a:p>
        </p:txBody>
      </p:sp>
      <p:pic>
        <p:nvPicPr>
          <p:cNvPr id="12" name="Picture 11" descr="flujo_de_trabajo_erp_y_certific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051560"/>
            <a:ext cx="5349240" cy="495604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48640" y="6428232"/>
            <a:ext cx="11064240" cy="13716"/>
          </a:xfrm>
          <a:prstGeom prst="rect">
            <a:avLst/>
          </a:prstGeom>
          <a:solidFill>
            <a:srgbClr val="D8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282"/>
                </a:solidFill>
              </a:defRPr>
            </a:pPr>
            <a:r>
              <a:rPr lang="es-PE" noProof="0" dirty="0"/>
              <a:t>Flujo propuesto para app de instalación de piezómetros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2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3A73"/>
                </a:solidFill>
              </a:defRPr>
            </a:pPr>
            <a:r>
              <a:rPr lang="es-PE" noProof="0" dirty="0"/>
              <a:t>2. Navegación móvil: proyectos y piezómetros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13232"/>
            <a:ext cx="10149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282"/>
                </a:solidFill>
              </a:defRPr>
            </a:pPr>
            <a:r>
              <a:rPr lang="es-PE" noProof="0" dirty="0"/>
              <a:t>Vista esperada para el técnico en campo</a:t>
            </a:r>
          </a:p>
        </p:txBody>
      </p:sp>
      <p:pic>
        <p:nvPicPr>
          <p:cNvPr id="5" name="Picture 4" descr="flujo_de_trabajo_de_aplicaciones_móv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1283666"/>
            <a:ext cx="7866583" cy="55743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04088" y="1431036"/>
            <a:ext cx="3520440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86968" y="1577340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53A73"/>
                </a:solidFill>
              </a:defRPr>
            </a:pPr>
            <a:r>
              <a:rPr lang="es-PE" noProof="0" dirty="0"/>
              <a:t>Vista de proyectos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1961388"/>
            <a:ext cx="308152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La app lista los proyectos disponibles.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Al tocar un proyecto se muestran sus dispositivos asignados.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3250692"/>
            <a:ext cx="3520440" cy="1901952"/>
          </a:xfrm>
          <a:prstGeom prst="roundRect">
            <a:avLst/>
          </a:prstGeom>
          <a:solidFill>
            <a:srgbClr val="F8FAFE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886968" y="3396996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53A73"/>
                </a:solidFill>
              </a:defRPr>
            </a:pPr>
            <a:r>
              <a:rPr lang="es-PE" noProof="0" dirty="0" err="1"/>
              <a:t>Cards</a:t>
            </a:r>
            <a:r>
              <a:rPr lang="es-PE" noProof="0" dirty="0"/>
              <a:t> de piezómetros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81044"/>
            <a:ext cx="308152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Cada </a:t>
            </a:r>
            <a:r>
              <a:rPr lang="es-PE" noProof="0" dirty="0" err="1"/>
              <a:t>card</a:t>
            </a:r>
            <a:r>
              <a:rPr lang="es-PE" noProof="0" dirty="0"/>
              <a:t> muestra serie, marca, modelo e ícono.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Al tocar el piezómetro se abre el flujo de formularios.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La información simple ayuda a identificar rápidamente el sensor.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5298948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 i="1">
                <a:solidFill>
                  <a:srgbClr val="687282"/>
                </a:solidFill>
              </a:defRPr>
            </a:pPr>
            <a:r>
              <a:rPr lang="es-PE" noProof="0"/>
              <a:t>Primera etapa: celular con conexión a internet.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282"/>
                </a:solidFill>
              </a:defRPr>
            </a:pPr>
            <a:r>
              <a:rPr lang="es-PE" noProof="0" dirty="0"/>
              <a:t>Flujo propuesto para app de instalación de piezómetros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102C3F86-0E87-874E-E857-F5F5EC2A6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375" y="6144768"/>
            <a:ext cx="1017179" cy="493776"/>
          </a:xfrm>
          <a:prstGeom prst="rect">
            <a:avLst/>
          </a:prstGeom>
        </p:spPr>
      </p:pic>
      <p:sp>
        <p:nvSpPr>
          <p:cNvPr id="24" name="Rectangle 12">
            <a:extLst>
              <a:ext uri="{FF2B5EF4-FFF2-40B4-BE49-F238E27FC236}">
                <a16:creationId xmlns:a16="http://schemas.microsoft.com/office/drawing/2014/main" id="{FD7EDD59-6AC2-B200-ECE5-57312B0BF0A8}"/>
              </a:ext>
            </a:extLst>
          </p:cNvPr>
          <p:cNvSpPr/>
          <p:nvPr/>
        </p:nvSpPr>
        <p:spPr>
          <a:xfrm>
            <a:off x="548640" y="6428232"/>
            <a:ext cx="11064240" cy="13716"/>
          </a:xfrm>
          <a:prstGeom prst="rect">
            <a:avLst/>
          </a:prstGeom>
          <a:solidFill>
            <a:srgbClr val="D8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2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3A73"/>
                </a:solidFill>
              </a:defRPr>
            </a:pPr>
            <a:r>
              <a:rPr lang="es-PE" noProof="0" dirty="0"/>
              <a:t>3. Formularios independientes por piezómetro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13232"/>
            <a:ext cx="10149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282"/>
                </a:solidFill>
              </a:defRPr>
            </a:pPr>
            <a:r>
              <a:rPr lang="es-PE" noProof="0" dirty="0"/>
              <a:t>El flujo permite capturar avances por etapa sin perder información</a:t>
            </a:r>
          </a:p>
        </p:txBody>
      </p:sp>
      <p:pic>
        <p:nvPicPr>
          <p:cNvPr id="5" name="Picture 4" descr="flujo_de_trabajo_formulario_del_piezóme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005840"/>
            <a:ext cx="11064240" cy="4617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" y="5815584"/>
            <a:ext cx="2011680" cy="438912"/>
          </a:xfrm>
          <a:prstGeom prst="roundRect">
            <a:avLst/>
          </a:prstGeom>
          <a:solidFill>
            <a:srgbClr val="12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960120" y="5925312"/>
            <a:ext cx="1828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lang="es-PE" noProof="0" dirty="0"/>
              <a:t>1  Operatividad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5815584"/>
            <a:ext cx="2011680" cy="438912"/>
          </a:xfrm>
          <a:prstGeom prst="roundRect">
            <a:avLst/>
          </a:prstGeom>
          <a:solidFill>
            <a:srgbClr val="12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3108960" y="5925312"/>
            <a:ext cx="1828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lang="es-PE" noProof="0" dirty="0"/>
              <a:t>2  Durante saturación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5815584"/>
            <a:ext cx="2011680" cy="438912"/>
          </a:xfrm>
          <a:prstGeom prst="roundRect">
            <a:avLst/>
          </a:prstGeom>
          <a:solidFill>
            <a:srgbClr val="12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5257800" y="5925312"/>
            <a:ext cx="1828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lang="es-PE" noProof="0" dirty="0"/>
              <a:t>3  Después de saturar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5815584"/>
            <a:ext cx="2011680" cy="438912"/>
          </a:xfrm>
          <a:prstGeom prst="roundRect">
            <a:avLst/>
          </a:prstGeom>
          <a:solidFill>
            <a:srgbClr val="12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7406640" y="5925312"/>
            <a:ext cx="1828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lang="es-PE" noProof="0" dirty="0"/>
              <a:t>4  Coordenadas y cota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5815584"/>
            <a:ext cx="2011680" cy="438912"/>
          </a:xfrm>
          <a:prstGeom prst="roundRect">
            <a:avLst/>
          </a:prstGeom>
          <a:solidFill>
            <a:srgbClr val="153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9555480" y="5925312"/>
            <a:ext cx="1828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lang="es-PE" noProof="0" dirty="0"/>
              <a:t>5  Después instalación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28232"/>
            <a:ext cx="11064240" cy="13716"/>
          </a:xfrm>
          <a:prstGeom prst="rect">
            <a:avLst/>
          </a:prstGeom>
          <a:solidFill>
            <a:srgbClr val="D8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282"/>
                </a:solidFill>
              </a:defRPr>
            </a:pPr>
            <a:r>
              <a:rPr lang="es-PE" noProof="0" dirty="0"/>
              <a:t>Flujo propuesto para app de instalación de piezómetros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2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3A73"/>
                </a:solidFill>
              </a:defRPr>
            </a:pPr>
            <a:r>
              <a:rPr lang="es-PE" noProof="0" dirty="0"/>
              <a:t>4. Datos por formulario y cierre del proceso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13232"/>
            <a:ext cx="10149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282"/>
                </a:solidFill>
              </a:defRPr>
            </a:pPr>
            <a:r>
              <a:rPr lang="es-PE" noProof="0" dirty="0"/>
              <a:t>Lecturas, fotos, coordenadas manuales, PDF y envío al ERP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52120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868680" y="1197864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53A73"/>
                </a:solidFill>
              </a:defRPr>
            </a:pPr>
            <a:r>
              <a:rPr lang="es-PE" noProof="0" dirty="0"/>
              <a:t>Datos por formulario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581912"/>
            <a:ext cx="4773168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Lecturas de frecuencia y temperatura.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Unidades visibles: </a:t>
            </a:r>
            <a:r>
              <a:rPr lang="es-PE" noProof="0" dirty="0" err="1"/>
              <a:t>digits</a:t>
            </a:r>
            <a:r>
              <a:rPr lang="es-PE" noProof="0" dirty="0"/>
              <a:t>, °C, ohm y Hz.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Observaciones y fotografía al final de cada formulario.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71800"/>
            <a:ext cx="5212080" cy="1600200"/>
          </a:xfrm>
          <a:prstGeom prst="roundRect">
            <a:avLst/>
          </a:prstGeom>
          <a:solidFill>
            <a:srgbClr val="F8FAFE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868680" y="3118104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53A73"/>
                </a:solidFill>
              </a:defRPr>
            </a:pPr>
            <a:r>
              <a:rPr lang="es-PE" noProof="0" dirty="0"/>
              <a:t>Coordenadas y cota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502152"/>
            <a:ext cx="477316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Las coordenadas y cota son tomadas por topografía.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La app no las calcula: el técnico las digita manualmente.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800600"/>
            <a:ext cx="5212080" cy="914400"/>
          </a:xfrm>
          <a:prstGeom prst="roundRect">
            <a:avLst/>
          </a:prstGeom>
          <a:solidFill>
            <a:srgbClr val="F5F8FC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868680" y="4946904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53A73"/>
                </a:solidFill>
              </a:defRPr>
            </a:pPr>
            <a:r>
              <a:rPr lang="es-PE" noProof="0" dirty="0"/>
              <a:t>Estados de avance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5330952"/>
            <a:ext cx="4773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Pendiente → guardado → completado.</a:t>
            </a:r>
          </a:p>
        </p:txBody>
      </p:sp>
      <p:pic>
        <p:nvPicPr>
          <p:cNvPr id="14" name="Picture 13" descr="etapa_final_del_proceso_de_infor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60120"/>
            <a:ext cx="5303520" cy="50749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48640" y="6428232"/>
            <a:ext cx="11064240" cy="13716"/>
          </a:xfrm>
          <a:prstGeom prst="rect">
            <a:avLst/>
          </a:prstGeom>
          <a:solidFill>
            <a:srgbClr val="D8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282"/>
                </a:solidFill>
              </a:defRPr>
            </a:pPr>
            <a:r>
              <a:rPr lang="es-PE" noProof="0" dirty="0"/>
              <a:t>Flujo propuesto para app de instalación de piezómetros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2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3A73"/>
                </a:solidFill>
              </a:defRPr>
            </a:pPr>
            <a:r>
              <a:rPr lang="es-PE" noProof="0" dirty="0"/>
              <a:t>5. Completar informe y subir al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13232"/>
            <a:ext cx="10149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282"/>
                </a:solidFill>
              </a:defRPr>
            </a:pPr>
            <a:r>
              <a:rPr lang="es-PE" noProof="0" dirty="0"/>
              <a:t>Cierre por cada dispositivo</a:t>
            </a:r>
          </a:p>
        </p:txBody>
      </p:sp>
      <p:pic>
        <p:nvPicPr>
          <p:cNvPr id="5" name="Picture 4" descr="etapa_final_del_proceso_de_infor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078992"/>
            <a:ext cx="6720840" cy="4800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26679" y="1143000"/>
            <a:ext cx="361188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7909559" y="1289304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53A73"/>
                </a:solidFill>
              </a:defRPr>
            </a:pPr>
            <a:r>
              <a:rPr lang="es-PE" noProof="0" dirty="0"/>
              <a:t>Completar informe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6135" y="1673352"/>
            <a:ext cx="317296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Formulario final al terminar los formularios del piezómetro.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Permite llenar datos faltantes en oficina.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2743200"/>
            <a:ext cx="3611880" cy="1325880"/>
          </a:xfrm>
          <a:prstGeom prst="roundRect">
            <a:avLst/>
          </a:prstGeom>
          <a:solidFill>
            <a:srgbClr val="F8FAFE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7909559" y="2889504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53A73"/>
                </a:solidFill>
              </a:defRPr>
            </a:pPr>
            <a:r>
              <a:rPr lang="es-PE" noProof="0" dirty="0"/>
              <a:t>PDF del dispositivo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46135" y="3273552"/>
            <a:ext cx="317296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Se genera un informe PDF por cada piezómetro.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Incluye datos técnicos, fotos, lecturas y observaciones.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4343400"/>
            <a:ext cx="36118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7909559" y="4489704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53A73"/>
                </a:solidFill>
              </a:defRPr>
            </a:pPr>
            <a:r>
              <a:rPr lang="es-PE" noProof="0" dirty="0"/>
              <a:t>ERP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135" y="4873752"/>
            <a:ext cx="317296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Los datos y el informe se suben al ERP para trazabilidad y gestión.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28232"/>
            <a:ext cx="11064240" cy="13716"/>
          </a:xfrm>
          <a:prstGeom prst="rect">
            <a:avLst/>
          </a:prstGeom>
          <a:solidFill>
            <a:srgbClr val="D8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282"/>
                </a:solidFill>
              </a:defRPr>
            </a:pPr>
            <a:r>
              <a:rPr lang="es-PE" noProof="0" dirty="0"/>
              <a:t>Flujo propuesto para app de instalación de piezómetros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2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3A73"/>
                </a:solidFill>
              </a:defRPr>
            </a:pPr>
            <a:r>
              <a:rPr lang="es-PE" noProof="0" dirty="0"/>
              <a:t>Alcance del prototipo y decisiones pendientes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13232"/>
            <a:ext cx="10149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282"/>
                </a:solidFill>
              </a:defRPr>
            </a:pPr>
            <a:r>
              <a:rPr lang="es-PE" noProof="0" dirty="0"/>
              <a:t>Base para ordenar el desarrollo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5257800" cy="1965960"/>
          </a:xfrm>
          <a:prstGeom prst="roundRect">
            <a:avLst/>
          </a:prstGeom>
          <a:solidFill>
            <a:srgbClr val="F5F8FC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868680" y="1289304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53A73"/>
                </a:solidFill>
              </a:defRPr>
            </a:pPr>
            <a:r>
              <a:rPr lang="es-PE" noProof="0" dirty="0"/>
              <a:t>Incluido en el prototipo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73352"/>
            <a:ext cx="4818888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Celular como primera opción.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Proyectos, dispositivos y formularios de piezómetros.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Carga de fotos, guardado por etapa, informe final y PDF.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Envío de datos hacia el ERP.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57800" cy="1965960"/>
          </a:xfrm>
          <a:prstGeom prst="roundRect">
            <a:avLst/>
          </a:prstGeom>
          <a:solidFill>
            <a:srgbClr val="F8FAFE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6446520" y="1289304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53A73"/>
                </a:solidFill>
              </a:defRPr>
            </a:pPr>
            <a:r>
              <a:rPr lang="es-PE" noProof="0" dirty="0"/>
              <a:t>Pendiente de definición técnica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1673352"/>
            <a:ext cx="4818888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Si la base propia se alimentará manualmente o desde el ERP.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Formato exacto del PDF final que se entrega al cliente.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Reglas de validación por campo y responsables de revisión.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66160"/>
            <a:ext cx="5257800" cy="1600200"/>
          </a:xfrm>
          <a:prstGeom prst="roundRect">
            <a:avLst/>
          </a:prstGeom>
          <a:solidFill>
            <a:srgbClr val="F8FAFE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868680" y="3712464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53A73"/>
                </a:solidFill>
              </a:defRPr>
            </a:pPr>
            <a:r>
              <a:rPr lang="es-PE" noProof="0" dirty="0"/>
              <a:t>Segunda etapa posible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4096512"/>
            <a:ext cx="481888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App </a:t>
            </a:r>
            <a:r>
              <a:rPr lang="es-PE" noProof="0" dirty="0" err="1"/>
              <a:t>Flutter</a:t>
            </a:r>
            <a:r>
              <a:rPr lang="es-PE" noProof="0" dirty="0"/>
              <a:t> para PDA/celular.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Modo offline con base local y sincronización.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Control de reintentos y estados de envío.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566160"/>
            <a:ext cx="5257800" cy="1600200"/>
          </a:xfrm>
          <a:prstGeom prst="roundRect">
            <a:avLst/>
          </a:prstGeom>
          <a:solidFill>
            <a:srgbClr val="F5F8FC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446520" y="3712464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53A73"/>
                </a:solidFill>
              </a:defRPr>
            </a:pPr>
            <a:r>
              <a:rPr lang="es-PE" noProof="0" dirty="0"/>
              <a:t>Criterio de validación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4096512"/>
            <a:ext cx="481888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Confirmar que el flujo real de campo se puede completar desde la app.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Confirmar que el PDF cumple el formato del cliente.</a:t>
            </a:r>
          </a:p>
          <a:p>
            <a:pPr marL="285750" indent="-171450">
              <a:spcAft>
                <a:spcPts val="400"/>
              </a:spcAft>
              <a:defRPr sz="1180">
                <a:solidFill>
                  <a:srgbClr val="2E3440"/>
                </a:solidFill>
              </a:defRPr>
            </a:pPr>
            <a:r>
              <a:rPr lang="es-PE" noProof="0" dirty="0"/>
              <a:t>Confirmar que la información enviada al ERP es suficiente.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28232"/>
            <a:ext cx="11064240" cy="13716"/>
          </a:xfrm>
          <a:prstGeom prst="rect">
            <a:avLst/>
          </a:prstGeom>
          <a:solidFill>
            <a:srgbClr val="D8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282"/>
                </a:solidFill>
              </a:defRPr>
            </a:pPr>
            <a:r>
              <a:rPr lang="es-PE" noProof="0" dirty="0"/>
              <a:t>Flujo propuesto para app de instalación de piezómetros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656</Words>
  <Application>Microsoft Office PowerPoint</Application>
  <PresentationFormat>Panorámica</PresentationFormat>
  <Paragraphs>102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CHAVEZ HERNANDEZ MARCCELO ARON</cp:lastModifiedBy>
  <cp:revision>2</cp:revision>
  <dcterms:created xsi:type="dcterms:W3CDTF">2013-01-27T09:14:16Z</dcterms:created>
  <dcterms:modified xsi:type="dcterms:W3CDTF">2026-07-17T23:40:28Z</dcterms:modified>
  <cp:category/>
</cp:coreProperties>
</file>