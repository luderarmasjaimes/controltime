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9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Inter" panose="02000503000000020004" pitchFamily="34" charset="0"/>
      <p:regular r:id="rId17"/>
    </p:embeddedFont>
    <p:embeddedFont>
      <p:font typeface="Inter" panose="02000503000000020004" pitchFamily="34" charset="-122"/>
      <p:regular r:id="rId18"/>
    </p:embeddedFont>
    <p:embeddedFont>
      <p:font typeface="Inter" panose="02000503000000020004" pitchFamily="34" charset="-120"/>
      <p:regular r:id="rId19"/>
    </p:embeddedFont>
    <p:embeddedFont>
      <p:font typeface="Inter Bold" panose="02000503000000020004" pitchFamily="34" charset="0"/>
      <p:bold r:id="rId20"/>
    </p:embeddedFont>
    <p:embeddedFont>
      <p:font typeface="Inter Bold" panose="02000503000000020004" pitchFamily="34" charset="-122"/>
      <p:bold r:id="rId21"/>
    </p:embeddedFont>
    <p:embeddedFont>
      <p:font typeface="Inter Bold" panose="02000503000000020004" pitchFamily="34" charset="-120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520651"/>
            <a:ext cx="1671191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</p:spPr>
      </p:sp>
      <p:sp>
        <p:nvSpPr>
          <p:cNvPr id="4" name="Text 1"/>
          <p:cNvSpPr/>
          <p:nvPr/>
        </p:nvSpPr>
        <p:spPr>
          <a:xfrm>
            <a:off x="4010174" y="1563142"/>
            <a:ext cx="1958280" cy="181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PERÚ &amp; LATAM · 2026–2031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843757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Transformación Digital e IA para Servicios Mineros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942332"/>
            <a:ext cx="472276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Una plataforma integrada de tecnología de campo, inteligencia artificial y analítica predictiva para posicionar a su empresa como referente en monitoreo minero inteligente en Perú y Latinoamérica.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9840" y="456456"/>
            <a:ext cx="4565303" cy="366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La Realidad Operativa Actual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839840" y="969094"/>
            <a:ext cx="4893320" cy="3433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Las operaciones de campo enfrentan ineficiencias estructurales que elevan costos y comprometen la disponibilidad de activos críticos.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839840" y="1421755"/>
            <a:ext cx="4893320" cy="829270"/>
          </a:xfrm>
          <a:prstGeom prst="roundRect">
            <a:avLst>
              <a:gd name="adj" fmla="val 594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61954" y="1543869"/>
            <a:ext cx="1467445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Diagnósticos Lentos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61954" y="1785565"/>
            <a:ext cx="4649093" cy="3433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Sin acceso a historiales ni guías técnicas en campo. MTTR elevado y decisiones tardías.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39840" y="2348210"/>
            <a:ext cx="4893320" cy="657597"/>
          </a:xfrm>
          <a:prstGeom prst="roundRect">
            <a:avLst>
              <a:gd name="adj" fmla="val 749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61954" y="2470324"/>
            <a:ext cx="1837060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Dependencia de Expertos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961954" y="2712021"/>
            <a:ext cx="4649093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Cada falla requiere especialista remoto, generando demoras y traslados costosos.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39840" y="3102992"/>
            <a:ext cx="4893320" cy="829270"/>
          </a:xfrm>
          <a:prstGeom prst="roundRect">
            <a:avLst>
              <a:gd name="adj" fmla="val 594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61954" y="3225105"/>
            <a:ext cx="1467445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Sin Trazabilidad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961954" y="3466802"/>
            <a:ext cx="4649093" cy="3433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Información dispersa en reportes físicos. Retrabajos frecuentes y auditorías complejas.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39840" y="4029447"/>
            <a:ext cx="4893320" cy="657597"/>
          </a:xfrm>
          <a:prstGeom prst="roundRect">
            <a:avLst>
              <a:gd name="adj" fmla="val 749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61954" y="4151561"/>
            <a:ext cx="1473845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Baja Automatización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961954" y="4393257"/>
            <a:ext cx="4649093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Procesos manuales sin telemetría ni alertas predictivas. Reactivos, no preventivos.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296242"/>
            <a:ext cx="6928470" cy="3253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Visión Estratégica: Plataforma Integrada de Campo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822201"/>
            <a:ext cx="2849984" cy="2849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19254" y="1958280"/>
            <a:ext cx="2349178" cy="5777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Una plataforma unificada que conecta al técnico de campo con inteligencia artificial, datos en tiempo real y soporte experto — sin depender de conectividad constante.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9175" y="3847319"/>
            <a:ext cx="156121" cy="1561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18468" y="3844082"/>
            <a:ext cx="1554212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PDA Rugged Getac ZX10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318468" y="4052590"/>
            <a:ext cx="3205683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Hardware certificado para entornos mineros extremos.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8692" y="3847319"/>
            <a:ext cx="156121" cy="1561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57986" y="3844082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IA Local (Edge AI)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957986" y="4052590"/>
            <a:ext cx="3205758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Diagnóstico y asistencia sin conexión a internet.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9175" y="4353111"/>
            <a:ext cx="156121" cy="1561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18468" y="4349874"/>
            <a:ext cx="1971526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Telemetría IoT + Gemelo Digital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1318468" y="4558382"/>
            <a:ext cx="3205683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Monitoreo continuo y réplica virtual de activos críticos.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8692" y="4353111"/>
            <a:ext cx="156121" cy="15612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57986" y="4349874"/>
            <a:ext cx="2885554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Realidad Aumentada + Base de Conocimiento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4957986" y="4558382"/>
            <a:ext cx="3205758" cy="288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Guías visuales interactivas e historial técnico accesible en campo.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4050"/>
            <a:ext cx="8046765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Servicios Mineros Listos para Modernizarse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0555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Tres líneas de servicio con potencial inmediato de transformación digital y generación de valor diferenciado.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66838"/>
            <a:ext cx="1507480" cy="931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075682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Instalación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382194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Sensores geotécnicos, piezómetros, inclinómetros y estaciones meteorológicas con registro digital automatizado desde el primer día.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966838"/>
            <a:ext cx="1507480" cy="931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075682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Configuración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382194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Redes LoRaWAN, LTE, satelital y SCADA configuradas y validadas en campo con asistencia de IA integrada.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966838"/>
            <a:ext cx="1507480" cy="931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075682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Mantenimiento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382194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Flujos preventivos, correctivos y predictivos con alertas automáticas, historial completo y diagnóstico asistido por IA.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09414"/>
            <a:ext cx="5900440" cy="339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IA Aplicada al Soporte Técnico en Campo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1903140"/>
            <a:ext cx="2449116" cy="6131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El Getac ZX10 ejecuta modelos de IA directamente en el dispositivo, eliminando la latencia y la dependencia de conectividad en zonas remotas.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5979" y="866701"/>
            <a:ext cx="4775299" cy="26860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048" y="3739679"/>
            <a:ext cx="1824261" cy="10943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2981" y="3862462"/>
            <a:ext cx="1521544" cy="3390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Reconocimiento Visual (YOLO)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992981" y="4251350"/>
            <a:ext cx="1521544" cy="4598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Identifica equipos, sensores y fallas mediante la cámara en tiempo real.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6067" y="3739679"/>
            <a:ext cx="1824335" cy="10943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886001" y="3862462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OCR Automático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2886001" y="4081835"/>
            <a:ext cx="1521619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Digitaliza placas, etiquetas y manuales físicos al instante.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9161" y="3739679"/>
            <a:ext cx="1824335" cy="109433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79094" y="3862462"/>
            <a:ext cx="1457548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Voz a Texto (Whisper)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779094" y="4081835"/>
            <a:ext cx="1521619" cy="4598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Dictado de informes técnicos sin interrumpir el trabajo manual.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2255" y="3739679"/>
            <a:ext cx="1824335" cy="109433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72188" y="3862462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Asistente IA Local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672188" y="4081835"/>
            <a:ext cx="1521619" cy="4598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Qwen, Gemma y DeepSeek responden consultas técnicas sin internet.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417835"/>
            <a:ext cx="4831259" cy="7890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Realidad Aumentada: El Técnico Aumentado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870871" y="1375544"/>
            <a:ext cx="4831259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Al apuntar la cámara del ZX10 hacia cualquier activo, el técnico recibe información contextual inmediata — sin consultar manuales ni llamar a la oficina.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70871" y="1883941"/>
            <a:ext cx="4831259" cy="2841724"/>
          </a:xfrm>
          <a:prstGeom prst="roundRect">
            <a:avLst>
              <a:gd name="adj" fmla="val 186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75633" y="1888703"/>
            <a:ext cx="4821734" cy="708050"/>
          </a:xfrm>
          <a:prstGeom prst="rect">
            <a:avLst/>
          </a:prstGeom>
          <a:solidFill>
            <a:srgbClr val="DADBF1"/>
          </a:solidFill>
        </p:spPr>
      </p:sp>
      <p:sp>
        <p:nvSpPr>
          <p:cNvPr id="7" name="Text 4"/>
          <p:cNvSpPr/>
          <p:nvPr/>
        </p:nvSpPr>
        <p:spPr>
          <a:xfrm>
            <a:off x="4001839" y="2014910"/>
            <a:ext cx="1578248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🔍</a:t>
            </a: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 Identificación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01839" y="2279600"/>
            <a:ext cx="4569321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Modelo, serie y configuración del equipo detectados automáticamente.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75633" y="2596753"/>
            <a:ext cx="4821734" cy="708050"/>
          </a:xfrm>
          <a:prstGeom prst="rect">
            <a:avLst/>
          </a:prstGeom>
          <a:solidFill>
            <a:srgbClr val="DADBF1"/>
          </a:solidFill>
        </p:spPr>
      </p:sp>
      <p:sp>
        <p:nvSpPr>
          <p:cNvPr id="10" name="Shape 7"/>
          <p:cNvSpPr/>
          <p:nvPr/>
        </p:nvSpPr>
        <p:spPr>
          <a:xfrm>
            <a:off x="3875633" y="2596753"/>
            <a:ext cx="4821734" cy="14288"/>
          </a:xfrm>
          <a:prstGeom prst="roundRect">
            <a:avLst>
              <a:gd name="adj" fmla="val 371150"/>
            </a:avLst>
          </a:prstGeom>
          <a:solidFill>
            <a:srgbClr val="C0C1D7"/>
          </a:solidFill>
        </p:spPr>
      </p:sp>
      <p:sp>
        <p:nvSpPr>
          <p:cNvPr id="11" name="Text 8"/>
          <p:cNvSpPr/>
          <p:nvPr/>
        </p:nvSpPr>
        <p:spPr>
          <a:xfrm>
            <a:off x="4001839" y="2722959"/>
            <a:ext cx="1578248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⚠️</a:t>
            </a: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 Estado y Alarmas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01839" y="2987650"/>
            <a:ext cx="4569321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Lecturas en tiempo real, umbrales críticos y alertas activas superpuestas.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75633" y="3304803"/>
            <a:ext cx="4821734" cy="708050"/>
          </a:xfrm>
          <a:prstGeom prst="rect">
            <a:avLst/>
          </a:prstGeom>
          <a:solidFill>
            <a:srgbClr val="DADBF1"/>
          </a:solidFill>
        </p:spPr>
      </p:sp>
      <p:sp>
        <p:nvSpPr>
          <p:cNvPr id="14" name="Shape 11"/>
          <p:cNvSpPr/>
          <p:nvPr/>
        </p:nvSpPr>
        <p:spPr>
          <a:xfrm>
            <a:off x="3875633" y="3304803"/>
            <a:ext cx="4821734" cy="14288"/>
          </a:xfrm>
          <a:prstGeom prst="roundRect">
            <a:avLst>
              <a:gd name="adj" fmla="val 371150"/>
            </a:avLst>
          </a:prstGeom>
          <a:solidFill>
            <a:srgbClr val="C0C1D7"/>
          </a:solidFill>
        </p:spPr>
      </p:sp>
      <p:sp>
        <p:nvSpPr>
          <p:cNvPr id="15" name="Text 12"/>
          <p:cNvSpPr/>
          <p:nvPr/>
        </p:nvSpPr>
        <p:spPr>
          <a:xfrm>
            <a:off x="4001839" y="3431009"/>
            <a:ext cx="1578248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🔧</a:t>
            </a: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 Procedimiento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01839" y="3695700"/>
            <a:ext cx="4569321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Pasos de reparación guiados visualmente con validación por IA.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875633" y="4012853"/>
            <a:ext cx="4821734" cy="708050"/>
          </a:xfrm>
          <a:prstGeom prst="rect">
            <a:avLst/>
          </a:prstGeom>
          <a:solidFill>
            <a:srgbClr val="DADBF1"/>
          </a:solidFill>
        </p:spPr>
      </p:sp>
      <p:sp>
        <p:nvSpPr>
          <p:cNvPr id="18" name="Shape 15"/>
          <p:cNvSpPr/>
          <p:nvPr/>
        </p:nvSpPr>
        <p:spPr>
          <a:xfrm>
            <a:off x="3875633" y="4012853"/>
            <a:ext cx="4821734" cy="14288"/>
          </a:xfrm>
          <a:prstGeom prst="roundRect">
            <a:avLst>
              <a:gd name="adj" fmla="val 371150"/>
            </a:avLst>
          </a:prstGeom>
          <a:solidFill>
            <a:srgbClr val="C0C1D7"/>
          </a:solidFill>
        </p:spPr>
      </p:sp>
      <p:sp>
        <p:nvSpPr>
          <p:cNvPr id="19" name="Text 16"/>
          <p:cNvSpPr/>
          <p:nvPr/>
        </p:nvSpPr>
        <p:spPr>
          <a:xfrm>
            <a:off x="4001839" y="4139059"/>
            <a:ext cx="2059112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📋</a:t>
            </a: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 Reporte Auto-generado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001839" y="4403750"/>
            <a:ext cx="4569321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Informe técnico completo creado al finalizar la intervención.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00186"/>
            <a:ext cx="4953000" cy="3253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Centro de Conocimiento Inteligente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1863179"/>
            <a:ext cx="3095179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IA Entrenada con Su Propio Conocimiento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80182" y="2102272"/>
            <a:ext cx="3464793" cy="4333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El sistema se entrena con manuales, procedimientos, historial de incidencias y casos resueltos — creando un experto técnico disponible 24/7 en campo.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80182" y="2621533"/>
            <a:ext cx="3464793" cy="622771"/>
          </a:xfrm>
          <a:prstGeom prst="roundRect">
            <a:avLst>
              <a:gd name="adj" fmla="val 7021"/>
            </a:avLst>
          </a:prstGeom>
          <a:solidFill>
            <a:srgbClr val="B6D6F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287" y="2769989"/>
            <a:ext cx="130076" cy="1041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8468" y="2716262"/>
            <a:ext cx="3022402" cy="4333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Ejemplo real:</a:t>
            </a:r>
            <a:r>
              <a:rPr lang="en-US" sz="8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"¿Cómo recalibrar un inclinómetro Geokon 4200?" → Respuesta inmediata, paso a paso, sin conexión a internet.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38" y="826145"/>
            <a:ext cx="3464793" cy="34647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80182" y="4462835"/>
            <a:ext cx="1738536" cy="380405"/>
          </a:xfrm>
          <a:prstGeom prst="roundRect">
            <a:avLst>
              <a:gd name="adj" fmla="val 1149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89050" y="4571702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Manuales Técnicos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95141" y="4462835"/>
            <a:ext cx="1738610" cy="380405"/>
          </a:xfrm>
          <a:prstGeom prst="roundRect">
            <a:avLst>
              <a:gd name="adj" fmla="val 1149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04009" y="4571702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Procedimientos SOP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10174" y="4462835"/>
            <a:ext cx="1738536" cy="380405"/>
          </a:xfrm>
          <a:prstGeom prst="roundRect">
            <a:avLst>
              <a:gd name="adj" fmla="val 1149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19042" y="4571702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Historial de Fallas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25133" y="4462835"/>
            <a:ext cx="1738610" cy="380405"/>
          </a:xfrm>
          <a:prstGeom prst="roundRect">
            <a:avLst>
              <a:gd name="adj" fmla="val 1149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34001" y="4571702"/>
            <a:ext cx="130135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Casos Resueltos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57039"/>
            <a:ext cx="4815557" cy="346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Arquitectura Tecnológica Futura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876151"/>
            <a:ext cx="7642101" cy="34973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8790" y="1262721"/>
            <a:ext cx="1690519" cy="211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Datos y Nube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348790" y="1534143"/>
            <a:ext cx="1863328" cy="4515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SQLite, DuckDB, LoRaWAN/LTE, gemelo digital y dashboards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54157" y="2487525"/>
            <a:ext cx="1690519" cy="211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IA Edge Local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31617" y="2758948"/>
            <a:ext cx="1713059" cy="3010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Qwen, Gemma, DeepSeek, YOLO, Whisper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48790" y="3081085"/>
            <a:ext cx="1690519" cy="211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Campo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48790" y="3352508"/>
            <a:ext cx="1863328" cy="3010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Getac ZX10, sensores IoT, cámaras, micrófono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0912" y="4470871"/>
            <a:ext cx="7642101" cy="3155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Una arquitectura de borde a nube que garantiza operación continua en campo, con sincronización inteligente cuando hay conectividad disponible.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86209"/>
            <a:ext cx="6413450" cy="401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Impacto Medible: KPIs y ROI Esperado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610" y="1093217"/>
            <a:ext cx="3965674" cy="28544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3479" y="1078632"/>
            <a:ext cx="2984748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Beneficios Económicos Directos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9191" y="1410295"/>
            <a:ext cx="3979962" cy="9943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19067" y="1553021"/>
            <a:ext cx="1932161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Menos Visitas Repetidas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919067" y="1870100"/>
            <a:ext cx="3637359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Diagnósticos precisos desde la primera intervención reducen traslados innecesarios.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9191" y="2521074"/>
            <a:ext cx="3979962" cy="99439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19067" y="2663800"/>
            <a:ext cx="1735038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Menos Horas-Hombre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919067" y="2980879"/>
            <a:ext cx="3637359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Automatización de reportes y guías IA liberan hasta 30% del tiempo técnico.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9191" y="3631853"/>
            <a:ext cx="3979962" cy="99439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19067" y="3774579"/>
            <a:ext cx="2382217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Mayor Satisfacción del Cliente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919067" y="4091657"/>
            <a:ext cx="3637359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Trazabilidad completa y respuesta rápida generan contratos de largo plazo.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7096"/>
            <a:ext cx="6965305" cy="339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Roadmap 2026–2031 y Recomendación Ejecutiva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64782" y="842442"/>
            <a:ext cx="14288" cy="3113410"/>
          </a:xfrm>
          <a:prstGeom prst="roundRect">
            <a:avLst>
              <a:gd name="adj" fmla="val 319058"/>
            </a:avLst>
          </a:prstGeom>
          <a:solidFill>
            <a:srgbClr val="C0C1D7"/>
          </a:solidFill>
        </p:spPr>
      </p:sp>
      <p:sp>
        <p:nvSpPr>
          <p:cNvPr id="4" name="Shape 2"/>
          <p:cNvSpPr/>
          <p:nvPr/>
        </p:nvSpPr>
        <p:spPr>
          <a:xfrm>
            <a:off x="4138575" y="957337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</p:spPr>
      </p:sp>
      <p:sp>
        <p:nvSpPr>
          <p:cNvPr id="5" name="Shape 3"/>
          <p:cNvSpPr/>
          <p:nvPr/>
        </p:nvSpPr>
        <p:spPr>
          <a:xfrm>
            <a:off x="4449849" y="842442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90517" y="862757"/>
            <a:ext cx="162744" cy="203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72507" y="879723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Fase 1 · 2026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7336" y="1099096"/>
            <a:ext cx="3201888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Digitalización de campo con Getac ZX10 y captura estructurada de datos.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79714" y="1557635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</p:spPr>
      </p:sp>
      <p:sp>
        <p:nvSpPr>
          <p:cNvPr id="10" name="Shape 8"/>
          <p:cNvSpPr/>
          <p:nvPr/>
        </p:nvSpPr>
        <p:spPr>
          <a:xfrm>
            <a:off x="4449849" y="1442740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0517" y="1463055"/>
            <a:ext cx="162744" cy="203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14627" y="1480021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Fase 2 · 2027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14627" y="1699394"/>
            <a:ext cx="320196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IA Predictiva: modelos Edge AI, detección de anomalías y alertas automáticas.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38575" y="2093491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</p:spPr>
      </p:sp>
      <p:sp>
        <p:nvSpPr>
          <p:cNvPr id="15" name="Shape 13"/>
          <p:cNvSpPr/>
          <p:nvPr/>
        </p:nvSpPr>
        <p:spPr>
          <a:xfrm>
            <a:off x="4449849" y="1978596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0517" y="1998911"/>
            <a:ext cx="162744" cy="203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72507" y="2015877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Fase 3 · 2028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7336" y="2235250"/>
            <a:ext cx="3201888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Realidad Aumentada: guías visuales interactivas y asistencia remota en tiempo real.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79714" y="2629346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</p:spPr>
      </p:sp>
      <p:sp>
        <p:nvSpPr>
          <p:cNvPr id="20" name="Shape 18"/>
          <p:cNvSpPr/>
          <p:nvPr/>
        </p:nvSpPr>
        <p:spPr>
          <a:xfrm>
            <a:off x="4449849" y="2514451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0517" y="2534766"/>
            <a:ext cx="162744" cy="203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14627" y="2551733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Fase 4 · 2029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14627" y="2771105"/>
            <a:ext cx="320196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Gemelo Digital: réplica virtual de activos para simulación y optimización.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38575" y="3165202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</p:spPr>
      </p:sp>
      <p:sp>
        <p:nvSpPr>
          <p:cNvPr id="25" name="Shape 23"/>
          <p:cNvSpPr/>
          <p:nvPr/>
        </p:nvSpPr>
        <p:spPr>
          <a:xfrm>
            <a:off x="4449849" y="3050307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0517" y="3070622"/>
            <a:ext cx="162744" cy="203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72507" y="3087588"/>
            <a:ext cx="1356717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Fase 5 · 2030–31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7336" y="3306961"/>
            <a:ext cx="3201888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Agentes IA Autónomos: decisiones operativas automatizadas con supervisión humana.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27336" y="4049316"/>
            <a:ext cx="7489254" cy="663625"/>
          </a:xfrm>
          <a:prstGeom prst="roundRect">
            <a:avLst>
              <a:gd name="adj" fmla="val 6869"/>
            </a:avLst>
          </a:prstGeom>
          <a:solidFill>
            <a:srgbClr val="B6FCB8"/>
          </a:solidFill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831" y="4194721"/>
            <a:ext cx="135657" cy="10849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79984" y="4151188"/>
            <a:ext cx="7028111" cy="4598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Recomendación:</a:t>
            </a:r>
            <a:r>
              <a:rPr lang="en-US" sz="85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Implementar plataforma Getac ZX10 + IA Edge + AR + Analítica Predictiva para posicionarse como </a:t>
            </a:r>
            <a:r>
              <a:rPr lang="en-US" sz="850" b="1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referente tecnológico en monitoreo minero en Perú y LATAM</a:t>
            </a:r>
            <a:r>
              <a:rPr lang="en-US" sz="85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durante los próximos 5 años. Pocas empresas en la región ofrecen esta combinación de forma integrada.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4885</Words>
  <Application>WPS Presentation</Application>
  <PresentationFormat>On-screen Show (16:9)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Inter</vt:lpstr>
      <vt:lpstr>Inter</vt:lpstr>
      <vt:lpstr>Inter</vt:lpstr>
      <vt:lpstr>Inter Bold</vt:lpstr>
      <vt:lpstr>Inter Bold</vt:lpstr>
      <vt:lpstr>Inter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BEEMETRY</cp:lastModifiedBy>
  <cp:revision>2</cp:revision>
  <dcterms:created xsi:type="dcterms:W3CDTF">2026-06-09T20:56:00Z</dcterms:created>
  <dcterms:modified xsi:type="dcterms:W3CDTF">2026-06-09T20:58:40Z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70FF8827C0FF41E796CB5720117E9EDE_12</vt:lpwstr>
  </property>
  <property fmtid="{D5CDD505-2E9C-101B-9397-08002B2CF9AE}" pid="3" name="KSOProductBuildVer">
    <vt:lpwstr>2058-12.1.0.26880</vt:lpwstr>
  </property>
</Properties>
</file>