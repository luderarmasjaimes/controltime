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23a7908584679" /><Relationship Type="http://schemas.openxmlformats.org/officeDocument/2006/relationships/extended-properties" Target="/docProps/app.xml" Id="R05b5c6eb6db54edc" /><Relationship Type="http://schemas.openxmlformats.org/officeDocument/2006/relationships/officeDocument" Target="/ppt/presentation.xml" Id="R023095fbd7e84455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4a52508922d2426e"/>
  </p:sldMasterIdLst>
  <p:notesMasterIdLst>
    <p:notesMasterId xmlns:r="http://schemas.openxmlformats.org/officeDocument/2006/relationships" r:id="R10e14928771e44a7"/>
  </p:notesMasterIdLst>
  <p:sldIdLst>
    <p:sldId xmlns:r="http://schemas.openxmlformats.org/officeDocument/2006/relationships" id="256" r:id="R59bb3c6179ba4b75"/>
    <p:sldId xmlns:r="http://schemas.openxmlformats.org/officeDocument/2006/relationships" id="257" r:id="R73ba0b78483e4255"/>
    <p:sldId xmlns:r="http://schemas.openxmlformats.org/officeDocument/2006/relationships" id="258" r:id="R77174ac665ea4ca1"/>
    <p:sldId xmlns:r="http://schemas.openxmlformats.org/officeDocument/2006/relationships" id="259" r:id="R9338c6db05274aee"/>
    <p:sldId xmlns:r="http://schemas.openxmlformats.org/officeDocument/2006/relationships" id="260" r:id="Rb02c470c9e18415c"/>
    <p:sldId xmlns:r="http://schemas.openxmlformats.org/officeDocument/2006/relationships" id="261" r:id="R9f2fdd42bfea4806"/>
    <p:sldId xmlns:r="http://schemas.openxmlformats.org/officeDocument/2006/relationships" id="262" r:id="R4ce72660ea584f8a"/>
    <p:sldId xmlns:r="http://schemas.openxmlformats.org/officeDocument/2006/relationships" id="263" r:id="R9bf9c427001c4959"/>
    <p:sldId xmlns:r="http://schemas.openxmlformats.org/officeDocument/2006/relationships" id="264" r:id="Ra1a53fa3564d40cc"/>
    <p:sldId xmlns:r="http://schemas.openxmlformats.org/officeDocument/2006/relationships" id="265" r:id="Rf2e8d1660bf74395"/>
    <p:sldId xmlns:r="http://schemas.openxmlformats.org/officeDocument/2006/relationships" id="266" r:id="R861595b0caea44f2"/>
    <p:sldId xmlns:r="http://schemas.openxmlformats.org/officeDocument/2006/relationships" id="267" r:id="R8c85d30404684eda"/>
  </p:sldIdLst>
  <p:sldSz cx="9144000" cy="5143500"/>
  <p:notesSz cx="6858000" cy="9144000"/>
  <p:embeddedFontLst>
    <p:embeddedFont>
      <p:font typeface="Inter"/>
      <p:regular xmlns:r="http://schemas.openxmlformats.org/officeDocument/2006/relationships" r:id="R79b2f1562a5c4412"/>
    </p:embeddedFont>
    <p:embeddedFont>
      <p:font typeface="Inter"/>
      <p:regular xmlns:r="http://schemas.openxmlformats.org/officeDocument/2006/relationships" r:id="R0cc8f7f218714a20"/>
    </p:embeddedFont>
    <p:embeddedFont>
      <p:font typeface="Inter"/>
      <p:regular xmlns:r="http://schemas.openxmlformats.org/officeDocument/2006/relationships" r:id="Rd6c34a9f7ba448ab"/>
    </p:embeddedFont>
    <p:embeddedFont>
      <p:font typeface="Inter Bold"/>
      <p:bold xmlns:r="http://schemas.openxmlformats.org/officeDocument/2006/relationships" r:id="Rc59ec77e586f4491"/>
    </p:embeddedFont>
    <p:embeddedFont>
      <p:font typeface="Inter Bold"/>
      <p:bold xmlns:r="http://schemas.openxmlformats.org/officeDocument/2006/relationships" r:id="R7f56d9bf607a49ee"/>
    </p:embeddedFont>
    <p:embeddedFont>
      <p:font typeface="Inter Bold"/>
      <p:bold xmlns:r="http://schemas.openxmlformats.org/officeDocument/2006/relationships" r:id="Rd2714bc1aab24ae0"/>
    </p:embeddedFont>
    <p:embeddedFont>
      <p:font typeface="Calibri"/>
      <p:regular xmlns:r="http://schemas.openxmlformats.org/officeDocument/2006/relationships" r:id="Re61b4ffbe91444ad"/>
      <p:bold xmlns:r="http://schemas.openxmlformats.org/officeDocument/2006/relationships" r:id="Rb4c80939b2c942cc"/>
      <p:italic xmlns:r="http://schemas.openxmlformats.org/officeDocument/2006/relationships" r:id="R1f672cf779324c3d"/>
      <p:boldItalic xmlns:r="http://schemas.openxmlformats.org/officeDocument/2006/relationships" r:id="Re79a48e1da9e44e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2b8d601cb4fae" /><Relationship Type="http://schemas.openxmlformats.org/officeDocument/2006/relationships/slideMaster" Target="/ppt/slideMasters/slideMaster1.xml" Id="R4a52508922d2426e" /><Relationship Type="http://schemas.openxmlformats.org/officeDocument/2006/relationships/notesMaster" Target="/ppt/notesMasters/notesMaster1.xml" Id="R10e14928771e44a7" /><Relationship Type="http://schemas.openxmlformats.org/officeDocument/2006/relationships/presProps" Target="/ppt/presProps.xml" Id="R79d7e229809f4d11" /><Relationship Type="http://schemas.openxmlformats.org/officeDocument/2006/relationships/viewProps" Target="/ppt/viewProps.xml" Id="R7ca4060b9c104e05" /><Relationship Type="http://schemas.openxmlformats.org/officeDocument/2006/relationships/tableStyles" Target="/ppt/tableStyles.xml" Id="R18a0e2c1b6974bdf" /><Relationship Type="http://schemas.openxmlformats.org/officeDocument/2006/relationships/font" Target="/ppt/fonts/font.dat" Id="R79b2f1562a5c4412" /><Relationship Type="http://schemas.openxmlformats.org/officeDocument/2006/relationships/font" Target="/ppt/fonts/font2.dat" Id="R0cc8f7f218714a20" /><Relationship Type="http://schemas.openxmlformats.org/officeDocument/2006/relationships/font" Target="/ppt/fonts/font3.dat" Id="Rd6c34a9f7ba448ab" /><Relationship Type="http://schemas.openxmlformats.org/officeDocument/2006/relationships/font" Target="/ppt/fonts/font4.dat" Id="Rc59ec77e586f4491" /><Relationship Type="http://schemas.openxmlformats.org/officeDocument/2006/relationships/font" Target="/ppt/fonts/font5.dat" Id="R7f56d9bf607a49ee" /><Relationship Type="http://schemas.openxmlformats.org/officeDocument/2006/relationships/font" Target="/ppt/fonts/font6.dat" Id="Rd2714bc1aab24ae0" /><Relationship Type="http://schemas.openxmlformats.org/officeDocument/2006/relationships/font" Target="/ppt/fonts/font7.dat" Id="Re61b4ffbe91444ad" /><Relationship Type="http://schemas.openxmlformats.org/officeDocument/2006/relationships/font" Target="/ppt/fonts/font8.dat" Id="Rb4c80939b2c942cc" /><Relationship Type="http://schemas.openxmlformats.org/officeDocument/2006/relationships/font" Target="/ppt/fonts/font9.dat" Id="R1f672cf779324c3d" /><Relationship Type="http://schemas.openxmlformats.org/officeDocument/2006/relationships/font" Target="/ppt/fonts/font10.dat" Id="Re79a48e1da9e44ee" /><Relationship Type="http://schemas.openxmlformats.org/officeDocument/2006/relationships/slide" Target="/ppt/slides/slide1.xml" Id="R59bb3c6179ba4b75" /><Relationship Type="http://schemas.openxmlformats.org/officeDocument/2006/relationships/slide" Target="/ppt/slides/slide2.xml" Id="R73ba0b78483e4255" /><Relationship Type="http://schemas.openxmlformats.org/officeDocument/2006/relationships/slide" Target="/ppt/slides/slide3.xml" Id="R77174ac665ea4ca1" /><Relationship Type="http://schemas.openxmlformats.org/officeDocument/2006/relationships/slide" Target="/ppt/slides/slide4.xml" Id="R9338c6db05274aee" /><Relationship Type="http://schemas.openxmlformats.org/officeDocument/2006/relationships/slide" Target="/ppt/slides/slide5.xml" Id="Rb02c470c9e18415c" /><Relationship Type="http://schemas.openxmlformats.org/officeDocument/2006/relationships/slide" Target="/ppt/slides/slide6.xml" Id="R9f2fdd42bfea4806" /><Relationship Type="http://schemas.openxmlformats.org/officeDocument/2006/relationships/slide" Target="/ppt/slides/slide7.xml" Id="R4ce72660ea584f8a" /><Relationship Type="http://schemas.openxmlformats.org/officeDocument/2006/relationships/slide" Target="/ppt/slides/slide8.xml" Id="R9bf9c427001c4959" /><Relationship Type="http://schemas.openxmlformats.org/officeDocument/2006/relationships/slide" Target="/ppt/slides/slide9.xml" Id="Ra1a53fa3564d40cc" /><Relationship Type="http://schemas.openxmlformats.org/officeDocument/2006/relationships/slide" Target="/ppt/slides/slide10.xml" Id="Rf2e8d1660bf74395" /><Relationship Type="http://schemas.openxmlformats.org/officeDocument/2006/relationships/slide" Target="/ppt/slides/slide11.xml" Id="R861595b0caea44f2" /><Relationship Type="http://schemas.openxmlformats.org/officeDocument/2006/relationships/slide" Target="/ppt/slides/slide12.xml" Id="R8c85d3040468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49b0b281fd45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33c6554804022" /><Relationship Type="http://schemas.openxmlformats.org/officeDocument/2006/relationships/notesMaster" Target="/ppt/notesMasters/notesMaster1.xml" Id="R8c73b7d2c9a5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cfa011fb64ab3" /><Relationship Type="http://schemas.openxmlformats.org/officeDocument/2006/relationships/notesMaster" Target="/ppt/notesMasters/notesMaster1.xml" Id="R5510735da04b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a4c97a9be74932" /><Relationship Type="http://schemas.openxmlformats.org/officeDocument/2006/relationships/notesMaster" Target="/ppt/notesMasters/notesMaster1.xml" Id="R0c42aa2e4e554f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9fcb88668b479e" /><Relationship Type="http://schemas.openxmlformats.org/officeDocument/2006/relationships/notesMaster" Target="/ppt/notesMasters/notesMaster1.xml" Id="R4f5b181f1c564c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f78c62748b4628" /><Relationship Type="http://schemas.openxmlformats.org/officeDocument/2006/relationships/notesMaster" Target="/ppt/notesMasters/notesMaster1.xml" Id="R01e168b019904c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68bfc4fb8a4139" /><Relationship Type="http://schemas.openxmlformats.org/officeDocument/2006/relationships/notesMaster" Target="/ppt/notesMasters/notesMaster1.xml" Id="Rb7a637b9cd22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49e9cbbc73400e" /><Relationship Type="http://schemas.openxmlformats.org/officeDocument/2006/relationships/notesMaster" Target="/ppt/notesMasters/notesMaster1.xml" Id="R370c0d0274d742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1a18c12b8d4902" /><Relationship Type="http://schemas.openxmlformats.org/officeDocument/2006/relationships/notesMaster" Target="/ppt/notesMasters/notesMaster1.xml" Id="Rc9fd93e2b25541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79c0fa8ffc488c" /><Relationship Type="http://schemas.openxmlformats.org/officeDocument/2006/relationships/notesMaster" Target="/ppt/notesMasters/notesMaster1.xml" Id="R31f2bacc69fe4e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20537932ea4152" /><Relationship Type="http://schemas.openxmlformats.org/officeDocument/2006/relationships/notesMaster" Target="/ppt/notesMasters/notesMaster1.xml" Id="R390b96afacf04c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aa594227774926" /><Relationship Type="http://schemas.openxmlformats.org/officeDocument/2006/relationships/notesMaster" Target="/ppt/notesMasters/notesMaster1.xml" Id="Raf8163072db848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eb2c1cadbb4a9b" /><Relationship Type="http://schemas.openxmlformats.org/officeDocument/2006/relationships/notesMaster" Target="/ppt/notesMasters/notesMaster1.xml" Id="R44d6898fd41944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D:\InformeCliente</a:t>
            </a:r>
            <a:endParaRPr/>
          </a:p>
          <a:p xmlns:a="http://schemas.openxmlformats.org/drawingml/2006/main">
            <a:r>
              <a:t>- 1._Presentación_TMT.pdf</a:t>
            </a:r>
            <a:endParaRPr/>
          </a:p>
          <a:p xmlns:a="http://schemas.openxmlformats.org/drawingml/2006/main">
            <a:r>
              <a:t>- Plantilla Telemetry (2).potx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Matriz_Costos_Cronograma_26_Semanas.md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Captura de límites suministrada por el usuario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- 1._Presentación_TMT.pdf</a:t>
            </a:r>
            <a:endParaRPr/>
          </a:p>
          <a:p xmlns:a="http://schemas.openxmlformats.org/drawingml/2006/main">
            <a:r>
              <a:t>- specs/*/spec.md</a:t>
            </a:r>
            <a:endParaRPr/>
          </a:p>
          <a:p xmlns:a="http://schemas.openxmlformats.org/drawingml/2006/main">
            <a:r>
              <a:t>- frontend y backend del repositorio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specs/*/tasks.md</a:t>
            </a:r>
            <a:endParaRPr/>
          </a:p>
          <a:p xmlns:a="http://schemas.openxmlformats.org/drawingml/2006/main">
            <a:r>
              <a:t>- PRUEBA_CAPACIDAD_TELEMETRIA_25K_2026-08-12.md</a:t>
            </a:r>
            <a:endParaRPr/>
          </a:p>
          <a:p xmlns:a="http://schemas.openxmlformats.org/drawingml/2006/main">
            <a:r>
              <a:t>- PRUEBA_CAPACIDAD_TELEMETRIA_100K_2026-08-11.md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SPEC-015</a:t>
            </a:r>
            <a:endParaRPr/>
          </a:p>
          <a:p xmlns:a="http://schemas.openxmlformats.org/drawingml/2006/main">
            <a:r>
              <a:t>- Catalogo_Casos_Prueba_QA_2026-07-21.md</a:t>
            </a:r>
            <a:endParaRPr/>
          </a:p>
          <a:p xmlns:a="http://schemas.openxmlformats.org/drawingml/2006/main">
            <a:r>
              <a:t>- .github/workflows/ci.yml y ci-cd.yml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SPEC-019 y ADR-103</a:t>
            </a:r>
            <a:endParaRPr/>
          </a:p>
          <a:p xmlns:a="http://schemas.openxmlformats.org/drawingml/2006/main">
            <a:r>
              <a:t>- ADR-054</a:t>
            </a:r>
            <a:endParaRPr/>
          </a:p>
          <a:p xmlns:a="http://schemas.openxmlformats.org/drawingml/2006/main">
            <a:r>
              <a:t>- 1._Presentación_TMT.pdf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SPEC-016, SPEC-017 y SPEC-018</a:t>
            </a:r>
            <a:endParaRPr/>
          </a:p>
          <a:p xmlns:a="http://schemas.openxmlformats.org/drawingml/2006/main">
            <a:r>
              <a:t>- frontend/src</a:t>
            </a:r>
            <a:endParaRPr/>
          </a:p>
          <a:p xmlns:a="http://schemas.openxmlformats.org/drawingml/2006/main">
            <a:r>
              <a:t>- 1._Presentación_TMT.pdf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agents/registry.yaml</a:t>
            </a:r>
            <a:endParaRPr/>
          </a:p>
          <a:p xmlns:a="http://schemas.openxmlformats.org/drawingml/2006/main">
            <a:r>
              <a:t>- ai_platform/</a:t>
            </a:r>
            <a:endParaRPr/>
          </a:p>
          <a:p xmlns:a="http://schemas.openxmlformats.org/drawingml/2006/main">
            <a:r>
              <a:t>- specs/CONSTITUTION.md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Matriz_Costos_Cronograma_26_Semanas.md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specs/CONSTITUTION.md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D:\InformeCliente</a:t>
            </a:r>
            <a:endParaRPr/>
          </a:p>
          <a:p xmlns:a="http://schemas.openxmlformats.org/drawingml/2006/main">
            <a:r>
              <a:t>- Matriz_Costos_Cronograma_26_Semanas.md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b37baee2e41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dc0dc7f014042" /><Relationship Type="http://schemas.openxmlformats.org/officeDocument/2006/relationships/image" Target="/ppt/media/image.png" Id="R14c86a3ea3fe4a1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86DAA7-4C94-4AF9-9A63-DBE6B776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F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CA0BB39-AFB3-452A-B82B-BE89076B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86a3ea3fe4a1c"/>
          <a:stretch xmlns:a="http://schemas.openxmlformats.org/drawingml/2006/main"/>
        </p:blipFill>
        <p:spPr>
          <a:xfrm xmlns:a="http://schemas.openxmlformats.org/drawingml/2006/main">
            <a:off x="8186060" y="4844491"/>
            <a:ext cx="758084" cy="25603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1c7c60672f42cc" /><Relationship Type="http://schemas.openxmlformats.org/officeDocument/2006/relationships/slideLayout" Target="/ppt/slideLayouts/slideLayout1.xml" Id="R16c42badf1444c15" /><Relationship Type="http://schemas.openxmlformats.org/officeDocument/2006/relationships/slideLayout" Target="/ppt/slideLayouts/slideLayout2.xml" Id="Rd36cdca2ef924c1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c42badf1444c15"/>
    <p:sldLayoutId xmlns:r="http://schemas.openxmlformats.org/officeDocument/2006/relationships" id="2147483650" r:id="Rd36cdca2ef924c1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445d7609e9460d" /><Relationship Type="http://schemas.openxmlformats.org/officeDocument/2006/relationships/image" Target="/ppt/media/image2.png" Id="Ree39b6e1ace845f7" /><Relationship Type="http://schemas.openxmlformats.org/officeDocument/2006/relationships/notesSlide" Target="/ppt/notesSlides/notesSlide1.xml" Id="Ra51fcee174ff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94a557d104867" /><Relationship Type="http://schemas.openxmlformats.org/officeDocument/2006/relationships/image" Target="/ppt/media/image3.png" Id="Rcc44c3309e0145b0" /><Relationship Type="http://schemas.openxmlformats.org/officeDocument/2006/relationships/notesSlide" Target="/ppt/notesSlides/notesSlide2.xml" Id="R2272945fcd3b43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107451abae4633" /><Relationship Type="http://schemas.openxmlformats.org/officeDocument/2006/relationships/image" Target="/ppt/media/image4.png" Id="Raddc7a11ae714fd8" /><Relationship Type="http://schemas.openxmlformats.org/officeDocument/2006/relationships/notesSlide" Target="/ppt/notesSlides/notesSlide3.xml" Id="R977228d73cbd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471eb611004974" /><Relationship Type="http://schemas.openxmlformats.org/officeDocument/2006/relationships/image" Target="/ppt/media/image5.png" Id="Rf4af6a38e2844215" /><Relationship Type="http://schemas.openxmlformats.org/officeDocument/2006/relationships/image" Target="/ppt/media/image.svg" Id="R6937017693db4ec7" /><Relationship Type="http://schemas.openxmlformats.org/officeDocument/2006/relationships/image" Target="/ppt/media/image.png" Id="R4a55498611014320" /><Relationship Type="http://schemas.openxmlformats.org/officeDocument/2006/relationships/notesSlide" Target="/ppt/notesSlides/notesSlide4.xml" Id="R3c11e3e34ef041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f2ec661ac434b" /><Relationship Type="http://schemas.openxmlformats.org/officeDocument/2006/relationships/image" Target="/ppt/media/image6.png" Id="R91a730b3318e4b2c" /><Relationship Type="http://schemas.openxmlformats.org/officeDocument/2006/relationships/image" Target="/ppt/media/image2.svg" Id="R1329f8d9b1734c61" /><Relationship Type="http://schemas.openxmlformats.org/officeDocument/2006/relationships/image" Target="/ppt/media/image2.png" Id="R0de175f34da14436" /><Relationship Type="http://schemas.openxmlformats.org/officeDocument/2006/relationships/chart" Target="/ppt/slides/charts/chart1.xml" Id="R98e4790372b54016" /><Relationship Type="http://schemas.openxmlformats.org/officeDocument/2006/relationships/notesSlide" Target="/ppt/notesSlides/notesSlide5.xml" Id="Rbd9b1a99e3054b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2354beecdd434f" /><Relationship Type="http://schemas.openxmlformats.org/officeDocument/2006/relationships/image" Target="/ppt/media/image7.png" Id="Rdb0232ae12f447cb" /><Relationship Type="http://schemas.openxmlformats.org/officeDocument/2006/relationships/image" Target="/ppt/media/image8.png" Id="R61f693a0744a453a" /><Relationship Type="http://schemas.openxmlformats.org/officeDocument/2006/relationships/image" Target="/ppt/media/image9.png" Id="R25e78d6f31014ead" /><Relationship Type="http://schemas.openxmlformats.org/officeDocument/2006/relationships/notesSlide" Target="/ppt/notesSlides/notesSlide6.xml" Id="R981ea80154414d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2368c36714946" /><Relationship Type="http://schemas.openxmlformats.org/officeDocument/2006/relationships/image" Target="/ppt/media/image7.png" Id="R2c0f561fe70f4cef" /><Relationship Type="http://schemas.openxmlformats.org/officeDocument/2006/relationships/image" Target="/ppt/media/image8.png" Id="R84df58d281244833" /><Relationship Type="http://schemas.openxmlformats.org/officeDocument/2006/relationships/image" Target="/ppt/media/image9.png" Id="R03f76ef6d4b74820" /><Relationship Type="http://schemas.openxmlformats.org/officeDocument/2006/relationships/notesSlide" Target="/ppt/notesSlides/notesSlide7.xml" Id="Rd4ec873bd59c42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3bbdebc414b12" /><Relationship Type="http://schemas.openxmlformats.org/officeDocument/2006/relationships/image" Target="/ppt/media/image7.png" Id="R49ac8d925c954abe" /><Relationship Type="http://schemas.openxmlformats.org/officeDocument/2006/relationships/image" Target="/ppt/media/image8.png" Id="R4011b47e18c14514" /><Relationship Type="http://schemas.openxmlformats.org/officeDocument/2006/relationships/image" Target="/ppt/media/image9.png" Id="Rabea86fe39e844d9" /><Relationship Type="http://schemas.openxmlformats.org/officeDocument/2006/relationships/notesSlide" Target="/ppt/notesSlides/notesSlide8.xml" Id="R69a30819bda244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2ea4cd99ca42d3" /><Relationship Type="http://schemas.openxmlformats.org/officeDocument/2006/relationships/image" Target="/ppt/media/image10.png" Id="R4923d7186d3946e7" /><Relationship Type="http://schemas.openxmlformats.org/officeDocument/2006/relationships/image" Target="/ppt/media/image3.svg" Id="R78420b1786fe47ce" /><Relationship Type="http://schemas.openxmlformats.org/officeDocument/2006/relationships/notesSlide" Target="/ppt/notesSlides/notesSlide9.xml" Id="R332dbd9f33994e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de4a0032241e7" /><Relationship Type="http://schemas.openxmlformats.org/officeDocument/2006/relationships/image" Target="/ppt/media/image6.png" Id="Rc678ff33752c4012" /><Relationship Type="http://schemas.openxmlformats.org/officeDocument/2006/relationships/image" Target="/ppt/media/image2.png" Id="Rc7630f0b562a46de" /><Relationship Type="http://schemas.openxmlformats.org/officeDocument/2006/relationships/image" Target="/ppt/media/image2.svg" Id="R0c0ecf75c7784658" /><Relationship Type="http://schemas.openxmlformats.org/officeDocument/2006/relationships/chart" Target="/ppt/slides/charts/chart2.xml" Id="R6908f7dd40cc4224" /><Relationship Type="http://schemas.openxmlformats.org/officeDocument/2006/relationships/notesSlide" Target="/ppt/notesSlides/notesSlide10.xml" Id="Ra3dca1c5fe174f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3c7b77aaf349c6" /><Relationship Type="http://schemas.openxmlformats.org/officeDocument/2006/relationships/image" Target="/ppt/media/image11.png" Id="R2d77221af4f44f5f" /><Relationship Type="http://schemas.openxmlformats.org/officeDocument/2006/relationships/notesSlide" Target="/ppt/notesSlides/notesSlide11.xml" Id="R676aa1d7e9e54d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311dbe40c40d5" /><Relationship Type="http://schemas.openxmlformats.org/officeDocument/2006/relationships/image" Target="/ppt/media/image3.png" Id="Rec9db5ac5ba94566" /><Relationship Type="http://schemas.openxmlformats.org/officeDocument/2006/relationships/notesSlide" Target="/ppt/notesSlides/notesSlide12.xml" Id="R6689fc1c3969432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Checklist abierto por frente (68)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Ítems abiertos</c:v>
          </c:tx>
          <c:spPr>
            <a:solidFill xmlns:a="http://schemas.openxmlformats.org/drawingml/2006/main">
              <a:srgbClr val="EF6535"/>
            </a:solidFill>
          </c:spPr>
          <c:cat>
            <c:strLit>
              <c:ptCount val="3"/>
              <c:pt idx="0">
                <c:v>Confiabilidad y datos</c:v>
              </c:pt>
              <c:pt idx="1">
                <c:v>IA, seguridad y campo</c:v>
              </c:pt>
              <c:pt idx="2">
                <c:v>Producto e integraciones</c:v>
              </c:pt>
            </c:strLit>
          </c:cat>
          <c:val>
            <c:numLit>
              <c:formatCode>General</c:formatCode>
              <c:ptCount val="3"/>
              <c:pt idx="0">
                <c:v>36</c:v>
              </c:pt>
              <c:pt idx="1">
                <c:v>19</c:v>
              </c:pt>
              <c:pt idx="2">
                <c:v>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27252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10 licencias = 0,93% del proyecto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doughnutChart>
        <c:ser>
          <c:idx val="0"/>
          <c:order val="0"/>
          <c:tx>
            <c:v>USD</c:v>
          </c:tx>
          <c:dPt>
            <c:idx val="0"/>
            <c:spPr>
              <a:solidFill xmlns:a="http://schemas.openxmlformats.org/drawingml/2006/main">
                <a:srgbClr val="EF6535"/>
              </a:solidFill>
            </c:spPr>
          </c:dPt>
          <c:dPt>
            <c:idx val="1"/>
            <c:spPr>
              <a:solidFill xmlns:a="http://schemas.openxmlformats.org/drawingml/2006/main">
                <a:srgbClr val="E8E3E0"/>
              </a:solidFill>
            </c:spPr>
          </c:dPt>
          <c:cat>
            <c:strLit>
              <c:ptCount val="2"/>
              <c:pt idx="0">
                <c:v>10 licencias Claude Pro</c:v>
              </c:pt>
              <c:pt idx="1">
                <c:v>Presupuesto restante</c:v>
              </c:pt>
            </c:strLit>
          </c:cat>
          <c:val>
            <c:numLit>
              <c:formatCode>General</c:formatCode>
              <c:ptCount val="2"/>
              <c:pt idx="0">
                <c:v>2000</c:v>
              </c:pt>
              <c:pt idx="1">
                <c:v>212781.2</c:v>
              </c:pt>
            </c:numLit>
          </c:val>
        </c:ser>
        <c:firstSliceAng val="270"/>
        <c:holeSize val="68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9b6e1ace845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CEE6B30-A446-4843-93A0-BF0F36C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1520651"/>
            <a:ext cx="1671191" cy="266402"/>
          </a:xfrm>
          <a:prstGeom xmlns:a="http://schemas.openxmlformats.org/drawingml/2006/main" prst="roundRect">
            <a:avLst>
              <a:gd name="adj" fmla="val 17880"/>
            </a:avLst>
          </a:prstGeom>
          <a:solidFill xmlns:a="http://schemas.openxmlformats.org/drawingml/2006/main">
            <a:srgbClr val="FBE5D6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4B3D404-503A-443D-A6F0-EBCCD10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74" y="1563142"/>
            <a:ext cx="1958280" cy="1814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DECISIÓN GERENCIAL · AGOSTO 2026</a:t>
            </a:r>
            <a:endParaRPr sz="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F774107-0C72-494A-83CF-F10952F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1843757"/>
            <a:ext cx="4722763" cy="885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Claude Pro para acelerar la Plataforma Minera</a:t>
            </a:r>
            <a:endParaRPr sz="27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96B3BEE-0923-4796-8991-D9B523A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2942332"/>
            <a:ext cx="4722763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Solicitud: aprobar USD 200/año por usuario para sostener desarrollo, pruebas e integraciones críticas de TimeTelemetry.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24870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4c3309e0145b0"/>
          <a:srcRect xmlns:a="http://schemas.openxmlformats.org/drawingml/2006/main" l="31254" t="0" r="31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821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Recomendación: aprobar ahora, con control y medición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El costo es marginal frente al proyecto; el riesgo de detener trabajo crítico es material.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Desbloqueo inmediato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Una licencia Pro reduce esperas por cuota y mantiene continuidad en ingeniería.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Uso con gobernanza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Sin credenciales ni datos sensibles; revisión humana, SPEC/ADR y pruebas antes de integrar.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KPI de 30 días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Horas evitadas, tareas cerradas, pruebas generadas y defectos detectados.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906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Escalamiento por evidencia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Agregar licencias cuando la demanda concurrente y los límites semanales lo justifiquen.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c7a11ae714fd8"/>
          <a:stretch xmlns:a="http://schemas.openxmlformats.org/drawingml/2006/main"/>
        </p:blipFill>
        <p:spPr>
          <a:xfrm xmlns:a="http://schemas.openxmlformats.org/drawingml/2006/main">
            <a:off x="0" y="1488530"/>
            <a:ext cx="3429000" cy="2166439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13B761D-878A-4C06-B453-D142BD6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871" y="417835"/>
            <a:ext cx="4831259" cy="789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4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El cuello de botella ya es operativo, no hipotético</a:t>
            </a:r>
            <a:endParaRPr sz="24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1B507D5-8B4E-48AA-9B5A-4B23D00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871" y="1375544"/>
            <a:ext cx="4831259" cy="3818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272525"/>
                </a:solidFill>
                <a:latin typeface="Inter"/>
                <a:ea typeface="Inter"/>
                <a:cs typeface="Inter"/>
              </a:rPr>
              <a:t>La evidencia muestra consumo intensivo y límites que interrumpen sesiones justo cuando el proyecto entra en pruebas e integración.</a:t>
            </a:r>
            <a:endParaRPr sz="9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24B8874-F9BD-446E-85ED-024F7EBD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871" y="1883941"/>
            <a:ext cx="4831259" cy="2841724"/>
          </a:xfrm>
          <a:prstGeom xmlns:a="http://schemas.openxmlformats.org/drawingml/2006/main" prst="roundRect">
            <a:avLst>
              <a:gd name="adj" fmla="val 186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893A73C-CA1A-4F5A-940A-E5725E8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633" y="1888703"/>
            <a:ext cx="4821734" cy="70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578C22-D13D-4CD3-B9F2-C42A5B31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2014910"/>
            <a:ext cx="1578248" cy="197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77% de la sesión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3BB9968-65D0-4270-B3AA-256E89D5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2279600"/>
            <a:ext cx="4569321" cy="190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272525"/>
                </a:solidFill>
                <a:latin typeface="Inter"/>
                <a:ea typeface="Inter"/>
                <a:cs typeface="Inter"/>
              </a:rPr>
              <a:t>Capacidad consumida; el reinicio ocurre horas después.</a:t>
            </a:r>
            <a:endParaRPr sz="9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9FBAEE-0B39-47FD-8728-DA50C99C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633" y="2596753"/>
            <a:ext cx="4821734" cy="70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ED5C5F-4979-4F32-A0E8-B1A28C56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633" y="2596753"/>
            <a:ext cx="4821734" cy="14288"/>
          </a:xfrm>
          <a:prstGeom xmlns:a="http://schemas.openxmlformats.org/drawingml/2006/main" prst="roundRect">
            <a:avLst>
              <a:gd name="adj" fmla="val 371150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20E2CB7-6DB3-438A-8B9C-76F4A88D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2722959"/>
            <a:ext cx="1578248" cy="197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Límite semanal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85C581B-F050-4FEE-8A00-9F102851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2987650"/>
            <a:ext cx="4569321" cy="190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272525"/>
                </a:solidFill>
                <a:latin typeface="Inter"/>
                <a:ea typeface="Inter"/>
                <a:cs typeface="Inter"/>
              </a:rPr>
              <a:t>El plan aplica límites adicionales y la capacidad promocional es temporal.</a:t>
            </a:r>
            <a:endParaRPr sz="9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0D9F6FF-9F7D-4391-96BE-91D93E7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633" y="3304803"/>
            <a:ext cx="4821734" cy="70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3A8ECBE-7F3F-490C-B647-29CAF6B7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633" y="3304803"/>
            <a:ext cx="4821734" cy="14288"/>
          </a:xfrm>
          <a:prstGeom xmlns:a="http://schemas.openxmlformats.org/drawingml/2006/main" prst="roundRect">
            <a:avLst>
              <a:gd name="adj" fmla="val 371150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5386A07-E7F6-4924-B4BF-AFE91F7B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3431009"/>
            <a:ext cx="1578248" cy="197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Impacto directo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BB79FBE-6DA0-4FB0-94C9-08A7286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3695700"/>
            <a:ext cx="4569321" cy="190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272525"/>
                </a:solidFill>
                <a:latin typeface="Inter"/>
                <a:ea typeface="Inter"/>
                <a:cs typeface="Inter"/>
              </a:rPr>
              <a:t>Análisis, generación, revisión y depuración se detienen o cambian de herramienta.</a:t>
            </a:r>
            <a:endParaRPr sz="9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9BA06-AE5D-4B2D-8550-CCF4A4BF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633" y="4012853"/>
            <a:ext cx="4821734" cy="70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BA26FEA-C259-48F8-9029-DE66C1DA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633" y="4012853"/>
            <a:ext cx="4821734" cy="14288"/>
          </a:xfrm>
          <a:prstGeom xmlns:a="http://schemas.openxmlformats.org/drawingml/2006/main" prst="roundRect">
            <a:avLst>
              <a:gd name="adj" fmla="val 371150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C2CAD2B-3A98-4635-866F-CC91D4D5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4139059"/>
            <a:ext cx="2059112" cy="197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Riesgo de equipo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3011F7C-FE7F-4BCB-BE4E-0B9C9901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839" y="4403750"/>
            <a:ext cx="4569321" cy="190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6000"/>
              </a:lnSpc>
              <a:buNone/>
            </a:pPr>
            <a:r>
              <a:rPr sz="950">
                <a:solidFill>
                  <a:srgbClr val="272525"/>
                </a:solidFill>
                <a:latin typeface="Inter"/>
                <a:ea typeface="Inter"/>
                <a:cs typeface="Inter"/>
              </a:rPr>
              <a:t>Más personal implica demanda concurrente; una sola cuenta no escala.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6771526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CA7B35-42D8-46BA-88BC-033A046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82" y="296242"/>
            <a:ext cx="6928470" cy="3253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 plataforma cubre el ciclo completo sensor → decisión</a:t>
            </a:r>
            <a:endParaRPr sz="2000"/>
          </a:p>
        </p:txBody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f6a38e2844215"/>
          <a:stretch xmlns:a="http://schemas.openxmlformats.org/drawingml/2006/main"/>
        </p:blipFill>
        <p:spPr>
          <a:xfrm xmlns:a="http://schemas.openxmlformats.org/drawingml/2006/main">
            <a:off x="980182" y="1445817"/>
            <a:ext cx="2849984" cy="160275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D6849EB-E44A-4287-87C2-814699EB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254" y="1958280"/>
            <a:ext cx="2349178" cy="5777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</a:pPr>
            <a:r>
              <a:rPr sz="8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 es un editor de informes: conecta instrumentación, telemetría, datos, campo e IA con trazabilidad empresarial.</a:t>
            </a:r>
            <a:endParaRPr sz="800"/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498611014320">
            <a:extLst>
              <a:ext uri="{96DAC541-7B7A-43D3-8B79-37D633B846F1}">
                <asvg:svgBlip xmlns:asvg="http://schemas.microsoft.com/office/drawing/2016/SVG/main" r:embed="R6937017693db4e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" y="3847319"/>
            <a:ext cx="156121" cy="156121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04E20AB0-3734-4A1A-A44C-8B7363BC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68" y="3844082"/>
            <a:ext cx="1554212" cy="1626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Sensores y campo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558D465-3B9C-409F-BC85-5D9C72D5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68" y="4052590"/>
            <a:ext cx="3205683" cy="1444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</a:pPr>
            <a:r>
              <a:rPr sz="8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Instalación, calibración, mantenimiento y captura manual o automática.</a:t>
            </a:r>
            <a:endParaRPr sz="800"/>
          </a:p>
        </p:txBody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498611014320">
            <a:extLst>
              <a:ext uri="{96DAC541-7B7A-43D3-8B79-37D633B846F1}">
                <asvg:svgBlip xmlns:asvg="http://schemas.microsoft.com/office/drawing/2016/SVG/main" r:embed="R6937017693db4e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8692" y="3847319"/>
            <a:ext cx="156121" cy="156121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554B50CB-BF3C-4F64-A09E-5E769E9C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986" y="3844082"/>
            <a:ext cx="1301353" cy="1626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Core de telemetría</a:t>
            </a:r>
            <a:endParaRPr sz="100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A1E974E2-A873-41F6-8F88-7A9C47FC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986" y="4052590"/>
            <a:ext cx="3205758" cy="1444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</a:pPr>
            <a:r>
              <a:rPr sz="8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Ingesta durable, tiempo real, histórico, reglas y observabilidad.</a:t>
            </a:r>
            <a:endParaRPr sz="800"/>
          </a:p>
        </p:txBody>
      </p:sp>
      <p:pic>
        <p:nvPicPr>
          <p:cNvPr id="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498611014320">
            <a:extLst>
              <a:ext uri="{96DAC541-7B7A-43D3-8B79-37D633B846F1}">
                <asvg:svgBlip xmlns:asvg="http://schemas.microsoft.com/office/drawing/2016/SVG/main" r:embed="R6937017693db4e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" y="4353111"/>
            <a:ext cx="156121" cy="156121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C1D6B2E0-FCB7-48CD-862B-E3138154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68" y="4349874"/>
            <a:ext cx="1971526" cy="1626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Experiencia operativa</a:t>
            </a:r>
            <a:endParaRPr sz="100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3CB96276-231A-418E-9731-85DBD129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68" y="4558382"/>
            <a:ext cx="3205683" cy="1444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</a:pPr>
            <a:r>
              <a:rPr sz="800">
                <a:solidFill>
                  <a:srgbClr val="272525"/>
                </a:solidFill>
                <a:latin typeface="Inter"/>
                <a:ea typeface="Inter"/>
                <a:cs typeface="Inter"/>
              </a:rPr>
              <a:t>Mapas 2D/3D, radar, dashboards, CCTV, alertas e informes.</a:t>
            </a:r>
            <a:endParaRPr sz="800"/>
          </a:p>
        </p:txBody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498611014320">
            <a:extLst>
              <a:ext uri="{96DAC541-7B7A-43D3-8B79-37D633B846F1}">
                <asvg:svgBlip xmlns:asvg="http://schemas.microsoft.com/office/drawing/2016/SVG/main" r:embed="R6937017693db4e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8692" y="4353111"/>
            <a:ext cx="156121" cy="156121"/>
          </a:xfrm>
          <a:prstGeom xmlns:a="http://schemas.openxmlformats.org/drawingml/2006/main" prst="rect">
            <a:avLst/>
          </a:prstGeom>
        </p:spPr>
      </p:pic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E626FF0F-763C-4766-BD75-E6ACB54E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986" y="4349874"/>
            <a:ext cx="2885554" cy="1626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IA aplicada</a:t>
            </a:r>
            <a:endParaRPr sz="1000"/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B3D4C951-1E7F-48C0-B1A0-4D46A387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986" y="4558382"/>
            <a:ext cx="3205758" cy="288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</a:pPr>
            <a:r>
              <a:rPr sz="800">
                <a:solidFill>
                  <a:srgbClr val="272525"/>
                </a:solidFill>
                <a:latin typeface="Inter"/>
                <a:ea typeface="Inter"/>
                <a:cs typeface="Inter"/>
              </a:rPr>
              <a:t>Predicción, anomalías, voz, visión EPP, asistencia y generación documental.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746284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454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El avance es significativo, pero la mitad del checklist sigue abierta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730b3318e4b2c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Evidencia ejecutiva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175f34da14436">
            <a:extLst>
              <a:ext uri="{96DAC541-7B7A-43D3-8B79-37D633B846F1}">
                <asvg:svgBlip xmlns:asvg="http://schemas.microsoft.com/office/drawing/2016/SVG/main" r:embed="R1329f8d9b1734c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25k/s verificados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1,5 M eventos en 60 s, p99 149,8 ms y recuperación de DB sin pérdida.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175f34da14436">
            <a:extLst>
              <a:ext uri="{96DAC541-7B7A-43D3-8B79-37D633B846F1}">
                <asvg:svgBlip xmlns:asvg="http://schemas.microsoft.com/office/drawing/2016/SVG/main" r:embed="R1329f8d9b1734c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100k/s aún no aprobado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Faltan escalamiento, HA real y soak tests de 1 h/24 h.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175f34da14436">
            <a:extLst>
              <a:ext uri="{96DAC541-7B7A-43D3-8B79-37D633B846F1}">
                <asvg:svgBlip xmlns:asvg="http://schemas.microsoft.com/office/drawing/2016/SVG/main" r:embed="R1329f8d9b1734c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68 ítems abiertos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Pendientes en 16 SPEC: DR, offline, alertas, EPP, voz, HA, RP y más.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e4790372b54016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854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Pendientes críticos I: confiabilidad, pruebas y despliegue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La entrega empresarial exige cerrar capacidades que no se validan con una demo funcional.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232ae12f447cb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Resiliencia y DR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RTO &lt;15 min, RPO≈0, backup/restore, failover, fencing y runbook ejecutado por otro operador.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693a0744a453a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Pruebas de esfuerzo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50k→75k→100k/s, soak 1 h/24 h, backpressure y fallas de DB/broker.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78d6f31014ead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CI/CD y ciberseguridad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Despliegue reproducible, rollback, TLS, SAST/DAST, pentest y evidencia de gates.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103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Pendientes críticos II: integración y automatización de campo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El valor de negocio depende de conectar la plataforma con la operación real.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f561fe70f4cef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AWS / ThingsBoard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Validar con el cliente: credenciales, TLS, deduplicación y degradación controlada.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58d281244833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41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RP TimeTelemetry / Odoo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Build limpio y E2E real: réplica, outbox, XML-RPC, circuit breaker, permisos y WebSocket.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76ef6d4b74820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237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Sensores y personal de campo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Onboarding, zonas, calibración, inventario, offline, movilidad entre minas y multi-país.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525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Pendientes críticos III: producto avanzado e IA operacional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Las bases existen; falta convertirlas en capacidades verificadas y sostenibles.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c8d925c954abe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Visualización avanzada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Radar, series, heatmaps, mapas 3D, geoespacial y dashboards configurables.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1b47e18c14514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Alarmas y predicción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Reglas por sensor, debounce, anomalías, pronóstico, severidad y escalamiento multicanal.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a86fe39e844d9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IA en campo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Visión EPP local, dictado con ruido, asistencia e informes predictivos con historial.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3DD7FD-3020-4218-A1CD-6952149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2" y="357039"/>
            <a:ext cx="4815557" cy="346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636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Claude actúa como multiplicador transversal del equipo</a:t>
            </a:r>
            <a:endParaRPr sz="2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3d7186d3946e7">
            <a:extLst>
              <a:ext uri="{96DAC541-7B7A-43D3-8B79-37D633B846F1}">
                <asvg:svgBlip xmlns:asvg="http://schemas.microsoft.com/office/drawing/2016/SVG/main" r:embed="R78420b1786fe47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912" y="876151"/>
            <a:ext cx="7642101" cy="3497387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A91F9EF-10CE-4DCE-ABC7-6ED1522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1262721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Ingeniería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CC63D0-61A6-41C8-964A-E1C4985B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1534143"/>
            <a:ext cx="1863328" cy="451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Inter"/>
                <a:ea typeface="Inter"/>
                <a:cs typeface="Inter"/>
              </a:rPr>
              <a:t>C++ · React · datos · IA</a:t>
            </a:r>
            <a:endParaRPr sz="10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9882D83-049C-4CEC-8D52-9C33AA0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7" y="2487525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Calidad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A02C8D9-8D34-4791-9F32-C2AEA22C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17" y="2758948"/>
            <a:ext cx="1713059" cy="3010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Inter"/>
                <a:ea typeface="Inter"/>
                <a:cs typeface="Inter"/>
              </a:rPr>
              <a:t>unitarias · API · E2E · carga</a:t>
            </a:r>
            <a:endParaRPr sz="10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32E6CF-9F61-4552-BA23-5CFB80B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3081085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Operación y Gerencia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424160-B538-48B1-A589-DAE4234D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3352508"/>
            <a:ext cx="1863328" cy="3010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Inter"/>
                <a:ea typeface="Inter"/>
                <a:cs typeface="Inter"/>
              </a:rPr>
              <a:t>runbooks · CI/CD · seguridad · SPEC/ADR · trazabilidad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885F9A-C43C-4470-8953-129C648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2" y="4470871"/>
            <a:ext cx="7642101" cy="315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9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Acelera producción y verificación; no reemplaza revisión humana ni herramientas locales.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4300285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05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USD 200/año es una póliza de continuidad de costo marginal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8ff33752c4012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Escenarios de decisión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30f0b562a46de">
            <a:extLst>
              <a:ext uri="{96DAC541-7B7A-43D3-8B79-37D633B846F1}">
                <asvg:svgBlip xmlns:asvg="http://schemas.microsoft.com/office/drawing/2016/SVG/main" r:embed="R0c0ecf75c77846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 asiento inmediato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USD 200/año. Mínimo para evitar paradas y medir valor en 30 días.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30f0b562a46de">
            <a:extLst>
              <a:ext uri="{96DAC541-7B7A-43D3-8B79-37D633B846F1}">
                <asvg:svgBlip xmlns:asvg="http://schemas.microsoft.com/office/drawing/2016/SVG/main" r:embed="R0c0ecf75c77846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Escala referencial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10 asientos Pro = USD 2.000/año, 0,93% del presupuesto del proyecto.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30f0b562a46de">
            <a:extLst>
              <a:ext uri="{96DAC541-7B7A-43D3-8B79-37D633B846F1}">
                <asvg:svgBlip xmlns:asvg="http://schemas.microsoft.com/office/drawing/2016/SVG/main" r:embed="R0c0ecf75c77846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Umbral de retorno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A USD 25/h, recuperar 8 horas/año cubre una licencia; ROI aún no medido.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08f7dd40cc4224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7CF4C1-B7E0-4C60-BA50-F7AA45D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7096"/>
            <a:ext cx="6965305" cy="33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Adopción gobernada: aprobar, medir y escalar</a:t>
            </a:r>
            <a:endParaRPr sz="21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11E41EF-23B5-41A2-97CC-E87655A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782" y="842442"/>
            <a:ext cx="14288" cy="3113410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ADB79-E2B0-4649-8C4B-CD5A85D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957337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F1468B-4DFA-458F-98DA-0C7DD77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842442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3511BA-D8F6-43ED-8B17-09057CB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862757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0B907C-0AEF-4DF1-BBB7-6F3127C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87972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Hoy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9B833A-24A9-4916-B933-8E5A38E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1099096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Aprobar 1 licencia Pro anual y asignar propietario.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66D73F-9F97-4E88-BC49-62F10D69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1557635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587998-4E03-44B1-B27E-99398AD9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442740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771CA7-BA20-4F37-A721-EC0AE18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463055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2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798983-DA0B-4517-9ACE-164DE391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480021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Semana 1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F1478B-225B-466D-AB3C-708635A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699394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Política de uso: secretos, datos, revisión, repositorios y trazabilidad.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A9A9DF7-550A-4B5D-AC90-93F4A8C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2093491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B4C624-48A8-4773-9163-38EEF1B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978596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F2331EC-E1BA-4CBA-92E4-6DC4BB1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998911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3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05EC2A-0112-4700-9516-15102EF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2015877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Día 30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E26DB2-9A1F-4833-A9E8-523FFBD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2235250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Medir horas evitadas, tareas cerradas, pruebas y defectos.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16FDE4-67A1-4D98-8A7C-5B98DD8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2629346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48A92C-DFB5-4255-80C8-C52515C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2514451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3849A4-BB36-4C41-8259-16AE223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2534766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4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778BE3-392E-4208-A98D-74085828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55173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Mes 2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074724-F98C-45F3-BC6B-ACBFDC7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771105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Agregar asientos si hay demanda concurrente o límites recurrentes.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E615FA-C9AA-4376-8AEA-F291641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3165202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7B8BD9E-012D-4A41-9F42-88220A9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3050307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CFD0598-4E2D-4D92-B70E-626940C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3070622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5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2F3672-A414-4495-81F0-C3F433D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3087588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Trimestre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43E7C63-9431-42C5-9743-0039750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06961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Evaluar Team/Enterprise, SSO y controles corporativos.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9FD5138-0F4A-4D4F-97D8-B40D140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4049316"/>
            <a:ext cx="7489254" cy="663625"/>
          </a:xfrm>
          <a:prstGeom xmlns:a="http://schemas.openxmlformats.org/drawingml/2006/main" prst="roundRect">
            <a:avLst>
              <a:gd name="adj" fmla="val 6869"/>
            </a:avLst>
          </a:prstGeom>
          <a:solidFill xmlns:a="http://schemas.openxmlformats.org/drawingml/2006/main">
            <a:srgbClr val="FBE5D6"/>
          </a:solidFill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7221af4f44f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831" y="4194721"/>
            <a:ext cx="135657" cy="108496"/>
          </a:xfrm>
          <a:prstGeom xmlns:a="http://schemas.openxmlformats.org/drawingml/2006/main" prst="rect">
            <a:avLst/>
          </a:prstGeom>
        </p:spPr>
      </p:pic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929676D-1DF1-4136-86B6-3C4001E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84" y="4151188"/>
            <a:ext cx="7028111" cy="4598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Criterio de éxito: continuidad sin omitir gates de seguridad, pruebas ni revisión humana.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6808519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db5ac5ba94566"/>
          <a:srcRect xmlns:a="http://schemas.openxmlformats.org/drawingml/2006/main" l="31254" t="0" r="31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Decisión solicitada a Gerencia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La aprobación habilita continuidad inmediata y deja el escalamiento sujeto a evidencia.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Aprobar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USD 200/año por 1 licencia Claude Pro para Plataforma Minera.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Responsable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Líder Técnico / Gerencia TI: custodia de cuenta, política y reporte de uso.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Condición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Sin secretos ni datos sensibles; todo cambio pasa por CI, pruebas y revisión.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Revisión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Comité a 30 días para decidir nuevas licencias o plan empresarial.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2026-08-18T20:29:20.4420000Z</dcterms:created>
  <dcterms:modified xsi:type="dcterms:W3CDTF">2026-08-18T20:29:20.4420000Z</dcterms:modified>
</coreProperties>
</file>