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2f25c1cad4559" /><Relationship Type="http://schemas.openxmlformats.org/officeDocument/2006/relationships/extended-properties" Target="/docProps/app.xml" Id="R2883a61f7ae74264" /><Relationship Type="http://schemas.openxmlformats.org/officeDocument/2006/relationships/officeDocument" Target="/ppt/presentation.xml" Id="R7711ef8bd0e34ca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7750c5845c341ce"/>
  </p:sldMasterIdLst>
  <p:notesMasterIdLst>
    <p:notesMasterId xmlns:r="http://schemas.openxmlformats.org/officeDocument/2006/relationships" r:id="R50e6ddb5c02446cd"/>
  </p:notesMasterIdLst>
  <p:sldIdLst>
    <p:sldId xmlns:r="http://schemas.openxmlformats.org/officeDocument/2006/relationships" id="256" r:id="R0adc3562446a40f3"/>
    <p:sldId xmlns:r="http://schemas.openxmlformats.org/officeDocument/2006/relationships" id="257" r:id="Rf03b0129fbc14c66"/>
    <p:sldId xmlns:r="http://schemas.openxmlformats.org/officeDocument/2006/relationships" id="258" r:id="R97d7a51f93944f5d"/>
    <p:sldId xmlns:r="http://schemas.openxmlformats.org/officeDocument/2006/relationships" id="259" r:id="R2305995c80ca4f60"/>
    <p:sldId xmlns:r="http://schemas.openxmlformats.org/officeDocument/2006/relationships" id="260" r:id="Rc394492376934384"/>
    <p:sldId xmlns:r="http://schemas.openxmlformats.org/officeDocument/2006/relationships" id="261" r:id="Rfddfd71e831a4a60"/>
    <p:sldId xmlns:r="http://schemas.openxmlformats.org/officeDocument/2006/relationships" id="262" r:id="R665a8d258c8c4d1a"/>
    <p:sldId xmlns:r="http://schemas.openxmlformats.org/officeDocument/2006/relationships" id="263" r:id="R61268a38177b4ec1"/>
    <p:sldId xmlns:r="http://schemas.openxmlformats.org/officeDocument/2006/relationships" id="264" r:id="R6f0a9ec9b2124a90"/>
    <p:sldId xmlns:r="http://schemas.openxmlformats.org/officeDocument/2006/relationships" id="265" r:id="R6357c654d8df4aae"/>
    <p:sldId xmlns:r="http://schemas.openxmlformats.org/officeDocument/2006/relationships" id="266" r:id="Rd27b8f1807c6440c"/>
    <p:sldId xmlns:r="http://schemas.openxmlformats.org/officeDocument/2006/relationships" id="267" r:id="R9d94e034ee214571"/>
    <p:sldId xmlns:r="http://schemas.openxmlformats.org/officeDocument/2006/relationships" id="268" r:id="Rd4fb4aa420d84841"/>
    <p:sldId xmlns:r="http://schemas.openxmlformats.org/officeDocument/2006/relationships" id="269" r:id="R77e4aec69c8c4d8a"/>
    <p:sldId xmlns:r="http://schemas.openxmlformats.org/officeDocument/2006/relationships" id="270" r:id="Ra2fbf0cdb09b49c2"/>
    <p:sldId xmlns:r="http://schemas.openxmlformats.org/officeDocument/2006/relationships" id="271" r:id="R237ea11249fa4bce"/>
  </p:sldIdLst>
  <p:sldSz cx="9144000" cy="5143500"/>
  <p:notesSz cx="6858000" cy="9144000"/>
  <p:embeddedFontLst>
    <p:embeddedFont>
      <p:font typeface="Inter"/>
      <p:regular xmlns:r="http://schemas.openxmlformats.org/officeDocument/2006/relationships" r:id="Ra535b6e9d8a94157"/>
    </p:embeddedFont>
    <p:embeddedFont>
      <p:font typeface="Inter"/>
      <p:regular xmlns:r="http://schemas.openxmlformats.org/officeDocument/2006/relationships" r:id="R99e657f69f284232"/>
    </p:embeddedFont>
    <p:embeddedFont>
      <p:font typeface="Inter"/>
      <p:regular xmlns:r="http://schemas.openxmlformats.org/officeDocument/2006/relationships" r:id="Recf6f4fbd7b44ff5"/>
    </p:embeddedFont>
    <p:embeddedFont>
      <p:font typeface="Inter Bold"/>
      <p:bold xmlns:r="http://schemas.openxmlformats.org/officeDocument/2006/relationships" r:id="R06281026f30643e1"/>
    </p:embeddedFont>
    <p:embeddedFont>
      <p:font typeface="Inter Bold"/>
      <p:bold xmlns:r="http://schemas.openxmlformats.org/officeDocument/2006/relationships" r:id="R16adce71f2164867"/>
    </p:embeddedFont>
    <p:embeddedFont>
      <p:font typeface="Inter Bold"/>
      <p:bold xmlns:r="http://schemas.openxmlformats.org/officeDocument/2006/relationships" r:id="R17759844032c4aa5"/>
    </p:embeddedFont>
    <p:embeddedFont>
      <p:font typeface="Calibri"/>
      <p:regular xmlns:r="http://schemas.openxmlformats.org/officeDocument/2006/relationships" r:id="Rf437dbb785a54607"/>
      <p:bold xmlns:r="http://schemas.openxmlformats.org/officeDocument/2006/relationships" r:id="R447c0e6138f040eb"/>
      <p:italic xmlns:r="http://schemas.openxmlformats.org/officeDocument/2006/relationships" r:id="R2b144d5db233427e"/>
      <p:boldItalic xmlns:r="http://schemas.openxmlformats.org/officeDocument/2006/relationships" r:id="R729fa0262b45433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414004b6a4cd8" /><Relationship Type="http://schemas.openxmlformats.org/officeDocument/2006/relationships/slideMaster" Target="/ppt/slideMasters/slideMaster1.xml" Id="Rb7750c5845c341ce" /><Relationship Type="http://schemas.openxmlformats.org/officeDocument/2006/relationships/notesMaster" Target="/ppt/notesMasters/notesMaster1.xml" Id="R50e6ddb5c02446cd" /><Relationship Type="http://schemas.openxmlformats.org/officeDocument/2006/relationships/presProps" Target="/ppt/presProps.xml" Id="R285bed4004294fbc" /><Relationship Type="http://schemas.openxmlformats.org/officeDocument/2006/relationships/viewProps" Target="/ppt/viewProps.xml" Id="R995bd711f9cb4c98" /><Relationship Type="http://schemas.openxmlformats.org/officeDocument/2006/relationships/tableStyles" Target="/ppt/tableStyles.xml" Id="Re8efb700e1cc4bc7" /><Relationship Type="http://schemas.openxmlformats.org/officeDocument/2006/relationships/font" Target="/ppt/fonts/font.dat" Id="Ra535b6e9d8a94157" /><Relationship Type="http://schemas.openxmlformats.org/officeDocument/2006/relationships/font" Target="/ppt/fonts/font2.dat" Id="R99e657f69f284232" /><Relationship Type="http://schemas.openxmlformats.org/officeDocument/2006/relationships/font" Target="/ppt/fonts/font3.dat" Id="Recf6f4fbd7b44ff5" /><Relationship Type="http://schemas.openxmlformats.org/officeDocument/2006/relationships/font" Target="/ppt/fonts/font4.dat" Id="R06281026f30643e1" /><Relationship Type="http://schemas.openxmlformats.org/officeDocument/2006/relationships/font" Target="/ppt/fonts/font5.dat" Id="R16adce71f2164867" /><Relationship Type="http://schemas.openxmlformats.org/officeDocument/2006/relationships/font" Target="/ppt/fonts/font6.dat" Id="R17759844032c4aa5" /><Relationship Type="http://schemas.openxmlformats.org/officeDocument/2006/relationships/font" Target="/ppt/fonts/font7.dat" Id="Rf437dbb785a54607" /><Relationship Type="http://schemas.openxmlformats.org/officeDocument/2006/relationships/font" Target="/ppt/fonts/font8.dat" Id="R447c0e6138f040eb" /><Relationship Type="http://schemas.openxmlformats.org/officeDocument/2006/relationships/font" Target="/ppt/fonts/font9.dat" Id="R2b144d5db233427e" /><Relationship Type="http://schemas.openxmlformats.org/officeDocument/2006/relationships/font" Target="/ppt/fonts/font10.dat" Id="R729fa0262b45433c" /><Relationship Type="http://schemas.openxmlformats.org/officeDocument/2006/relationships/slide" Target="/ppt/slides/slide1.xml" Id="R0adc3562446a40f3" /><Relationship Type="http://schemas.openxmlformats.org/officeDocument/2006/relationships/slide" Target="/ppt/slides/slide2.xml" Id="Rf03b0129fbc14c66" /><Relationship Type="http://schemas.openxmlformats.org/officeDocument/2006/relationships/slide" Target="/ppt/slides/slide3.xml" Id="R97d7a51f93944f5d" /><Relationship Type="http://schemas.openxmlformats.org/officeDocument/2006/relationships/slide" Target="/ppt/slides/slide4.xml" Id="R2305995c80ca4f60" /><Relationship Type="http://schemas.openxmlformats.org/officeDocument/2006/relationships/slide" Target="/ppt/slides/slide5.xml" Id="Rc394492376934384" /><Relationship Type="http://schemas.openxmlformats.org/officeDocument/2006/relationships/slide" Target="/ppt/slides/slide6.xml" Id="Rfddfd71e831a4a60" /><Relationship Type="http://schemas.openxmlformats.org/officeDocument/2006/relationships/slide" Target="/ppt/slides/slide7.xml" Id="R665a8d258c8c4d1a" /><Relationship Type="http://schemas.openxmlformats.org/officeDocument/2006/relationships/slide" Target="/ppt/slides/slide8.xml" Id="R61268a38177b4ec1" /><Relationship Type="http://schemas.openxmlformats.org/officeDocument/2006/relationships/slide" Target="/ppt/slides/slide9.xml" Id="R6f0a9ec9b2124a90" /><Relationship Type="http://schemas.openxmlformats.org/officeDocument/2006/relationships/slide" Target="/ppt/slides/slide10.xml" Id="R6357c654d8df4aae" /><Relationship Type="http://schemas.openxmlformats.org/officeDocument/2006/relationships/slide" Target="/ppt/slides/slide11.xml" Id="Rd27b8f1807c6440c" /><Relationship Type="http://schemas.openxmlformats.org/officeDocument/2006/relationships/slide" Target="/ppt/slides/slide12.xml" Id="R9d94e034ee214571" /><Relationship Type="http://schemas.openxmlformats.org/officeDocument/2006/relationships/slide" Target="/ppt/slides/slide13.xml" Id="Rd4fb4aa420d84841" /><Relationship Type="http://schemas.openxmlformats.org/officeDocument/2006/relationships/slide" Target="/ppt/slides/slide14.xml" Id="R77e4aec69c8c4d8a" /><Relationship Type="http://schemas.openxmlformats.org/officeDocument/2006/relationships/slide" Target="/ppt/slides/slide15.xml" Id="Ra2fbf0cdb09b49c2" /><Relationship Type="http://schemas.openxmlformats.org/officeDocument/2006/relationships/slide" Target="/ppt/slides/slide16.xml" Id="R237ea11249fa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13feea47d2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5c7870e1c4176" /><Relationship Type="http://schemas.openxmlformats.org/officeDocument/2006/relationships/notesMaster" Target="/ppt/notesMasters/notesMaster1.xml" Id="Rc0615f1560cf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af7f67d9e4d29" /><Relationship Type="http://schemas.openxmlformats.org/officeDocument/2006/relationships/notesMaster" Target="/ppt/notesMasters/notesMaster1.xml" Id="R587b524e256040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948a10096f48b6" /><Relationship Type="http://schemas.openxmlformats.org/officeDocument/2006/relationships/notesMaster" Target="/ppt/notesMasters/notesMaster1.xml" Id="R83a1541c702f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fac3c204f544b1" /><Relationship Type="http://schemas.openxmlformats.org/officeDocument/2006/relationships/notesMaster" Target="/ppt/notesMasters/notesMaster1.xml" Id="R137267cd4297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89003950a4b50" /><Relationship Type="http://schemas.openxmlformats.org/officeDocument/2006/relationships/notesMaster" Target="/ppt/notesMasters/notesMaster1.xml" Id="Rf4bbacfc7d2f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fb60c051f4fad" /><Relationship Type="http://schemas.openxmlformats.org/officeDocument/2006/relationships/notesMaster" Target="/ppt/notesMasters/notesMaster1.xml" Id="R0b134e397d3e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44944a87d4daa" /><Relationship Type="http://schemas.openxmlformats.org/officeDocument/2006/relationships/notesMaster" Target="/ppt/notesMasters/notesMaster1.xml" Id="R047f3269ad304f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99ffef38a443d" /><Relationship Type="http://schemas.openxmlformats.org/officeDocument/2006/relationships/notesMaster" Target="/ppt/notesMasters/notesMaster1.xml" Id="Rce1e3d6010af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84db137e414cd5" /><Relationship Type="http://schemas.openxmlformats.org/officeDocument/2006/relationships/notesMaster" Target="/ppt/notesMasters/notesMaster1.xml" Id="Rb4f19b217c6e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30e358f91c421c" /><Relationship Type="http://schemas.openxmlformats.org/officeDocument/2006/relationships/notesMaster" Target="/ppt/notesMasters/notesMaster1.xml" Id="R6661852f15e948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c242e30f554c03" /><Relationship Type="http://schemas.openxmlformats.org/officeDocument/2006/relationships/notesMaster" Target="/ppt/notesMasters/notesMaster1.xml" Id="R30dd174a53db45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21cee7ef3947a4" /><Relationship Type="http://schemas.openxmlformats.org/officeDocument/2006/relationships/notesMaster" Target="/ppt/notesMasters/notesMaster1.xml" Id="R22e1b4b0f7c540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b883adcd304985" /><Relationship Type="http://schemas.openxmlformats.org/officeDocument/2006/relationships/notesMaster" Target="/ppt/notesMasters/notesMaster1.xml" Id="R8f504e77d5d547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4624c5db114200" /><Relationship Type="http://schemas.openxmlformats.org/officeDocument/2006/relationships/notesMaster" Target="/ppt/notesMasters/notesMaster1.xml" Id="R2a2f150273d64b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e92161d43e40d7" /><Relationship Type="http://schemas.openxmlformats.org/officeDocument/2006/relationships/notesMaster" Target="/ppt/notesMasters/notesMaster1.xml" Id="R9f0a1befb68342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9abe4a93d84d26" /><Relationship Type="http://schemas.openxmlformats.org/officeDocument/2006/relationships/notesMaster" Target="/ppt/notesMasters/notesMaster1.xml" Id="Rc263d6534cf14b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  <a:p xmlns:a="http://schemas.openxmlformats.org/drawingml/2006/main">
            <a:r>
              <a:t>- C:/Users/lenovo´/Downloads/1._Presentación_TMT.pdf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C:/Users/lenovo´/AppData/Local/Temp/codex-clipboard-743dc529-8a0c-43d0-878f-6db1ba69f57a.png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D:/InformeCliente/specs/BACKLOG.md</a:t>
            </a:r>
            <a:endParaRPr/>
          </a:p>
          <a:p xmlns:a="http://schemas.openxmlformats.org/drawingml/2006/main">
            <a:r>
              <a:t>- D:/InformeCliente/scripts/project-status-metrics.ps1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D:/InformeCliente/specs/BACKLOG.md</a:t>
            </a:r>
            <a:endParaRPr/>
          </a:p>
          <a:p xmlns:a="http://schemas.openxmlformats.org/drawingml/2006/main">
            <a:r>
              <a:t>- D:/InformeCliente/specs/REGISTRY.md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D:/InformeCliente/specs/015-dr-respaldo-continuidad/spec.md</a:t>
            </a:r>
            <a:endParaRPr/>
          </a:p>
          <a:p xmlns:a="http://schemas.openxmlformats.org/drawingml/2006/main">
            <a:r>
              <a:t>- D:/InformeCliente/specs/023-portabilidad-despliegue-recuperacion/spec.md</a:t>
            </a:r>
            <a:endParaRPr/>
          </a:p>
          <a:p xmlns:a="http://schemas.openxmlformats.org/drawingml/2006/main">
            <a:r>
              <a:t>- D:/InformeCliente/docs/decisions/ADR-111-portabilidad-stack-export-import.md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D:/InformeCliente/specs/019-integracion-rp-timetelemetry/tasks.md</a:t>
            </a:r>
            <a:endParaRPr/>
          </a:p>
          <a:p xmlns:a="http://schemas.openxmlformats.org/drawingml/2006/main">
            <a:r>
              <a:t>- D:/InformeCliente/specs/021-analitica-multiserie-zonas-sensores/tasks.md</a:t>
            </a:r>
            <a:endParaRPr/>
          </a:p>
          <a:p xmlns:a="http://schemas.openxmlformats.org/drawingml/2006/main">
            <a:r>
              <a:t>- C:/Users/lenovo´/Downloads/1._Presentación_TMT.pdf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D:/InformeCliente/specs/022-operaciones-campo-offline-erp/tasks.md</a:t>
            </a:r>
            <a:endParaRPr/>
          </a:p>
          <a:p xmlns:a="http://schemas.openxmlformats.org/drawingml/2006/main">
            <a:r>
              <a:t>- D:/InformeCliente/docs/decisions/ADR-110-operaciones-campo-offline-erp.md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D:/InformeCliente/specs/007-editor-informes-reportstudio/spec.md</a:t>
            </a:r>
            <a:endParaRPr/>
          </a:p>
          <a:p xmlns:a="http://schemas.openxmlformats.org/drawingml/2006/main">
            <a:r>
              <a:t>- D:/InformeCliente/specs/011-ia-texto-local/spec.md</a:t>
            </a:r>
            <a:endParaRPr/>
          </a:p>
          <a:p xmlns:a="http://schemas.openxmlformats.org/drawingml/2006/main">
            <a:r>
              <a:t>- D:/InformeCliente/specs/018-dictado-voz-stt/spec.md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D:/InformeCliente/specs/008-biometria-facial-login/spec.md</a:t>
            </a:r>
            <a:endParaRPr/>
          </a:p>
          <a:p xmlns:a="http://schemas.openxmlformats.org/drawingml/2006/main">
            <a:r>
              <a:t>- D:/InformeCliente/specs/REGISTRY.md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D:/InformeCliente/docs/PRUEBA_CAPACIDAD_TELEMETRIA_25K_2026-08-12.md</a:t>
            </a:r>
            <a:endParaRPr/>
          </a:p>
          <a:p xmlns:a="http://schemas.openxmlformats.org/drawingml/2006/main">
            <a:r>
              <a:t>- D:/InformeCliente/docs/PRUEBA_CAPACIDAD_TELEMETRIA_100K_2026-08-11.md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D:/InformeCliente/agents/registry.yaml</a:t>
            </a:r>
            <a:endParaRPr/>
          </a:p>
          <a:p xmlns:a="http://schemas.openxmlformats.org/drawingml/2006/main">
            <a:r>
              <a:t>- D:/InformeCliente/ai_platform/</a:t>
            </a:r>
            <a:endParaRPr/>
          </a:p>
          <a:p xmlns:a="http://schemas.openxmlformats.org/drawingml/2006/main">
            <a:r>
              <a:t>- D:/InformeCliente/specs/CONSTITUTION.md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Cálculo: USD 200 / tarifa horaria; escenarios ilustrativos, sustituibles por costo cargado real de TimeTelemetry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D:/InformeCliente/specs/CONSTITUTION.md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38e4a0ca040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7fdf670694a51" /><Relationship Type="http://schemas.openxmlformats.org/officeDocument/2006/relationships/image" Target="/ppt/media/image.png" Id="R6e88b0db04344d9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86DAA7-4C94-4AF9-9A63-DBE6B77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F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CA0BB39-AFB3-452A-B82B-BE89076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8b0db04344d93"/>
          <a:stretch xmlns:a="http://schemas.openxmlformats.org/drawingml/2006/main"/>
        </p:blipFill>
        <p:spPr>
          <a:xfrm xmlns:a="http://schemas.openxmlformats.org/drawingml/2006/main">
            <a:off x="8186060" y="4844491"/>
            <a:ext cx="758084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37595b16f4798" /><Relationship Type="http://schemas.openxmlformats.org/officeDocument/2006/relationships/slideLayout" Target="/ppt/slideLayouts/slideLayout1.xml" Id="R2f8855d5cdd84aa0" /><Relationship Type="http://schemas.openxmlformats.org/officeDocument/2006/relationships/slideLayout" Target="/ppt/slideLayouts/slideLayout2.xml" Id="R38ecf7f4dd9146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855d5cdd84aa0"/>
    <p:sldLayoutId xmlns:r="http://schemas.openxmlformats.org/officeDocument/2006/relationships" id="2147483650" r:id="R38ecf7f4dd91464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78fa4c6b24197" /><Relationship Type="http://schemas.openxmlformats.org/officeDocument/2006/relationships/image" Target="/ppt/media/image.jpeg" Id="Rf659a90960ea4b29" /><Relationship Type="http://schemas.openxmlformats.org/officeDocument/2006/relationships/notesSlide" Target="/ppt/notesSlides/notesSlide1.xml" Id="R086d46b6a7994f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f4c65430c94563" /><Relationship Type="http://schemas.openxmlformats.org/officeDocument/2006/relationships/image" Target="/ppt/media/image2.png" Id="Rf38a8a4605a44845" /><Relationship Type="http://schemas.openxmlformats.org/officeDocument/2006/relationships/notesSlide" Target="/ppt/notesSlides/notesSlide2.xml" Id="R2e1b025e4dfc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c4d3223764f6f" /><Relationship Type="http://schemas.openxmlformats.org/officeDocument/2006/relationships/image" Target="/ppt/media/image3.png" Id="Re91e6d45a77a4d01" /><Relationship Type="http://schemas.openxmlformats.org/officeDocument/2006/relationships/image" Target="/ppt/media/image.svg" Id="Rc2bafb4c0ff84f9d" /><Relationship Type="http://schemas.openxmlformats.org/officeDocument/2006/relationships/image" Target="/ppt/media/image.jpeg" Id="R830fc6fe0fd94575" /><Relationship Type="http://schemas.openxmlformats.org/officeDocument/2006/relationships/chart" Target="/ppt/slides/charts/chart1.xml" Id="Rfeaf6c68b6ee4c2d" /><Relationship Type="http://schemas.openxmlformats.org/officeDocument/2006/relationships/notesSlide" Target="/ppt/notesSlides/notesSlide3.xml" Id="R996ce07a06cf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3d561a8504941" /><Relationship Type="http://schemas.openxmlformats.org/officeDocument/2006/relationships/image" Target="/ppt/media/image3.png" Id="R1c66a3eab14041d6" /><Relationship Type="http://schemas.openxmlformats.org/officeDocument/2006/relationships/image" Target="/ppt/media/image.jpeg" Id="R4f7fc00e1c3b4621" /><Relationship Type="http://schemas.openxmlformats.org/officeDocument/2006/relationships/image" Target="/ppt/media/image.svg" Id="Rcd5e203c45614730" /><Relationship Type="http://schemas.openxmlformats.org/officeDocument/2006/relationships/chart" Target="/ppt/slides/charts/chart2.xml" Id="R2604e136c7bc4f34" /><Relationship Type="http://schemas.openxmlformats.org/officeDocument/2006/relationships/notesSlide" Target="/ppt/notesSlides/notesSlide4.xml" Id="R28e0922319d342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091ffacb8478c" /><Relationship Type="http://schemas.openxmlformats.org/officeDocument/2006/relationships/image" Target="/ppt/media/image4.png" Id="Rcebfbe2934084a22" /><Relationship Type="http://schemas.openxmlformats.org/officeDocument/2006/relationships/image" Target="/ppt/media/image5.png" Id="R2f0b5c9e46f74a2e" /><Relationship Type="http://schemas.openxmlformats.org/officeDocument/2006/relationships/image" Target="/ppt/media/image6.png" Id="Rf04fcb46e70547f3" /><Relationship Type="http://schemas.openxmlformats.org/officeDocument/2006/relationships/notesSlide" Target="/ppt/notesSlides/notesSlide5.xml" Id="Rb6a235d82ff4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8ef5e9d5c4a42" /><Relationship Type="http://schemas.openxmlformats.org/officeDocument/2006/relationships/image" Target="/ppt/media/image4.png" Id="R1bc16e44b4d44b6b" /><Relationship Type="http://schemas.openxmlformats.org/officeDocument/2006/relationships/image" Target="/ppt/media/image5.png" Id="R0be2b8d4cb4d455f" /><Relationship Type="http://schemas.openxmlformats.org/officeDocument/2006/relationships/image" Target="/ppt/media/image6.png" Id="R956a9dc31e464e82" /><Relationship Type="http://schemas.openxmlformats.org/officeDocument/2006/relationships/notesSlide" Target="/ppt/notesSlides/notesSlide6.xml" Id="Re60d3eb029c647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7b4e7a7b1498c" /><Relationship Type="http://schemas.openxmlformats.org/officeDocument/2006/relationships/image" Target="/ppt/media/image2.jpeg" Id="R264b3b59d22c42bd" /><Relationship Type="http://schemas.openxmlformats.org/officeDocument/2006/relationships/notesSlide" Target="/ppt/notesSlides/notesSlide7.xml" Id="R296befc22b4b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b368c2eef426c" /><Relationship Type="http://schemas.openxmlformats.org/officeDocument/2006/relationships/image" Target="/ppt/media/image3.jpeg" Id="R5f0a302c233447ba" /><Relationship Type="http://schemas.openxmlformats.org/officeDocument/2006/relationships/notesSlide" Target="/ppt/notesSlides/notesSlide8.xml" Id="R0b58229e6e1045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9c27dbf6714040" /><Relationship Type="http://schemas.openxmlformats.org/officeDocument/2006/relationships/image" Target="/ppt/media/image4.jpeg" Id="R3d023a011aa14127" /><Relationship Type="http://schemas.openxmlformats.org/officeDocument/2006/relationships/notesSlide" Target="/ppt/notesSlides/notesSlide9.xml" Id="Rc419e8e74a9647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fccd05386b4b51" /><Relationship Type="http://schemas.openxmlformats.org/officeDocument/2006/relationships/image" Target="/ppt/media/image5.jpeg" Id="R08a823bd27ae4686" /><Relationship Type="http://schemas.openxmlformats.org/officeDocument/2006/relationships/notesSlide" Target="/ppt/notesSlides/notesSlide10.xml" Id="R4448e6e85b454b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95dff4ffa5422d" /><Relationship Type="http://schemas.openxmlformats.org/officeDocument/2006/relationships/image" Target="/ppt/media/image4.png" Id="R6e494581ad8642df" /><Relationship Type="http://schemas.openxmlformats.org/officeDocument/2006/relationships/image" Target="/ppt/media/image5.png" Id="Rf2fd9efaf607478c" /><Relationship Type="http://schemas.openxmlformats.org/officeDocument/2006/relationships/image" Target="/ppt/media/image6.png" Id="R4d3c1aacd7d5475d" /><Relationship Type="http://schemas.openxmlformats.org/officeDocument/2006/relationships/notesSlide" Target="/ppt/notesSlides/notesSlide11.xml" Id="R70bca6bcc86c4d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479ad398bb40f6" /><Relationship Type="http://schemas.openxmlformats.org/officeDocument/2006/relationships/image" Target="/ppt/media/image2.svg" Id="Rb662eb8804d8421a" /><Relationship Type="http://schemas.openxmlformats.org/officeDocument/2006/relationships/image" Target="/ppt/media/image2.jpeg" Id="R1cae7c12dc4c431f" /><Relationship Type="http://schemas.openxmlformats.org/officeDocument/2006/relationships/notesSlide" Target="/ppt/notesSlides/notesSlide12.xml" Id="R48df118f32ba41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3e47f11c3745ae" /><Relationship Type="http://schemas.openxmlformats.org/officeDocument/2006/relationships/image" Target="/ppt/media/image3.png" Id="R626aa9d0ffa5499a" /><Relationship Type="http://schemas.openxmlformats.org/officeDocument/2006/relationships/image" Target="/ppt/media/image.jpeg" Id="R3f40cc5dab814875" /><Relationship Type="http://schemas.openxmlformats.org/officeDocument/2006/relationships/image" Target="/ppt/media/image.svg" Id="Rd0c197346c004790" /><Relationship Type="http://schemas.openxmlformats.org/officeDocument/2006/relationships/chart" Target="/ppt/slides/charts/chart3.xml" Id="Rac7fe937b30b4775" /><Relationship Type="http://schemas.openxmlformats.org/officeDocument/2006/relationships/notesSlide" Target="/ppt/notesSlides/notesSlide13.xml" Id="Rfee74332889c45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6ad12bb1264321" /><Relationship Type="http://schemas.openxmlformats.org/officeDocument/2006/relationships/image" Target="/ppt/media/image7.png" Id="R1386b52d982a4a37" /><Relationship Type="http://schemas.openxmlformats.org/officeDocument/2006/relationships/notesSlide" Target="/ppt/notesSlides/notesSlide14.xml" Id="R90bce14b561d49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d70dfb7794a9e" /><Relationship Type="http://schemas.openxmlformats.org/officeDocument/2006/relationships/image" Target="/ppt/media/image7.png" Id="R0020292f53c348b7" /><Relationship Type="http://schemas.openxmlformats.org/officeDocument/2006/relationships/notesSlide" Target="/ppt/notesSlides/notesSlide15.xml" Id="Rb411c8415ec84a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91f982d2d48c8" /><Relationship Type="http://schemas.openxmlformats.org/officeDocument/2006/relationships/image" Target="/ppt/media/image2.png" Id="R1379012ab6cc4b8e" /><Relationship Type="http://schemas.openxmlformats.org/officeDocument/2006/relationships/notesSlide" Target="/ppt/notesSlides/notesSlide16.xml" Id="Re5e3651864334b3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Ejecución documentada · 196 tareas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2"/>
              <c:pt idx="0">
                <c:v>Completado</c:v>
              </c:pt>
              <c:pt idx="1">
                <c:v>Pendiente</c:v>
              </c:pt>
            </c:strLit>
          </c:cat>
          <c:val>
            <c:numLit>
              <c:formatCode>General</c:formatCode>
              <c:ptCount val="2"/>
              <c:pt idx="0">
                <c:v>54.1</c:v>
              </c:pt>
              <c:pt idx="1">
                <c:v>45.9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Readiness por gate al 18-ago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7"/>
              <c:pt idx="0">
                <c:v>Jun R1</c:v>
              </c:pt>
              <c:pt idx="1">
                <c:v>Jul R2</c:v>
              </c:pt>
              <c:pt idx="2">
                <c:v>Ago R3</c:v>
              </c:pt>
              <c:pt idx="3">
                <c:v>Sep R4</c:v>
              </c:pt>
              <c:pt idx="4">
                <c:v>Oct R5</c:v>
              </c:pt>
              <c:pt idx="5">
                <c:v>Nov R6</c:v>
              </c:pt>
              <c:pt idx="6">
                <c:v>Campo</c:v>
              </c:pt>
            </c:str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90.9</c:v>
              </c:pt>
              <c:pt idx="2">
                <c:v>75.8</c:v>
              </c:pt>
              <c:pt idx="3">
                <c:v>58.1</c:v>
              </c:pt>
              <c:pt idx="4">
                <c:v>37.7</c:v>
              </c:pt>
              <c:pt idx="5">
                <c:v>40</c:v>
              </c:pt>
              <c:pt idx="6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Horas/año para recuperar USD 200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3"/>
              <c:pt idx="0">
                <c:v>USD 15/h</c:v>
              </c:pt>
              <c:pt idx="1">
                <c:v>USD 25/h</c:v>
              </c:pt>
              <c:pt idx="2">
                <c:v>USD 40/h</c:v>
              </c:pt>
            </c:strLit>
          </c:cat>
          <c:val>
            <c:numLit>
              <c:formatCode>General</c:formatCode>
              <c:ptCount val="3"/>
              <c:pt idx="0">
                <c:v>13.3</c:v>
              </c:pt>
              <c:pt idx="1">
                <c:v>8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9a90960ea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CEE6B30-A446-4843-93A0-BF0F36C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520651"/>
            <a:ext cx="1671191" cy="266402"/>
          </a:xfrm>
          <a:prstGeom xmlns:a="http://schemas.openxmlformats.org/drawingml/2006/main" prst="roundRect">
            <a:avLst>
              <a:gd name="adj" fmla="val 17880"/>
            </a:avLst>
          </a:prstGeom>
          <a:solidFill xmlns:a="http://schemas.openxmlformats.org/drawingml/2006/main">
            <a:srgbClr val="FBE5D6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4B3D404-503A-443D-A6F0-EBCCD10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74" y="1563142"/>
            <a:ext cx="1958280" cy="1814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DECISIÓN GERENCIAL · 18 AGOSTO 2026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774107-0C72-494A-83CF-F10952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843757"/>
            <a:ext cx="4722763" cy="885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419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Claude Pro para cerrar la industrialización de Plataforma Minera</a:t>
            </a:r>
            <a:endParaRPr sz="27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96B3BEE-0923-4796-8991-D9B523A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2942332"/>
            <a:ext cx="4722763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Solicitud: aprobar una licencia anual de USD 200, con gobierno y métricas, para sostener ingeniería, pruebas, integraciones y documentación crítica.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24870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a8a4605a44845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5100000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122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Aprobar USD 200 ahora; medir en 30 días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Una licencia anual elimina una restricción evitable en el tramo más exigente del proyecto.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Continuidad inmediata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Evita que una ventana agotada detenga análisis, código, pruebas y documentación.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Uso nominal y seguro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Una cuenta, un responsable; sin compartir credenciales ni datos sensibles.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KPI de 30 días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Horas evitadas, CA cerrados, pruebas creadas y defectos detectados.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Escala por evidencia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Agregar asientos solo cuando la concurrencia y los límites lo justifiquen.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07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 base existe, pero el producto completo está en 54,1%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e6d45a77a4d01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Lectura ejecutiva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c6fe0fd94575">
            <a:extLst>
              <a:ext uri="{96DAC541-7B7A-43D3-8B79-37D633B846F1}">
                <asvg:svgBlip xmlns:asvg="http://schemas.microsoft.com/office/drawing/2016/SVG/main" r:embed="Rc2bafb4c0ff84f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106 tareas cerradas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 196 tareas canónicas; la cifra mide ejecución documentada, no aceptación productiva.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c6fe0fd94575">
            <a:extLst>
              <a:ext uri="{96DAC541-7B7A-43D3-8B79-37D633B846F1}">
                <asvg:svgBlip xmlns:asvg="http://schemas.microsoft.com/office/drawing/2016/SVG/main" r:embed="Rc2bafb4c0ff84f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90 tareas abiertas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El pendiente se concentra en offline, alertas, DR, pruebas, integraciones y campo.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c6fe0fd94575">
            <a:extLst>
              <a:ext uri="{96DAC541-7B7A-43D3-8B79-37D633B846F1}">
                <asvg:svgBlip xmlns:asvg="http://schemas.microsoft.com/office/drawing/2016/SVG/main" r:embed="Rc2bafb4c0ff84f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R6: 4 de 10 controles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Sin pentest, DR, UAT, rollback y marcha blanca todavía no existe go-live.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af6c68b6ee4c2d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185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 riesgo crece en los gates que todavía deben probar operación real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6a3eab14041d6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Preparación al 18-ago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fc00e1c3b4621">
            <a:extLst>
              <a:ext uri="{96DAC541-7B7A-43D3-8B79-37D633B846F1}">
                <asvg:svgBlip xmlns:asvg="http://schemas.microsoft.com/office/drawing/2016/SVG/main" r:embed="Rcd5e203c456147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R3 · 75,8%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Build y pruebas base verdes; falta cerrar aceptación integrada, regresión y evidencia.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fc00e1c3b4621">
            <a:extLst>
              <a:ext uri="{96DAC541-7B7A-43D3-8B79-37D633B846F1}">
                <asvg:svgBlip xmlns:asvg="http://schemas.microsoft.com/office/drawing/2016/SVG/main" r:embed="Rcd5e203c456147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R4 · 58,1%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Offline, alertas, AWS real, RP productivo y exportaciones concentran la brecha.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fc00e1c3b4621">
            <a:extLst>
              <a:ext uri="{96DAC541-7B7A-43D3-8B79-37D633B846F1}">
                <asvg:svgBlip xmlns:asvg="http://schemas.microsoft.com/office/drawing/2016/SVG/main" r:embed="Rcd5e203c456147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R5 · 37,7%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DR, pentest, calibración biométrica y despliegue/restore aún no están aceptados.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4e136c7bc4f34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41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 pendiente crítico está en la industrialización, no solo en reportes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La licencia acelera trabajo transversal que requiere ingeniería, verificación y trazabilidad.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fbe2934084a22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Producto e IA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Offline 0/10, alertas 0/5, STT 0/7, documentos avanzados y analítica predictiva.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5c9e46f74a2e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Integraciones reales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AWS, escritura RP/Odoo, sensores, zonas, ERP y contratos de datos con cliente.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fcb46e70547f3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Preparación de go-live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VPS, CI/CD, pentest, DR, UAT, capacitación, manuales y marcha blanca.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VPS, ciberseguridad y resiliencia habilitan la operación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Portabilidad no equivale a despliegue aceptado ni a recuperación ante desastres.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16e44b4d44b6b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VPS y CI/CD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IaC, secretos, imágenes firmadas, SBOM, despliegue progresivo y rollback probado.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2b8d4cb4d455f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Ciberseguridad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SAST/DAST, tenant, dependencias, pentest y cierre P0/P1.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a9dc31e464e82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Resiliencia y DR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Backups cifrados, restore limpio, failover, RTO/RPO y fallas DB/broker/WAN/disco.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AWS, RP y sensores deben integrarse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La mayor parte del riesgo restante está en validar datos, permisos y recuperación con sistemas reales.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AWS / ThingsBoard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Conector y 6 M de puntos en entorno controlado; faltan credenciales y aceptación del cliente.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RP TimeTelemetry / Odoo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19/20 tareas y 2.108 equipos; falta create/write productivo en ventana autorizada.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Sensores y zonas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Catálogo y 10 gráficos existen; faltan anti-IDOR, contrato API, export y CI.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Campo y ERP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Outbox offline, idempotencia, conflictos, evidencia y piloto todavía deben implementarse.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3b59d22c42bd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5560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Operaciones de campo abre un proyecto derivado: hoy está en 0/14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No debe absorberse en R6 sin recursos, fechas, PDA/MDM, privacidad y un piloto definido.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Captura offline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Formularios, fotos, firmas, geolocalización y sellos de tiempo con sincronización segura.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Evidencia y voz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Dictado con ruido, checklists, incidentes e informes de instalación desde campo.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Conciliación ERP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Outbox, idempotencia, conflictos, permisos y trazabilidad de cada operación.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Adopción operativa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Capacitación por rol, soporte en sitio, UAT, manuales y acompañamiento de arranque.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a302c233447ba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0611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 IA convierte evidencia de campo en documentos auditables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El objetivo no es solo redactar: es reducir retrabajo sin perder datos, versiones ni aprobación humana.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Corrección inteligente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Ortografía, sintaxis, contexto y terminología técnica antes de la generación final.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Generación gobernada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Plantillas, RAG, versionado, fuentes, cálculos, revisión y firma dentro del flujo.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Catálogo prioritario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Actas, cotizaciones, proformas, propuestas técnicas/económicas e informes de instalación.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Salida verificable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PDF/Office, anexos, tablas, gráficos, mapas, trazabilidad y estado de aprobación.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23a011aa14127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878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Biometría segura: pruebas pendientes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El cierre exige métricas, hardware real, liveness, privacidad y una ruta segura de contingencia.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Ruta principal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DeepFace + SilentFace es la decisión vigente para reconocimiento y liveness por defecto.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Ruta secundaria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Dermalog queda como respaldo fail-closed; SeetaFace es solo rollback legado.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Aceptación técnica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FMR/FNMR, PAD, hardware, iluminación, reenrolamiento y pruebas de suplantación.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Gobierno de datos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DPIA, consentimiento/base legal, retención, acceso, auditoría y pentest.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823bd27ae4686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346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 salida a producción exige automatizar pruebas que hoy siguen separadas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25k/s está demostrado; 100k/s, DR y E2E productivo todavía no están aprobados.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94581ad8642df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Esfuerzo y capacidad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25→50→75→100k/s, soak 1 h/24 h, pérdida cero, p99 y backpressure medidos.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9efaf607478c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Integración automática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Contrato/API/E2E para AWS, RP, sensores, offline, export, Playwright y CTest en CI.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c1aacd7d5475d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Resiliencia y seguridad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Fallas DB/broker/WAN/disco, replay, restore, rollback, SAST/DAST y pentest.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3DD7FD-3020-4218-A1CD-6952149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357039"/>
            <a:ext cx="4815557" cy="34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911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Claude multiplica seis frentes; no reemplaza controles</a:t>
            </a:r>
            <a:endParaRPr sz="2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e7c12dc4c431f">
            <a:extLst>
              <a:ext uri="{96DAC541-7B7A-43D3-8B79-37D633B846F1}">
                <asvg:svgBlip xmlns:asvg="http://schemas.microsoft.com/office/drawing/2016/SVG/main" r:embed="Rb662eb8804d842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912" y="876151"/>
            <a:ext cx="7642101" cy="3497387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A91F9EF-10CE-4DCE-ABC7-6ED1522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262721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Ingeniería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CC63D0-61A6-41C8-964A-E1C4985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534143"/>
            <a:ext cx="1863328" cy="451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arquitectura · código · refactor · integraciones</a:t>
            </a:r>
            <a:endParaRPr sz="10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882D83-049C-4CEC-8D52-9C33AA0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7" y="248752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Calidad y seguridad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A02C8D9-8D34-4791-9F32-C2AEA22C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17" y="2758948"/>
            <a:ext cx="1713059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pruebas · amenazas · defectos · remediación</a:t>
            </a:r>
            <a:endParaRPr sz="10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32E6CF-9F61-4552-BA23-5CFB80B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08108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Operación y gestión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424160-B538-48B1-A589-DAE4234D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352508"/>
            <a:ext cx="1863328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runbooks · capacitación · documentos · reportes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885F9A-C43C-4470-8953-129C648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4470871"/>
            <a:ext cx="7642101" cy="315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9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La revisión humana, CI, ADR/SPEC y los modelos predictivos especializados siguen siendo obligatorios.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4300285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37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 licencia se paga con minutos, no con promesas de ROI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aa9d0ffa5499a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Caso económico verificable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cc5dab814875">
            <a:extLst>
              <a:ext uri="{96DAC541-7B7A-43D3-8B79-37D633B846F1}">
                <asvg:svgBlip xmlns:asvg="http://schemas.microsoft.com/office/drawing/2016/SVG/main" r:embed="Rd0c197346c0047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Inversión acotada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Claude Pro: USD 200 al año, facturados por adelantado; plan individual y con límites.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cc5dab814875">
            <a:extLst>
              <a:ext uri="{96DAC541-7B7A-43D3-8B79-37D633B846F1}">
                <asvg:svgBlip xmlns:asvg="http://schemas.microsoft.com/office/drawing/2016/SVG/main" r:embed="Rd0c197346c0047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Punto de equilibrio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 USD 25/h, basta recuperar 8 horas/año: aproximadamente 40 minutos al mes.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cc5dab814875">
            <a:extLst>
              <a:ext uri="{96DAC541-7B7A-43D3-8B79-37D633B846F1}">
                <asvg:svgBlip xmlns:asvg="http://schemas.microsoft.com/office/drawing/2016/SVG/main" r:embed="Rd0c197346c0047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Regla de decisión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Aprobar el piloto, medir 30 días y no declarar porcentajes de ROI sin evidencia.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7fe937b30b4775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7CF4C1-B7E0-4C60-BA50-F7AA45D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7096"/>
            <a:ext cx="6965305" cy="33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Adopción gobernada: aprobar, medir y escalar</a:t>
            </a:r>
            <a:endParaRPr sz="21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1E41EF-23B5-41A2-97CC-E87655A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82" y="842442"/>
            <a:ext cx="14288" cy="3113410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ADB79-E2B0-4649-8C4B-CD5A85D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957337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F1468B-4DFA-458F-98DA-0C7DD77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842442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3511BA-D8F6-43ED-8B17-09057CB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862757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1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0B907C-0AEF-4DF1-BBB7-6F3127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87972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Hoy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9B833A-24A9-4916-B933-8E5A38E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1099096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Aprobar 1 licencia Pro anual y designar propietario nominal.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66D73F-9F97-4E88-BC49-62F10D6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1557635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587998-4E03-44B1-B27E-99398AD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442740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771CA7-BA20-4F37-A721-EC0AE1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463055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2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798983-DA0B-4517-9ACE-164DE39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480021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Semana 1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1478B-225B-466D-AB3C-708635A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699394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Política, clasificación de datos, onboarding, repositorios y trazabilidad.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9A9DF7-550A-4B5D-AC90-93F4A8C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2093491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4C624-48A8-4773-9163-38EEF1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978596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2331EC-E1BA-4CBA-92E4-6DC4BB1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998911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3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05EC2A-0112-4700-9516-15102E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2015877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Día 30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E26DB2-9A1F-4833-A9E8-523FFBD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2235250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Medir horas evitadas, CA cerrados, pruebas creadas y defectos.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16FDE4-67A1-4D98-8A7C-5B98DD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2629346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48A92C-DFB5-4255-80C8-C52515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2514451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3849A4-BB36-4C41-8259-16AE223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2534766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778BE3-392E-4208-A98D-7408582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55173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Mes 2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074724-F98C-45F3-BC6B-ACBFDC7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771105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Agregar cuentas nominales si hay concurrencia o límites recurrentes.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E615FA-C9AA-4376-8AEA-F291641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3165202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7B8BD9E-012D-4A41-9F42-88220A9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3050307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FD0598-4E2D-4D92-B70E-626940C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3070622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5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2F3672-A414-4495-81F0-C3F433D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3087588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Trimestre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3E7C63-9431-42C5-9743-0039750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06961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Evaluar Team/Enterprise si se requieren SSO, auditoría y administración central.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FD5138-0F4A-4D4F-97D8-B40D140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4049316"/>
            <a:ext cx="7489254" cy="663625"/>
          </a:xfrm>
          <a:prstGeom xmlns:a="http://schemas.openxmlformats.org/drawingml/2006/main" prst="roundRect">
            <a:avLst>
              <a:gd name="adj" fmla="val 6869"/>
            </a:avLst>
          </a:prstGeom>
          <a:solidFill xmlns:a="http://schemas.openxmlformats.org/drawingml/2006/main">
            <a:srgbClr val="FBE5D6"/>
          </a:solidFill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6b52d982a4a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31" y="4194721"/>
            <a:ext cx="135657" cy="108496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929676D-1DF1-4136-86B6-3C4001E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84" y="4151188"/>
            <a:ext cx="7028111" cy="45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Éxito = continuidad demostrada sin compartir cuentas ni omitir seguridad, pruebas o revisión humana.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808519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7CF4C1-B7E0-4C60-BA50-F7AA45D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7096"/>
            <a:ext cx="6965305" cy="33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 licencia debe acelerar un plan de cierre, no crear actividad</a:t>
            </a:r>
            <a:endParaRPr sz="21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1E41EF-23B5-41A2-97CC-E87655A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82" y="842442"/>
            <a:ext cx="14288" cy="3113410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ADB79-E2B0-4649-8C4B-CD5A85D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957337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F1468B-4DFA-458F-98DA-0C7DD77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842442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3511BA-D8F6-43ED-8B17-09057CB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862757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1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0B907C-0AEF-4DF1-BBB7-6F3127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87972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0–30 días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9B833A-24A9-4916-B933-8E5A38E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1099096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Cerrar R3: SPEC-021, regresión ReportStudio, CTest backend y Playwright crítico.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66D73F-9F97-4E88-BC49-62F10D6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1557635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587998-4E03-44B1-B27E-99398AD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442740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771CA7-BA20-4F37-A721-EC0AE1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463055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2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798983-DA0B-4517-9ACE-164DE39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480021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31–45 días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1478B-225B-466D-AB3C-708635A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699394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R4 producto: offline, alertas, sensores, exportaciones y contratos API.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9A9DF7-550A-4B5D-AC90-93F4A8C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2093491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4C624-48A8-4773-9163-38EEF1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978596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2331EC-E1BA-4CBA-92E4-6DC4BB1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998911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3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05EC2A-0112-4700-9516-15102E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2015877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46–60 días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E26DB2-9A1F-4833-A9E8-523FFBD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2235250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AWS real, CA-4 Odoo y contrato del piloto de operaciones de campo.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16FDE4-67A1-4D98-8A7C-5B98DD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2629346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48A92C-DFB5-4255-80C8-C52515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2514451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3849A4-BB36-4C41-8259-16AE223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2534766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778BE3-392E-4208-A98D-7408582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55173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61–75 días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074724-F98C-45F3-BC6B-ACBFDC7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771105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VPS, despliegue/rollback, carga, resiliencia, backup y restore en host limpio.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E615FA-C9AA-4376-8AEA-F291641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3165202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7B8BD9E-012D-4A41-9F42-88220A9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3050307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FD0598-4E2D-4D92-B70E-626940C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3070622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5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2F3672-A414-4495-81F0-C3F433D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3087588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76–90 días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3E7C63-9431-42C5-9743-0039750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06961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Pentest, DR, UAT, capacitación, manuales y decisión formal de go-live.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FD5138-0F4A-4D4F-97D8-B40D140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4049316"/>
            <a:ext cx="7489254" cy="663625"/>
          </a:xfrm>
          <a:prstGeom xmlns:a="http://schemas.openxmlformats.org/drawingml/2006/main" prst="roundRect">
            <a:avLst>
              <a:gd name="adj" fmla="val 6869"/>
            </a:avLst>
          </a:prstGeom>
          <a:solidFill xmlns:a="http://schemas.openxmlformats.org/drawingml/2006/main">
            <a:srgbClr val="FBE5D6"/>
          </a:solidFill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0292f53c3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31" y="4194721"/>
            <a:ext cx="135657" cy="108496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929676D-1DF1-4136-86B6-3C4001E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84" y="4151188"/>
            <a:ext cx="7028111" cy="45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 semana: evidencia por criterio de aceptación; cada mes: readiness actualizado y decisión de capacidad IA.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808519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9012ab6cc4b8e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442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Decisión solicitada: aprobar una licencia anual hoy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La inversión es acotada; el uso queda gobernado y el escalamiento depende de evidencia.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Aprobar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USD 200/año por 1 licencia nominal Claude Pro para Plataforma Minera.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Responsable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Líder Técnico + Gerencia TI: cuenta, política, consumo y reporte de beneficios.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Condiciones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Sin secretos; revisión humana; CI, pruebas y trazabilidad ADR/SPEC obligatorias.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Revisión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Comité al día 30 para decidir nuevas licencias o un plan organizacional.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2026-08-18T22:13:00.0110000Z</dcterms:created>
  <dcterms:modified xsi:type="dcterms:W3CDTF">2026-08-18T22:13:00.0110000Z</dcterms:modified>
</coreProperties>
</file>