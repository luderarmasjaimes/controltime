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21363cc1c44983" /><Relationship Type="http://schemas.openxmlformats.org/officeDocument/2006/relationships/extended-properties" Target="/docProps/app.xml" Id="R32880b3a66204640" /><Relationship Type="http://schemas.openxmlformats.org/officeDocument/2006/relationships/officeDocument" Target="/ppt/presentation.xml" Id="R7a5a61188d75471a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a83d14476bb4407c"/>
  </p:sldMasterIdLst>
  <p:notesMasterIdLst>
    <p:notesMasterId xmlns:r="http://schemas.openxmlformats.org/officeDocument/2006/relationships" r:id="R90c90472c3414f32"/>
  </p:notesMasterIdLst>
  <p:sldIdLst>
    <p:sldId xmlns:r="http://schemas.openxmlformats.org/officeDocument/2006/relationships" id="256" r:id="R0db89b403c8e41a7"/>
    <p:sldId xmlns:r="http://schemas.openxmlformats.org/officeDocument/2006/relationships" id="257" r:id="Rd659bc6d8e0c428e"/>
    <p:sldId xmlns:r="http://schemas.openxmlformats.org/officeDocument/2006/relationships" id="258" r:id="Rf7f49ebfdb6d4272"/>
    <p:sldId xmlns:r="http://schemas.openxmlformats.org/officeDocument/2006/relationships" id="259" r:id="Rd712c2d6d681449e"/>
    <p:sldId xmlns:r="http://schemas.openxmlformats.org/officeDocument/2006/relationships" id="260" r:id="R41999472435a45d0"/>
    <p:sldId xmlns:r="http://schemas.openxmlformats.org/officeDocument/2006/relationships" id="261" r:id="R4d5c59e54f644cb1"/>
    <p:sldId xmlns:r="http://schemas.openxmlformats.org/officeDocument/2006/relationships" id="262" r:id="R2bedb89c5dc84308"/>
    <p:sldId xmlns:r="http://schemas.openxmlformats.org/officeDocument/2006/relationships" id="263" r:id="R1350ed0c05324847"/>
    <p:sldId xmlns:r="http://schemas.openxmlformats.org/officeDocument/2006/relationships" id="264" r:id="Rd9dcae9b493049d4"/>
    <p:sldId xmlns:r="http://schemas.openxmlformats.org/officeDocument/2006/relationships" id="265" r:id="Re21bffbbc2d848ca"/>
    <p:sldId xmlns:r="http://schemas.openxmlformats.org/officeDocument/2006/relationships" id="266" r:id="Rdf4e90a0af0b47fa"/>
    <p:sldId xmlns:r="http://schemas.openxmlformats.org/officeDocument/2006/relationships" id="267" r:id="R56788b3193dc4f93"/>
    <p:sldId xmlns:r="http://schemas.openxmlformats.org/officeDocument/2006/relationships" id="268" r:id="Rb1a1fa8a010c4335"/>
    <p:sldId xmlns:r="http://schemas.openxmlformats.org/officeDocument/2006/relationships" id="269" r:id="R992e0ec1b91749b4"/>
    <p:sldId xmlns:r="http://schemas.openxmlformats.org/officeDocument/2006/relationships" id="270" r:id="R4935544cc18c49be"/>
    <p:sldId xmlns:r="http://schemas.openxmlformats.org/officeDocument/2006/relationships" id="271" r:id="R67ee136630b7497a"/>
  </p:sldIdLst>
  <p:sldSz cx="9144000" cy="5143500"/>
  <p:notesSz cx="6858000" cy="9144000"/>
  <p:embeddedFontLst>
    <p:embeddedFont>
      <p:font typeface="Inter"/>
      <p:regular xmlns:r="http://schemas.openxmlformats.org/officeDocument/2006/relationships" r:id="Rb8f90a9eb625404b"/>
    </p:embeddedFont>
    <p:embeddedFont>
      <p:font typeface="Inter"/>
      <p:regular xmlns:r="http://schemas.openxmlformats.org/officeDocument/2006/relationships" r:id="R25eb0c5fbe6144ec"/>
    </p:embeddedFont>
    <p:embeddedFont>
      <p:font typeface="Inter"/>
      <p:regular xmlns:r="http://schemas.openxmlformats.org/officeDocument/2006/relationships" r:id="Rb6664d6bdddd4abd"/>
    </p:embeddedFont>
    <p:embeddedFont>
      <p:font typeface="Inter Bold"/>
      <p:bold xmlns:r="http://schemas.openxmlformats.org/officeDocument/2006/relationships" r:id="R3b8abd237d334895"/>
    </p:embeddedFont>
    <p:embeddedFont>
      <p:font typeface="Inter Bold"/>
      <p:bold xmlns:r="http://schemas.openxmlformats.org/officeDocument/2006/relationships" r:id="R7ccc513717134f64"/>
    </p:embeddedFont>
    <p:embeddedFont>
      <p:font typeface="Inter Bold"/>
      <p:bold xmlns:r="http://schemas.openxmlformats.org/officeDocument/2006/relationships" r:id="Rae348398bb0e435b"/>
    </p:embeddedFont>
    <p:embeddedFont>
      <p:font typeface="Calibri"/>
      <p:regular xmlns:r="http://schemas.openxmlformats.org/officeDocument/2006/relationships" r:id="Rf630175568264a62"/>
      <p:bold xmlns:r="http://schemas.openxmlformats.org/officeDocument/2006/relationships" r:id="Rd7eee4c0ed1043cd"/>
      <p:italic xmlns:r="http://schemas.openxmlformats.org/officeDocument/2006/relationships" r:id="R35fe22fdd2d045fb"/>
      <p:boldItalic xmlns:r="http://schemas.openxmlformats.org/officeDocument/2006/relationships" r:id="Rd5ec2d9fa3eb429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3849ca1c2a42db" /><Relationship Type="http://schemas.openxmlformats.org/officeDocument/2006/relationships/slideMaster" Target="/ppt/slideMasters/slideMaster1.xml" Id="Ra83d14476bb4407c" /><Relationship Type="http://schemas.openxmlformats.org/officeDocument/2006/relationships/notesMaster" Target="/ppt/notesMasters/notesMaster1.xml" Id="R90c90472c3414f32" /><Relationship Type="http://schemas.openxmlformats.org/officeDocument/2006/relationships/presProps" Target="/ppt/presProps.xml" Id="Re8240f93386d4444" /><Relationship Type="http://schemas.openxmlformats.org/officeDocument/2006/relationships/viewProps" Target="/ppt/viewProps.xml" Id="R3b8e4046656b4e3d" /><Relationship Type="http://schemas.openxmlformats.org/officeDocument/2006/relationships/tableStyles" Target="/ppt/tableStyles.xml" Id="R9a062ce31a9c4eaf" /><Relationship Type="http://schemas.openxmlformats.org/officeDocument/2006/relationships/font" Target="/ppt/fonts/font.dat" Id="Rb8f90a9eb625404b" /><Relationship Type="http://schemas.openxmlformats.org/officeDocument/2006/relationships/font" Target="/ppt/fonts/font2.dat" Id="R25eb0c5fbe6144ec" /><Relationship Type="http://schemas.openxmlformats.org/officeDocument/2006/relationships/font" Target="/ppt/fonts/font3.dat" Id="Rb6664d6bdddd4abd" /><Relationship Type="http://schemas.openxmlformats.org/officeDocument/2006/relationships/font" Target="/ppt/fonts/font4.dat" Id="R3b8abd237d334895" /><Relationship Type="http://schemas.openxmlformats.org/officeDocument/2006/relationships/font" Target="/ppt/fonts/font5.dat" Id="R7ccc513717134f64" /><Relationship Type="http://schemas.openxmlformats.org/officeDocument/2006/relationships/font" Target="/ppt/fonts/font6.dat" Id="Rae348398bb0e435b" /><Relationship Type="http://schemas.openxmlformats.org/officeDocument/2006/relationships/font" Target="/ppt/fonts/font7.dat" Id="Rf630175568264a62" /><Relationship Type="http://schemas.openxmlformats.org/officeDocument/2006/relationships/font" Target="/ppt/fonts/font8.dat" Id="Rd7eee4c0ed1043cd" /><Relationship Type="http://schemas.openxmlformats.org/officeDocument/2006/relationships/font" Target="/ppt/fonts/font9.dat" Id="R35fe22fdd2d045fb" /><Relationship Type="http://schemas.openxmlformats.org/officeDocument/2006/relationships/font" Target="/ppt/fonts/font10.dat" Id="Rd5ec2d9fa3eb4296" /><Relationship Type="http://schemas.openxmlformats.org/officeDocument/2006/relationships/slide" Target="/ppt/slides/slide1.xml" Id="R0db89b403c8e41a7" /><Relationship Type="http://schemas.openxmlformats.org/officeDocument/2006/relationships/slide" Target="/ppt/slides/slide2.xml" Id="Rd659bc6d8e0c428e" /><Relationship Type="http://schemas.openxmlformats.org/officeDocument/2006/relationships/slide" Target="/ppt/slides/slide3.xml" Id="Rf7f49ebfdb6d4272" /><Relationship Type="http://schemas.openxmlformats.org/officeDocument/2006/relationships/slide" Target="/ppt/slides/slide4.xml" Id="Rd712c2d6d681449e" /><Relationship Type="http://schemas.openxmlformats.org/officeDocument/2006/relationships/slide" Target="/ppt/slides/slide5.xml" Id="R41999472435a45d0" /><Relationship Type="http://schemas.openxmlformats.org/officeDocument/2006/relationships/slide" Target="/ppt/slides/slide6.xml" Id="R4d5c59e54f644cb1" /><Relationship Type="http://schemas.openxmlformats.org/officeDocument/2006/relationships/slide" Target="/ppt/slides/slide7.xml" Id="R2bedb89c5dc84308" /><Relationship Type="http://schemas.openxmlformats.org/officeDocument/2006/relationships/slide" Target="/ppt/slides/slide8.xml" Id="R1350ed0c05324847" /><Relationship Type="http://schemas.openxmlformats.org/officeDocument/2006/relationships/slide" Target="/ppt/slides/slide9.xml" Id="Rd9dcae9b493049d4" /><Relationship Type="http://schemas.openxmlformats.org/officeDocument/2006/relationships/slide" Target="/ppt/slides/slide10.xml" Id="Re21bffbbc2d848ca" /><Relationship Type="http://schemas.openxmlformats.org/officeDocument/2006/relationships/slide" Target="/ppt/slides/slide11.xml" Id="Rdf4e90a0af0b47fa" /><Relationship Type="http://schemas.openxmlformats.org/officeDocument/2006/relationships/slide" Target="/ppt/slides/slide12.xml" Id="R56788b3193dc4f93" /><Relationship Type="http://schemas.openxmlformats.org/officeDocument/2006/relationships/slide" Target="/ppt/slides/slide13.xml" Id="Rb1a1fa8a010c4335" /><Relationship Type="http://schemas.openxmlformats.org/officeDocument/2006/relationships/slide" Target="/ppt/slides/slide14.xml" Id="R992e0ec1b91749b4" /><Relationship Type="http://schemas.openxmlformats.org/officeDocument/2006/relationships/slide" Target="/ppt/slides/slide15.xml" Id="R4935544cc18c49be" /><Relationship Type="http://schemas.openxmlformats.org/officeDocument/2006/relationships/slide" Target="/ppt/slides/slide16.xml" Id="R67ee136630b749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460bc203a942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6056ec2b9e4497" /><Relationship Type="http://schemas.openxmlformats.org/officeDocument/2006/relationships/notesMaster" Target="/ppt/notesMasters/notesMaster1.xml" Id="R4f00d11ef57f41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061a20fe914b91" /><Relationship Type="http://schemas.openxmlformats.org/officeDocument/2006/relationships/notesMaster" Target="/ppt/notesMasters/notesMaster1.xml" Id="R8e1cf227a1954b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198aead6ac4bac" /><Relationship Type="http://schemas.openxmlformats.org/officeDocument/2006/relationships/notesMaster" Target="/ppt/notesMasters/notesMaster1.xml" Id="Rbb18bb18dcef42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727c4df3dd44c1" /><Relationship Type="http://schemas.openxmlformats.org/officeDocument/2006/relationships/notesMaster" Target="/ppt/notesMasters/notesMaster1.xml" Id="R6b241c421eb84c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c308d045f74b1c" /><Relationship Type="http://schemas.openxmlformats.org/officeDocument/2006/relationships/notesMaster" Target="/ppt/notesMasters/notesMaster1.xml" Id="R01b46c84dcfb41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e7a96fc8ed4430" /><Relationship Type="http://schemas.openxmlformats.org/officeDocument/2006/relationships/notesMaster" Target="/ppt/notesMasters/notesMaster1.xml" Id="Rb61f9262b1e840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d8d144f87946b5" /><Relationship Type="http://schemas.openxmlformats.org/officeDocument/2006/relationships/notesMaster" Target="/ppt/notesMasters/notesMaster1.xml" Id="Rc54f882b99a347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ee9bdfa92a4114" /><Relationship Type="http://schemas.openxmlformats.org/officeDocument/2006/relationships/notesMaster" Target="/ppt/notesMasters/notesMaster1.xml" Id="Rc07a0b856bdf4e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2b67192d274405" /><Relationship Type="http://schemas.openxmlformats.org/officeDocument/2006/relationships/notesMaster" Target="/ppt/notesMasters/notesMaster1.xml" Id="Rcae514fcf0cf44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fc04cd40654fca" /><Relationship Type="http://schemas.openxmlformats.org/officeDocument/2006/relationships/notesMaster" Target="/ppt/notesMasters/notesMaster1.xml" Id="R5a87ba0bb97f44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36e3dc5a864411" /><Relationship Type="http://schemas.openxmlformats.org/officeDocument/2006/relationships/notesMaster" Target="/ppt/notesMasters/notesMaster1.xml" Id="R0460a027042b42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b50f9f4eca4337" /><Relationship Type="http://schemas.openxmlformats.org/officeDocument/2006/relationships/notesMaster" Target="/ppt/notesMasters/notesMaster1.xml" Id="Rcd418e610b0042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cc668b14be4b22" /><Relationship Type="http://schemas.openxmlformats.org/officeDocument/2006/relationships/notesMaster" Target="/ppt/notesMasters/notesMaster1.xml" Id="R6940ec522bfe45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9d72bb522e4af6" /><Relationship Type="http://schemas.openxmlformats.org/officeDocument/2006/relationships/notesMaster" Target="/ppt/notesMasters/notesMaster1.xml" Id="Rb4410fac3d954c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80212be02d4a88" /><Relationship Type="http://schemas.openxmlformats.org/officeDocument/2006/relationships/notesMaster" Target="/ppt/notesMasters/notesMaster1.xml" Id="R1c91c2c14a7a4c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a2a551f8c248e8" /><Relationship Type="http://schemas.openxmlformats.org/officeDocument/2006/relationships/notesMaster" Target="/ppt/notesMasters/notesMaster1.xml" Id="R9088e401c4fc4b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D:/InformeCliente/docs_/01_Planificacion/Informe_Estado_Proyecto_Actualizado_2026-08-18.md</a:t>
            </a:r>
            <a:endParaRPr/>
          </a:p>
          <a:p xmlns:a="http://schemas.openxmlformats.org/drawingml/2006/main">
            <a:r>
              <a:t>- C:/Users/lenovo´/Downloads/1._Presentación_TMT.pdf</a:t>
            </a:r>
            <a:endParaRPr/>
          </a:p>
          <a:p xmlns:a="http://schemas.openxmlformats.org/drawingml/2006/main">
            <a:r>
              <a:t>- OpenAI ImageGen; prompt registrado en image-prompts.txt; activo normalizado a 7680x4320 px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https://claude.com/pricing</a:t>
            </a:r>
            <a:endParaRPr/>
          </a:p>
          <a:p xmlns:a="http://schemas.openxmlformats.org/drawingml/2006/main">
            <a:r>
              <a:t>- https://support.claude.com/en/articles/11049762-choose-a-claude-plan</a:t>
            </a:r>
            <a:endParaRPr/>
          </a:p>
          <a:p xmlns:a="http://schemas.openxmlformats.org/drawingml/2006/main">
            <a:r>
              <a:t>- C:/Users/lenovo´/AppData/Local/Temp/codex-clipboard-743dc529-8a0c-43d0-878f-6db1ba69f57a.png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D:/InformeCliente/specs/BACKLOG.md</a:t>
            </a:r>
            <a:endParaRPr/>
          </a:p>
          <a:p xmlns:a="http://schemas.openxmlformats.org/drawingml/2006/main">
            <a:r>
              <a:t>- D:/InformeCliente/scripts/project-status-metrics.ps1</a:t>
            </a:r>
            <a:endParaRPr/>
          </a:p>
          <a:p xmlns:a="http://schemas.openxmlformats.org/drawingml/2006/main">
            <a:r>
              <a:t>- D:/InformeCliente/docs_/01_Planificacion/Informe_Estado_Proyecto_Actualizado_2026-08-18.md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D:/InformeCliente/docs_/01_Planificacion/Informe_Estado_Proyecto_Actualizado_2026-08-18.md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D:/InformeCliente/specs/BACKLOG.md</a:t>
            </a:r>
            <a:endParaRPr/>
          </a:p>
          <a:p xmlns:a="http://schemas.openxmlformats.org/drawingml/2006/main">
            <a:r>
              <a:t>- D:/InformeCliente/specs/REGISTRY.md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D:/InformeCliente/specs/015-dr-respaldo-continuidad/spec.md</a:t>
            </a:r>
            <a:endParaRPr/>
          </a:p>
          <a:p xmlns:a="http://schemas.openxmlformats.org/drawingml/2006/main">
            <a:r>
              <a:t>- D:/InformeCliente/specs/023-portabilidad-despliegue-recuperacion/spec.md</a:t>
            </a:r>
            <a:endParaRPr/>
          </a:p>
          <a:p xmlns:a="http://schemas.openxmlformats.org/drawingml/2006/main">
            <a:r>
              <a:t>- D:/InformeCliente/docs/decisions/ADR-111-portabilidad-stack-export-import.md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D:/InformeCliente/specs/019-integracion-rp-timetelemetry/tasks.md</a:t>
            </a:r>
            <a:endParaRPr/>
          </a:p>
          <a:p xmlns:a="http://schemas.openxmlformats.org/drawingml/2006/main">
            <a:r>
              <a:t>- D:/InformeCliente/specs/021-analitica-multiserie-zonas-sensores/tasks.md</a:t>
            </a:r>
            <a:endParaRPr/>
          </a:p>
          <a:p xmlns:a="http://schemas.openxmlformats.org/drawingml/2006/main">
            <a:r>
              <a:t>- C:/Users/lenovo´/Downloads/1._Presentación_TMT.pdf</a:t>
            </a:r>
            <a:endParaRPr/>
          </a:p>
          <a:p xmlns:a="http://schemas.openxmlformats.org/drawingml/2006/main">
            <a:r>
              <a:t>- OpenAI ImageGen; prompt registrado en image-prompts.txt; activo normalizado a 7680x4320 px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D:/InformeCliente/specs/022-operaciones-campo-offline-erp/tasks.md</a:t>
            </a:r>
            <a:endParaRPr/>
          </a:p>
          <a:p xmlns:a="http://schemas.openxmlformats.org/drawingml/2006/main">
            <a:r>
              <a:t>- D:/InformeCliente/docs/decisions/ADR-110-operaciones-campo-offline-erp.md</a:t>
            </a:r>
            <a:endParaRPr/>
          </a:p>
          <a:p xmlns:a="http://schemas.openxmlformats.org/drawingml/2006/main">
            <a:r>
              <a:t>- OpenAI ImageGen; prompt registrado en image-prompts.txt; activo normalizado a 7680x4320 px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D:/InformeCliente/specs/007-editor-informes-reportstudio/spec.md</a:t>
            </a:r>
            <a:endParaRPr/>
          </a:p>
          <a:p xmlns:a="http://schemas.openxmlformats.org/drawingml/2006/main">
            <a:r>
              <a:t>- D:/InformeCliente/specs/011-ia-texto-local/spec.md</a:t>
            </a:r>
            <a:endParaRPr/>
          </a:p>
          <a:p xmlns:a="http://schemas.openxmlformats.org/drawingml/2006/main">
            <a:r>
              <a:t>- D:/InformeCliente/specs/018-dictado-voz-stt/spec.md</a:t>
            </a:r>
            <a:endParaRPr/>
          </a:p>
          <a:p xmlns:a="http://schemas.openxmlformats.org/drawingml/2006/main">
            <a:r>
              <a:t>- OpenAI ImageGen; prompt registrado en image-prompts.txt; activo normalizado a 7680x4320 px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D:/InformeCliente/specs/008-biometria-facial-login/spec.md</a:t>
            </a:r>
            <a:endParaRPr/>
          </a:p>
          <a:p xmlns:a="http://schemas.openxmlformats.org/drawingml/2006/main">
            <a:r>
              <a:t>- D:/InformeCliente/specs/REGISTRY.md</a:t>
            </a:r>
            <a:endParaRPr/>
          </a:p>
          <a:p xmlns:a="http://schemas.openxmlformats.org/drawingml/2006/main">
            <a:r>
              <a:t>- D:/InformeCliente/docs_/01_Planificacion/Informe_Estado_Proyecto_Actualizado_2026-08-18.md</a:t>
            </a:r>
            <a:endParaRPr/>
          </a:p>
          <a:p xmlns:a="http://schemas.openxmlformats.org/drawingml/2006/main">
            <a:r>
              <a:t>- OpenAI ImageGen; prompt registrado en image-prompts.txt; activo normalizado a 7680x4320 px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D:/InformeCliente/docs/PRUEBA_CAPACIDAD_TELEMETRIA_25K_2026-08-12.md</a:t>
            </a:r>
            <a:endParaRPr/>
          </a:p>
          <a:p xmlns:a="http://schemas.openxmlformats.org/drawingml/2006/main">
            <a:r>
              <a:t>- D:/InformeCliente/docs/PRUEBA_CAPACIDAD_TELEMETRIA_100K_2026-08-11.md</a:t>
            </a:r>
            <a:endParaRPr/>
          </a:p>
          <a:p xmlns:a="http://schemas.openxmlformats.org/drawingml/2006/main">
            <a:r>
              <a:t>- D:/InformeCliente/docs_/01_Planificacion/Informe_Estado_Proyecto_Actualizado_2026-08-18.md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D:/InformeCliente/agents/registry.yaml</a:t>
            </a:r>
            <a:endParaRPr/>
          </a:p>
          <a:p xmlns:a="http://schemas.openxmlformats.org/drawingml/2006/main">
            <a:r>
              <a:t>- D:/InformeCliente/ai_platform/</a:t>
            </a:r>
            <a:endParaRPr/>
          </a:p>
          <a:p xmlns:a="http://schemas.openxmlformats.org/drawingml/2006/main">
            <a:r>
              <a:t>- D:/InformeCliente/specs/CONSTITUTION.md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https://claude.com/pricing</a:t>
            </a:r>
            <a:endParaRPr/>
          </a:p>
          <a:p xmlns:a="http://schemas.openxmlformats.org/drawingml/2006/main">
            <a:r>
              <a:t>- https://support.claude.com/en/articles/11049762-choose-a-claude-plan</a:t>
            </a:r>
            <a:endParaRPr/>
          </a:p>
          <a:p xmlns:a="http://schemas.openxmlformats.org/drawingml/2006/main">
            <a:r>
              <a:t>- Cálculo: USD 200 / tarifa horaria; escenarios ilustrativos, sustituibles por costo cargado real de TimeTelemetry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https://claude.com/pricing</a:t>
            </a:r>
            <a:endParaRPr/>
          </a:p>
          <a:p xmlns:a="http://schemas.openxmlformats.org/drawingml/2006/main">
            <a:r>
              <a:t>- https://support.claude.com/en/articles/11049762-choose-a-claude-plan</a:t>
            </a:r>
            <a:endParaRPr/>
          </a:p>
          <a:p xmlns:a="http://schemas.openxmlformats.org/drawingml/2006/main">
            <a:r>
              <a:t>- D:/InformeCliente/specs/CONSTITUTION.md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D:/InformeCliente/docs_/01_Planificacion/Informe_Estado_Proyecto_Actualizado_2026-08-18.md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https://claude.com/pricing</a:t>
            </a:r>
            <a:endParaRPr/>
          </a:p>
          <a:p xmlns:a="http://schemas.openxmlformats.org/drawingml/2006/main">
            <a:r>
              <a:t>- https://support.claude.com/en/articles/11049762-choose-a-claude-plan</a:t>
            </a:r>
            <a:endParaRPr/>
          </a:p>
          <a:p xmlns:a="http://schemas.openxmlformats.org/drawingml/2006/main">
            <a:r>
              <a:t>- D:/InformeCliente/docs_/01_Planificacion/Informe_Estado_Proyecto_Actualizado_2026-08-18.md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015180bd340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d7b59a48094d7d" /><Relationship Type="http://schemas.openxmlformats.org/officeDocument/2006/relationships/image" Target="/ppt/media/image.png" Id="R2fca8274505b40b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86DAA7-4C94-4AF9-9A63-DBE6B776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F4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CA0BB39-AFB3-452A-B82B-BE89076B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a8274505b40ba"/>
          <a:stretch xmlns:a="http://schemas.openxmlformats.org/drawingml/2006/main"/>
        </p:blipFill>
        <p:spPr>
          <a:xfrm xmlns:a="http://schemas.openxmlformats.org/drawingml/2006/main">
            <a:off x="8186060" y="4844491"/>
            <a:ext cx="758084" cy="256032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c7b593ebf34b45" /><Relationship Type="http://schemas.openxmlformats.org/officeDocument/2006/relationships/slideLayout" Target="/ppt/slideLayouts/slideLayout1.xml" Id="Ra27a53154a314bcf" /><Relationship Type="http://schemas.openxmlformats.org/officeDocument/2006/relationships/slideLayout" Target="/ppt/slideLayouts/slideLayout2.xml" Id="R6fc68c7c75d54c6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7a53154a314bcf"/>
    <p:sldLayoutId xmlns:r="http://schemas.openxmlformats.org/officeDocument/2006/relationships" id="2147483650" r:id="R6fc68c7c75d54c6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defc7d12974192" /><Relationship Type="http://schemas.openxmlformats.org/officeDocument/2006/relationships/image" Target="/ppt/media/image.jpeg" Id="R7fe034678da842f4" /><Relationship Type="http://schemas.openxmlformats.org/officeDocument/2006/relationships/notesSlide" Target="/ppt/notesSlides/notesSlide1.xml" Id="Re1bfafc629c946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bd8cc6518443d1" /><Relationship Type="http://schemas.openxmlformats.org/officeDocument/2006/relationships/image" Target="/ppt/media/image2.png" Id="Radf458ad2a214268" /><Relationship Type="http://schemas.openxmlformats.org/officeDocument/2006/relationships/notesSlide" Target="/ppt/notesSlides/notesSlide2.xml" Id="Rfaf07e4eac0940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000d1ecf3c40d1" /><Relationship Type="http://schemas.openxmlformats.org/officeDocument/2006/relationships/image" Target="/ppt/media/image3.png" Id="R190c249c23f74732" /><Relationship Type="http://schemas.openxmlformats.org/officeDocument/2006/relationships/image" Target="/ppt/media/image.svg" Id="R6ab0a67ed98e4720" /><Relationship Type="http://schemas.openxmlformats.org/officeDocument/2006/relationships/image" Target="/ppt/media/image.png" Id="R09e9061659a14b53" /><Relationship Type="http://schemas.openxmlformats.org/officeDocument/2006/relationships/chart" Target="/ppt/slides/charts/chart1.xml" Id="Rdef6fa9a6548430e" /><Relationship Type="http://schemas.openxmlformats.org/officeDocument/2006/relationships/notesSlide" Target="/ppt/notesSlides/notesSlide3.xml" Id="Re4253b585e7746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785e4acc8e478b" /><Relationship Type="http://schemas.openxmlformats.org/officeDocument/2006/relationships/image" Target="/ppt/media/image3.png" Id="R43659f050b1a4f9b" /><Relationship Type="http://schemas.openxmlformats.org/officeDocument/2006/relationships/image" Target="/ppt/media/image.png" Id="R9788d0f0f7764ba0" /><Relationship Type="http://schemas.openxmlformats.org/officeDocument/2006/relationships/image" Target="/ppt/media/image.svg" Id="R11cb6188f4364150" /><Relationship Type="http://schemas.openxmlformats.org/officeDocument/2006/relationships/chart" Target="/ppt/slides/charts/chart2.xml" Id="R8b700e987671492b" /><Relationship Type="http://schemas.openxmlformats.org/officeDocument/2006/relationships/notesSlide" Target="/ppt/notesSlides/notesSlide4.xml" Id="Rb773f8874ba54d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8232309a2e4786" /><Relationship Type="http://schemas.openxmlformats.org/officeDocument/2006/relationships/image" Target="/ppt/media/image4.png" Id="R590d7e272f274e48" /><Relationship Type="http://schemas.openxmlformats.org/officeDocument/2006/relationships/image" Target="/ppt/media/image5.png" Id="R30e8303734374564" /><Relationship Type="http://schemas.openxmlformats.org/officeDocument/2006/relationships/image" Target="/ppt/media/image6.png" Id="R5645ba6e26284a37" /><Relationship Type="http://schemas.openxmlformats.org/officeDocument/2006/relationships/notesSlide" Target="/ppt/notesSlides/notesSlide5.xml" Id="R17670db8b0054d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8028f7bf964a17" /><Relationship Type="http://schemas.openxmlformats.org/officeDocument/2006/relationships/image" Target="/ppt/media/image4.png" Id="Ra7abef63360f4ab2" /><Relationship Type="http://schemas.openxmlformats.org/officeDocument/2006/relationships/image" Target="/ppt/media/image5.png" Id="Rd345726279e64d83" /><Relationship Type="http://schemas.openxmlformats.org/officeDocument/2006/relationships/image" Target="/ppt/media/image6.png" Id="R0a2e5eefd61b46bc" /><Relationship Type="http://schemas.openxmlformats.org/officeDocument/2006/relationships/notesSlide" Target="/ppt/notesSlides/notesSlide6.xml" Id="R8f91918ac9d644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491ed5ae03420b" /><Relationship Type="http://schemas.openxmlformats.org/officeDocument/2006/relationships/image" Target="/ppt/media/image2.jpeg" Id="R30320c24f9844a1c" /><Relationship Type="http://schemas.openxmlformats.org/officeDocument/2006/relationships/notesSlide" Target="/ppt/notesSlides/notesSlide7.xml" Id="R96575a7bff2449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b5bb68be344143" /><Relationship Type="http://schemas.openxmlformats.org/officeDocument/2006/relationships/image" Target="/ppt/media/image3.jpeg" Id="Reb1efc3ea23e4db6" /><Relationship Type="http://schemas.openxmlformats.org/officeDocument/2006/relationships/notesSlide" Target="/ppt/notesSlides/notesSlide8.xml" Id="R2cab875c671144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6f59d6912843d3" /><Relationship Type="http://schemas.openxmlformats.org/officeDocument/2006/relationships/image" Target="/ppt/media/image4.jpeg" Id="R2428938901524b14" /><Relationship Type="http://schemas.openxmlformats.org/officeDocument/2006/relationships/notesSlide" Target="/ppt/notesSlides/notesSlide9.xml" Id="R0a11bbc1474649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bc6ea2b7934a1c" /><Relationship Type="http://schemas.openxmlformats.org/officeDocument/2006/relationships/image" Target="/ppt/media/image5.jpeg" Id="R6df51abcbc6e46b6" /><Relationship Type="http://schemas.openxmlformats.org/officeDocument/2006/relationships/notesSlide" Target="/ppt/notesSlides/notesSlide10.xml" Id="Rc13abed6b81d4f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6da72786874334" /><Relationship Type="http://schemas.openxmlformats.org/officeDocument/2006/relationships/image" Target="/ppt/media/image4.png" Id="Rd21aa93260f648d7" /><Relationship Type="http://schemas.openxmlformats.org/officeDocument/2006/relationships/image" Target="/ppt/media/image5.png" Id="R6f23f4a9744b4873" /><Relationship Type="http://schemas.openxmlformats.org/officeDocument/2006/relationships/image" Target="/ppt/media/image6.png" Id="R9d82810aabb742e5" /><Relationship Type="http://schemas.openxmlformats.org/officeDocument/2006/relationships/notesSlide" Target="/ppt/notesSlides/notesSlide11.xml" Id="R6518529b48264a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2f40944fc14a8f" /><Relationship Type="http://schemas.openxmlformats.org/officeDocument/2006/relationships/image" Target="/ppt/media/image2.svg" Id="Rdad2be2bed9046cf" /><Relationship Type="http://schemas.openxmlformats.org/officeDocument/2006/relationships/image" Target="/ppt/media/image.jpeg" Id="R3ee1aac4d308402d" /><Relationship Type="http://schemas.openxmlformats.org/officeDocument/2006/relationships/notesSlide" Target="/ppt/notesSlides/notesSlide12.xml" Id="Raa5dad9bbfc44d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c2725843f343be" /><Relationship Type="http://schemas.openxmlformats.org/officeDocument/2006/relationships/image" Target="/ppt/media/image3.png" Id="R28e241628bc3484b" /><Relationship Type="http://schemas.openxmlformats.org/officeDocument/2006/relationships/image" Target="/ppt/media/image.png" Id="R39774c7b3e47462e" /><Relationship Type="http://schemas.openxmlformats.org/officeDocument/2006/relationships/image" Target="/ppt/media/image.svg" Id="R55df66f3a8ca4269" /><Relationship Type="http://schemas.openxmlformats.org/officeDocument/2006/relationships/chart" Target="/ppt/slides/charts/chart3.xml" Id="R4097c425941a47cf" /><Relationship Type="http://schemas.openxmlformats.org/officeDocument/2006/relationships/notesSlide" Target="/ppt/notesSlides/notesSlide13.xml" Id="R0cedae2163714b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454c318df14d3d" /><Relationship Type="http://schemas.openxmlformats.org/officeDocument/2006/relationships/image" Target="/ppt/media/image7.png" Id="R7759e8d4f5e1413e" /><Relationship Type="http://schemas.openxmlformats.org/officeDocument/2006/relationships/notesSlide" Target="/ppt/notesSlides/notesSlide14.xml" Id="R2043c5fe30d840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13a10a77234b40" /><Relationship Type="http://schemas.openxmlformats.org/officeDocument/2006/relationships/image" Target="/ppt/media/image7.png" Id="R54e8d64ba6ee4a8a" /><Relationship Type="http://schemas.openxmlformats.org/officeDocument/2006/relationships/notesSlide" Target="/ppt/notesSlides/notesSlide15.xml" Id="R9a56961a984841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a2dc41faf043dc" /><Relationship Type="http://schemas.openxmlformats.org/officeDocument/2006/relationships/image" Target="/ppt/media/image2.png" Id="Rf90b35e83bb74ef4" /><Relationship Type="http://schemas.openxmlformats.org/officeDocument/2006/relationships/notesSlide" Target="/ppt/notesSlides/notesSlide16.xml" Id="R4276c3e525ae474d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72525"/>
                </a:solidFill>
              </a:rPr>
              <a:t>Ejecución documentada · 196 tareas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72525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Ítems abiertos</c:v>
          </c:tx>
          <c:spPr>
            <a:solidFill xmlns:a="http://schemas.openxmlformats.org/drawingml/2006/main">
              <a:srgbClr val="EF6535"/>
            </a:solidFill>
          </c:spPr>
          <c:cat>
            <c:strLit>
              <c:ptCount val="2"/>
              <c:pt idx="0">
                <c:v>Completado</c:v>
              </c:pt>
              <c:pt idx="1">
                <c:v>Pendiente</c:v>
              </c:pt>
            </c:strLit>
          </c:cat>
          <c:val>
            <c:numLit>
              <c:formatCode>General</c:formatCode>
              <c:ptCount val="2"/>
              <c:pt idx="0">
                <c:v>54.1</c:v>
              </c:pt>
              <c:pt idx="1">
                <c:v>45.9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7E2D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72525"/>
                </a:solidFill>
              </a:rPr>
              <a:t>Readiness por gate al 18-ago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72525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Ítems abiertos</c:v>
          </c:tx>
          <c:spPr>
            <a:solidFill xmlns:a="http://schemas.openxmlformats.org/drawingml/2006/main">
              <a:srgbClr val="EF6535"/>
            </a:solidFill>
          </c:spPr>
          <c:cat>
            <c:strLit>
              <c:ptCount val="7"/>
              <c:pt idx="0">
                <c:v>Jun R1</c:v>
              </c:pt>
              <c:pt idx="1">
                <c:v>Jul R2</c:v>
              </c:pt>
              <c:pt idx="2">
                <c:v>Ago R3</c:v>
              </c:pt>
              <c:pt idx="3">
                <c:v>Sep R4</c:v>
              </c:pt>
              <c:pt idx="4">
                <c:v>Oct R5</c:v>
              </c:pt>
              <c:pt idx="5">
                <c:v>Nov R6</c:v>
              </c:pt>
              <c:pt idx="6">
                <c:v>Campo</c:v>
              </c:pt>
            </c:strLit>
          </c:cat>
          <c:val>
            <c:numLit>
              <c:formatCode>General</c:formatCode>
              <c:ptCount val="7"/>
              <c:pt idx="0">
                <c:v>100</c:v>
              </c:pt>
              <c:pt idx="1">
                <c:v>90.9</c:v>
              </c:pt>
              <c:pt idx="2">
                <c:v>75.8</c:v>
              </c:pt>
              <c:pt idx="3">
                <c:v>58.1</c:v>
              </c:pt>
              <c:pt idx="4">
                <c:v>37.7</c:v>
              </c:pt>
              <c:pt idx="5">
                <c:v>40</c:v>
              </c:pt>
              <c:pt idx="6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7E2D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72525"/>
                </a:solidFill>
              </a:rPr>
              <a:t>Horas/año para recuperar USD 200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72525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Ítems abiertos</c:v>
          </c:tx>
          <c:spPr>
            <a:solidFill xmlns:a="http://schemas.openxmlformats.org/drawingml/2006/main">
              <a:srgbClr val="EF6535"/>
            </a:solidFill>
          </c:spPr>
          <c:cat>
            <c:strLit>
              <c:ptCount val="3"/>
              <c:pt idx="0">
                <c:v>USD 15/h</c:v>
              </c:pt>
              <c:pt idx="1">
                <c:v>USD 25/h</c:v>
              </c:pt>
              <c:pt idx="2">
                <c:v>USD 40/h</c:v>
              </c:pt>
            </c:strLit>
          </c:cat>
          <c:val>
            <c:numLit>
              <c:formatCode>General</c:formatCode>
              <c:ptCount val="3"/>
              <c:pt idx="0">
                <c:v>13.3</c:v>
              </c:pt>
              <c:pt idx="1">
                <c:v>8</c:v>
              </c:pt>
              <c:pt idx="2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E7E2D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034678da842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1CEE6B30-A446-4843-93A0-BF0F36C3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119" y="1520651"/>
            <a:ext cx="1671191" cy="266402"/>
          </a:xfrm>
          <a:prstGeom xmlns:a="http://schemas.openxmlformats.org/drawingml/2006/main" prst="roundRect">
            <a:avLst>
              <a:gd name="adj" fmla="val 17880"/>
            </a:avLst>
          </a:prstGeom>
          <a:solidFill xmlns:a="http://schemas.openxmlformats.org/drawingml/2006/main">
            <a:srgbClr val="FBE5D6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4B3D404-503A-443D-A6F0-EBCCD10C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74" y="1563142"/>
            <a:ext cx="1958280" cy="1814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DECISIÓN GERENCIAL · 18 AGOSTO 2026</a:t>
            </a:r>
            <a:endParaRPr sz="8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F774107-0C72-494A-83CF-F10952F1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119" y="1843757"/>
            <a:ext cx="4722763" cy="885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4198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75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Claude Pro para cerrar la industrialización de Plataforma Minera</a:t>
            </a:r>
            <a:endParaRPr sz="27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96B3BEE-0923-4796-8991-D9B523AD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119" y="2942332"/>
            <a:ext cx="4722763" cy="6804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Solicitud: aprobar una licencia anual de USD 200, con gobierno y métricas, para sostener ingeniería, pruebas, integraciones y documentación crítica.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624870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458ad2a214268"/>
          <a:srcRect xmlns:a="http://schemas.openxmlformats.org/drawingml/2006/main" l="31254" t="0" r="312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765871-8B9A-4D5E-93CA-396FC98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56456"/>
            <a:ext cx="4565303" cy="366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122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Aprobar USD 200 ahora; medir en 30 días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4BEA8FA-24E5-41EE-B83B-11375C97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969094"/>
            <a:ext cx="4893320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Una licencia anual elimina una restricción evitable en el tramo más exigente del proyecto.</a:t>
            </a:r>
            <a:endParaRPr sz="9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0CF802F-0984-4224-BB99-7566FE6E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1421755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C3AC8A8-7CC8-4184-ACC4-E44A3932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543869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Continuidad inmediata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C09BDEC-70BA-4B12-9A42-1F0E4B06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785565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Evita que una ventana agotada detenga análisis, código, pruebas y documentación.</a:t>
            </a:r>
            <a:endParaRPr sz="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A99BA2B-C3A6-40D2-A9A6-E45B0C9B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2348210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D8FA41-6D09-446D-9BCF-1C277C7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470324"/>
            <a:ext cx="1837060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Uso nominal y seguro</a:t>
            </a:r>
            <a:endParaRPr sz="11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DFD08-E33A-4D8C-AFA9-C3B6986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712021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Una cuenta, un responsable; sin compartir credenciales ni datos sensibles.</a:t>
            </a:r>
            <a:endParaRPr sz="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82450B6-6920-4A53-84B3-6223DF11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3102992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2352A5B-65FC-4A71-9DD1-250A4EC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225105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KPI de 30 días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6387D7F-4016-4767-98DC-977C48A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466802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Horas evitadas, CA cerrados, pruebas creadas y defectos detectados.</a:t>
            </a:r>
            <a:endParaRPr sz="9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BD2446E-0358-4153-B608-8642B424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029447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A4280EB-584D-44AF-B9C7-EA94EB53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151561"/>
            <a:ext cx="14738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Escala por evidencia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31724C6-D6D5-4CB4-88AE-CF4DC45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393257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Agregar asientos solo cuando la concurrencia y los límites lo justifiquen.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797034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F902081-8BAA-4E97-AED4-E910FBDF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10" y="386209"/>
            <a:ext cx="6413450" cy="401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7073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5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La base existe, pero el producto completo está en 54,1%</a:t>
            </a:r>
            <a:endParaRPr sz="2500"/>
          </a:p>
        </p:txBody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c249c23f74732"/>
          <a:stretch xmlns:a="http://schemas.openxmlformats.org/drawingml/2006/main"/>
        </p:blipFill>
        <p:spPr>
          <a:xfrm xmlns:a="http://schemas.openxmlformats.org/drawingml/2006/main">
            <a:off x="449610" y="1850766"/>
            <a:ext cx="3965674" cy="133935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84458DB-E65C-4688-97B4-13BD15EB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479" y="1078632"/>
            <a:ext cx="2984748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Lectura ejecutiva</a:t>
            </a:r>
            <a:endParaRPr sz="1250"/>
          </a:p>
        </p:txBody>
      </p:sp>
      <p:pic>
        <p:nvPicPr>
          <p:cNvPr id="2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9061659a14b53">
            <a:extLst>
              <a:ext uri="{96DAC541-7B7A-43D3-8B79-37D633B846F1}">
                <asvg:svgBlip xmlns:asvg="http://schemas.microsoft.com/office/drawing/2016/SVG/main" r:embed="R6ab0a67ed98e472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1410295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5DF126E0-767E-49D6-AC57-618CE2C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1553021"/>
            <a:ext cx="1932161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106 tareas cerradas</a:t>
            </a:r>
            <a:endParaRPr sz="125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B1910C5-309C-47CC-BD6A-0162D62C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1870100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Inter"/>
                <a:ea typeface="Inter"/>
                <a:cs typeface="Inter"/>
              </a:rPr>
              <a:t>De 196 tareas canónicas; la cifra mide ejecución documentada, no aceptación productiva.</a:t>
            </a:r>
            <a:endParaRPr sz="1000"/>
          </a:p>
        </p:txBody>
      </p:sp>
      <p:pic>
        <p:nvPicPr>
          <p:cNvPr id="2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9061659a14b53">
            <a:extLst>
              <a:ext uri="{96DAC541-7B7A-43D3-8B79-37D633B846F1}">
                <asvg:svgBlip xmlns:asvg="http://schemas.microsoft.com/office/drawing/2016/SVG/main" r:embed="R6ab0a67ed98e472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2521074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A0B8F6B7-83D1-42F9-9C3B-2C152D43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2663800"/>
            <a:ext cx="1735038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90 tareas abiertas</a:t>
            </a:r>
            <a:endParaRPr sz="12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711B2667-FBAF-4D6F-89FB-AB458D62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2980879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Inter"/>
                <a:ea typeface="Inter"/>
                <a:cs typeface="Inter"/>
              </a:rPr>
              <a:t>El pendiente se concentra en offline, alertas, DR, pruebas, integraciones y campo.</a:t>
            </a:r>
            <a:endParaRPr sz="1000"/>
          </a:p>
        </p:txBody>
      </p:sp>
      <p:pic>
        <p:nvPicPr>
          <p:cNvPr id="2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9061659a14b53">
            <a:extLst>
              <a:ext uri="{96DAC541-7B7A-43D3-8B79-37D633B846F1}">
                <asvg:svgBlip xmlns:asvg="http://schemas.microsoft.com/office/drawing/2016/SVG/main" r:embed="R6ab0a67ed98e472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3631853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D9290B7A-6142-440B-A25B-5FEA525B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3774579"/>
            <a:ext cx="2382217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R6: 4 de 10 controles</a:t>
            </a:r>
            <a:endParaRPr sz="125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A21551A2-4FE9-4ED2-9FAC-A52F8446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4091657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Inter"/>
                <a:ea typeface="Inter"/>
                <a:cs typeface="Inter"/>
              </a:rPr>
              <a:t>Sin pentest, DR, UAT, rollback y marcha blanca todavía no existe go-live.</a:t>
            </a:r>
            <a:endParaRPr sz="1000"/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49610" y="1093217"/>
          <a:ext xmlns:a="http://schemas.openxmlformats.org/drawingml/2006/main" cx="3965674" cy="285444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f6fa9a6548430e"/>
          </a:graphicData>
        </a:graphic>
      </p:graphicFrame>
    </p:spTree>
    <p:extLst>
      <p:ext uri="{BB962C8B-B14F-4D97-AF65-F5344CB8AC3E}">
        <p14:creationId xmlns:p14="http://schemas.microsoft.com/office/powerpoint/2010/main" val="3654918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F902081-8BAA-4E97-AED4-E910FBDF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10" y="386209"/>
            <a:ext cx="6413450" cy="401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185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5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El riesgo crece en los gates que todavía deben probar operación real</a:t>
            </a:r>
            <a:endParaRPr sz="2500"/>
          </a:p>
        </p:txBody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59f050b1a4f9b"/>
          <a:stretch xmlns:a="http://schemas.openxmlformats.org/drawingml/2006/main"/>
        </p:blipFill>
        <p:spPr>
          <a:xfrm xmlns:a="http://schemas.openxmlformats.org/drawingml/2006/main">
            <a:off x="449610" y="1850766"/>
            <a:ext cx="3965674" cy="133935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84458DB-E65C-4688-97B4-13BD15EB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479" y="1078632"/>
            <a:ext cx="2984748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Preparación al 18-ago</a:t>
            </a:r>
            <a:endParaRPr sz="1250"/>
          </a:p>
        </p:txBody>
      </p:sp>
      <p:pic>
        <p:nvPicPr>
          <p:cNvPr id="2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8d0f0f7764ba0">
            <a:extLst>
              <a:ext uri="{96DAC541-7B7A-43D3-8B79-37D633B846F1}">
                <asvg:svgBlip xmlns:asvg="http://schemas.microsoft.com/office/drawing/2016/SVG/main" r:embed="R11cb6188f436415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1410295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5DF126E0-767E-49D6-AC57-618CE2C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1553021"/>
            <a:ext cx="1932161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R3 · 75,8%</a:t>
            </a:r>
            <a:endParaRPr sz="125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B1910C5-309C-47CC-BD6A-0162D62C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1870100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Inter"/>
                <a:ea typeface="Inter"/>
                <a:cs typeface="Inter"/>
              </a:rPr>
              <a:t>Build y pruebas base verdes; falta cerrar aceptación integrada, regresión y evidencia.</a:t>
            </a:r>
            <a:endParaRPr sz="1000"/>
          </a:p>
        </p:txBody>
      </p:sp>
      <p:pic>
        <p:nvPicPr>
          <p:cNvPr id="2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8d0f0f7764ba0">
            <a:extLst>
              <a:ext uri="{96DAC541-7B7A-43D3-8B79-37D633B846F1}">
                <asvg:svgBlip xmlns:asvg="http://schemas.microsoft.com/office/drawing/2016/SVG/main" r:embed="R11cb6188f436415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2521074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A0B8F6B7-83D1-42F9-9C3B-2C152D43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2663800"/>
            <a:ext cx="1735038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R4 · 58,1%</a:t>
            </a:r>
            <a:endParaRPr sz="12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711B2667-FBAF-4D6F-89FB-AB458D62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2980879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Inter"/>
                <a:ea typeface="Inter"/>
                <a:cs typeface="Inter"/>
              </a:rPr>
              <a:t>Offline, alertas, AWS real, RP productivo y exportaciones concentran la brecha.</a:t>
            </a:r>
            <a:endParaRPr sz="1000"/>
          </a:p>
        </p:txBody>
      </p:sp>
      <p:pic>
        <p:nvPicPr>
          <p:cNvPr id="2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8d0f0f7764ba0">
            <a:extLst>
              <a:ext uri="{96DAC541-7B7A-43D3-8B79-37D633B846F1}">
                <asvg:svgBlip xmlns:asvg="http://schemas.microsoft.com/office/drawing/2016/SVG/main" r:embed="R11cb6188f436415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3631853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D9290B7A-6142-440B-A25B-5FEA525B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3774579"/>
            <a:ext cx="2382217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R5 · 37,7%</a:t>
            </a:r>
            <a:endParaRPr sz="125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A21551A2-4FE9-4ED2-9FAC-A52F8446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4091657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Inter"/>
                <a:ea typeface="Inter"/>
                <a:cs typeface="Inter"/>
              </a:rPr>
              <a:t>DR, pentest, calibración biométrica y despliegue/restore aún no están aceptados.</a:t>
            </a:r>
            <a:endParaRPr sz="1000"/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49610" y="1093217"/>
          <a:ext xmlns:a="http://schemas.openxmlformats.org/drawingml/2006/main" cx="3965674" cy="285444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700e987671492b"/>
          </a:graphicData>
        </a:graphic>
      </p:graphicFrame>
    </p:spTree>
    <p:extLst>
      <p:ext uri="{BB962C8B-B14F-4D97-AF65-F5344CB8AC3E}">
        <p14:creationId xmlns:p14="http://schemas.microsoft.com/office/powerpoint/2010/main" val="3654918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B029EC-EA20-4D87-A339-62980CA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854050"/>
            <a:ext cx="8046765" cy="442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3412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75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El pendiente crítico está en la industrialización, no solo en reportes</a:t>
            </a:r>
            <a:endParaRPr sz="2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8D5A13-B936-4585-BB29-058E8A5E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1580555"/>
            <a:ext cx="8608963" cy="2268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La licencia acelera trabajo transversal que requiere ingeniería, verificación y trazabilidad.</a:t>
            </a:r>
            <a:endParaRPr sz="1100"/>
          </a:p>
        </p:txBody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d7e272f274e48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119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3964016-859D-4668-BF88-C5537401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Producto e IA</a:t>
            </a:r>
            <a:endParaRPr sz="13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B6DD623-BBD6-4FDA-B18C-674B6D1E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3382194"/>
            <a:ext cx="2599134" cy="90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Offline 0/10, alertas 0/5, STT 0/7, documentos avanzados y analítica predictiva.</a:t>
            </a:r>
            <a:endParaRPr sz="1100"/>
          </a:p>
        </p:txBody>
      </p:sp>
      <p:pic>
        <p:nvPicPr>
          <p:cNvPr id="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8303734374564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2433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D392772-3DEB-4AC1-9558-0A6226B5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33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Integraciones reales</a:t>
            </a:r>
            <a:endParaRPr sz="13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FB9331C-7F12-4C0B-B38C-FB5DACAE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33" y="3382194"/>
            <a:ext cx="2599134" cy="6804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AWS, escritura RP/Odoo, sensores, zonas, ERP y contratos de datos con cliente.</a:t>
            </a:r>
            <a:endParaRPr sz="1100"/>
          </a:p>
        </p:txBody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5ba6e26284a37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747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FFA10038-C3CE-45F1-A28F-5E5B3012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747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Preparación de go-live</a:t>
            </a:r>
            <a:endParaRPr sz="135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051C0024-86B3-42A7-9891-88BAE094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747" y="3382194"/>
            <a:ext cx="2599134" cy="90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VPS, CI/CD, pentest, DR, UAT, capacitación, manuales y marcha blanca.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101628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B029EC-EA20-4D87-A339-62980CA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854050"/>
            <a:ext cx="8046765" cy="442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75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VPS, ciberseguridad y resiliencia habilitan la operación</a:t>
            </a:r>
            <a:endParaRPr sz="2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8D5A13-B936-4585-BB29-058E8A5E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1580555"/>
            <a:ext cx="8608963" cy="2268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Portabilidad no equivale a despliegue aceptado ni a recuperación ante desastres.</a:t>
            </a:r>
            <a:endParaRPr sz="1100"/>
          </a:p>
        </p:txBody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bef63360f4ab2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119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3964016-859D-4668-BF88-C5537401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VPS y CI/CD</a:t>
            </a:r>
            <a:endParaRPr sz="13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B6DD623-BBD6-4FDA-B18C-674B6D1E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3382194"/>
            <a:ext cx="2599134" cy="90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IaC, secretos, imágenes firmadas, SBOM, despliegue progresivo y rollback probado.</a:t>
            </a:r>
            <a:endParaRPr sz="1100"/>
          </a:p>
        </p:txBody>
      </p:sp>
      <p:pic>
        <p:nvPicPr>
          <p:cNvPr id="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5726279e64d83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2433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D392772-3DEB-4AC1-9558-0A6226B5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33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Ciberseguridad</a:t>
            </a:r>
            <a:endParaRPr sz="13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FB9331C-7F12-4C0B-B38C-FB5DACAE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33" y="3382194"/>
            <a:ext cx="2599134" cy="6804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SAST/DAST, tenant, dependencias, pentest y cierre P0/P1.</a:t>
            </a:r>
            <a:endParaRPr sz="1100"/>
          </a:p>
        </p:txBody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e5eefd61b46bc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747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FFA10038-C3CE-45F1-A28F-5E5B3012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747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Resiliencia y DR</a:t>
            </a:r>
            <a:endParaRPr sz="135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051C0024-86B3-42A7-9891-88BAE094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747" y="3382194"/>
            <a:ext cx="2599134" cy="90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Backups cifrados, restore limpio, failover, RTO/RPO y fallas DB/broker/WAN/disco.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101628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765871-8B9A-4D5E-93CA-396FC98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56456"/>
            <a:ext cx="4565303" cy="366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AWS, RP y sensores deben integrarse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4BEA8FA-24E5-41EE-B83B-11375C97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969094"/>
            <a:ext cx="4893320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La mayor parte del riesgo restante está en validar datos, permisos y recuperación con sistemas reales.</a:t>
            </a:r>
            <a:endParaRPr sz="9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0CF802F-0984-4224-BB99-7566FE6E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1421755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C3AC8A8-7CC8-4184-ACC4-E44A3932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543869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AWS / ThingsBoard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C09BDEC-70BA-4B12-9A42-1F0E4B06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785565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Conector y 6 M de puntos en entorno controlado; faltan credenciales y aceptación del cliente.</a:t>
            </a:r>
            <a:endParaRPr sz="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A99BA2B-C3A6-40D2-A9A6-E45B0C9B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2348210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D8FA41-6D09-446D-9BCF-1C277C7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470324"/>
            <a:ext cx="1837060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RP TimeTelemetry / Odoo</a:t>
            </a:r>
            <a:endParaRPr sz="11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DFD08-E33A-4D8C-AFA9-C3B6986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712021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19/20 tareas y 2.108 equipos; falta create/write productivo en ventana autorizada.</a:t>
            </a:r>
            <a:endParaRPr sz="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82450B6-6920-4A53-84B3-6223DF11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3102992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2352A5B-65FC-4A71-9DD1-250A4EC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225105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Sensores y zonas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6387D7F-4016-4767-98DC-977C48A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466802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Catálogo y 10 gráficos existen; faltan anti-IDOR, contrato API, export y CI.</a:t>
            </a:r>
            <a:endParaRPr sz="9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BD2446E-0358-4153-B608-8642B424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029447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A4280EB-584D-44AF-B9C7-EA94EB53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151561"/>
            <a:ext cx="14738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Campo y ERP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31724C6-D6D5-4CB4-88AE-CF4DC45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393257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Outbox offline, idempotencia, conflictos, evidencia y piloto todavía deben implementarse.</a:t>
            </a:r>
            <a:endParaRPr sz="900"/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20c24f9844a1c"/>
          <a:srcRect xmlns:a="http://schemas.openxmlformats.org/drawingml/2006/main" l="31250" t="0" r="3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034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765871-8B9A-4D5E-93CA-396FC98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56456"/>
            <a:ext cx="4565303" cy="366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55609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Operaciones de campo abre un proyecto derivado: hoy está en 0/14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4BEA8FA-24E5-41EE-B83B-11375C97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969094"/>
            <a:ext cx="4893320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No debe absorberse en R6 sin recursos, fechas, PDA/MDM, privacidad y un piloto definido.</a:t>
            </a:r>
            <a:endParaRPr sz="9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0CF802F-0984-4224-BB99-7566FE6E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1421755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C3AC8A8-7CC8-4184-ACC4-E44A3932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543869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Captura offline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C09BDEC-70BA-4B12-9A42-1F0E4B06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785565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Formularios, fotos, firmas, geolocalización y sellos de tiempo con sincronización segura.</a:t>
            </a:r>
            <a:endParaRPr sz="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A99BA2B-C3A6-40D2-A9A6-E45B0C9B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2348210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D8FA41-6D09-446D-9BCF-1C277C7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470324"/>
            <a:ext cx="1837060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Evidencia y voz</a:t>
            </a:r>
            <a:endParaRPr sz="11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DFD08-E33A-4D8C-AFA9-C3B6986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712021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Dictado con ruido, checklists, incidentes e informes de instalación desde campo.</a:t>
            </a:r>
            <a:endParaRPr sz="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82450B6-6920-4A53-84B3-6223DF11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3102992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2352A5B-65FC-4A71-9DD1-250A4EC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225105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Conciliación ERP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6387D7F-4016-4767-98DC-977C48A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466802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Outbox, idempotencia, conflictos, permisos y trazabilidad de cada operación.</a:t>
            </a:r>
            <a:endParaRPr sz="9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BD2446E-0358-4153-B608-8642B424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029447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A4280EB-584D-44AF-B9C7-EA94EB53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151561"/>
            <a:ext cx="14738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Adopción operativa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31724C6-D6D5-4CB4-88AE-CF4DC45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393257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Capacitación por rol, soporte en sitio, UAT, manuales y acompañamiento de arranque.</a:t>
            </a:r>
            <a:endParaRPr sz="900"/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efc3ea23e4db6"/>
          <a:srcRect xmlns:a="http://schemas.openxmlformats.org/drawingml/2006/main" l="31250" t="0" r="3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034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765871-8B9A-4D5E-93CA-396FC98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56456"/>
            <a:ext cx="4565303" cy="366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60611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La IA convierte evidencia de campo en documentos auditables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4BEA8FA-24E5-41EE-B83B-11375C97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969094"/>
            <a:ext cx="4893320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El objetivo no es solo redactar: es reducir retrabajo sin perder datos, versiones ni aprobación humana.</a:t>
            </a:r>
            <a:endParaRPr sz="9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0CF802F-0984-4224-BB99-7566FE6E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1421755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C3AC8A8-7CC8-4184-ACC4-E44A3932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543869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Corrección inteligente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C09BDEC-70BA-4B12-9A42-1F0E4B06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785565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Ortografía, sintaxis, contexto y terminología técnica antes de la generación final.</a:t>
            </a:r>
            <a:endParaRPr sz="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A99BA2B-C3A6-40D2-A9A6-E45B0C9B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2348210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D8FA41-6D09-446D-9BCF-1C277C7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470324"/>
            <a:ext cx="1837060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Generación gobernada</a:t>
            </a:r>
            <a:endParaRPr sz="11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DFD08-E33A-4D8C-AFA9-C3B6986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712021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Plantillas, RAG, versionado, fuentes, cálculos, revisión y firma dentro del flujo.</a:t>
            </a:r>
            <a:endParaRPr sz="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82450B6-6920-4A53-84B3-6223DF11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3102992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2352A5B-65FC-4A71-9DD1-250A4EC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225105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Catálogo prioritario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6387D7F-4016-4767-98DC-977C48A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466802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Actas, cotizaciones, proformas, propuestas técnicas/económicas e informes de instalación.</a:t>
            </a:r>
            <a:endParaRPr sz="9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BD2446E-0358-4153-B608-8642B424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029447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A4280EB-584D-44AF-B9C7-EA94EB53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151561"/>
            <a:ext cx="14738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Salida verificable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31724C6-D6D5-4CB4-88AE-CF4DC45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393257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PDF/Office, anexos, tablas, gráficos, mapas, trazabilidad y estado de aprobación.</a:t>
            </a:r>
            <a:endParaRPr sz="900"/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8938901524b14"/>
          <a:srcRect xmlns:a="http://schemas.openxmlformats.org/drawingml/2006/main" l="31250" t="0" r="3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034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765871-8B9A-4D5E-93CA-396FC98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56456"/>
            <a:ext cx="4565303" cy="366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8783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Biometría segura: pruebas pendientes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4BEA8FA-24E5-41EE-B83B-11375C97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969094"/>
            <a:ext cx="4893320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El cierre exige métricas, hardware real, liveness, privacidad y una ruta segura de contingencia.</a:t>
            </a:r>
            <a:endParaRPr sz="9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0CF802F-0984-4224-BB99-7566FE6E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1421755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C3AC8A8-7CC8-4184-ACC4-E44A3932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543869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Ruta principal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C09BDEC-70BA-4B12-9A42-1F0E4B06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785565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DeepFace + SilentFace es la decisión vigente para reconocimiento y liveness por defecto.</a:t>
            </a:r>
            <a:endParaRPr sz="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A99BA2B-C3A6-40D2-A9A6-E45B0C9B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2348210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D8FA41-6D09-446D-9BCF-1C277C7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470324"/>
            <a:ext cx="1837060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Ruta secundaria</a:t>
            </a:r>
            <a:endParaRPr sz="11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DFD08-E33A-4D8C-AFA9-C3B6986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712021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Dermalog queda como respaldo fail-closed; SeetaFace es solo rollback legado.</a:t>
            </a:r>
            <a:endParaRPr sz="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82450B6-6920-4A53-84B3-6223DF11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3102992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2352A5B-65FC-4A71-9DD1-250A4EC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225105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Aceptación técnica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6387D7F-4016-4767-98DC-977C48A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466802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FMR/FNMR, PAD, hardware, iluminación, reenrolamiento y pruebas de suplantación.</a:t>
            </a:r>
            <a:endParaRPr sz="9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BD2446E-0358-4153-B608-8642B424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029447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A4280EB-584D-44AF-B9C7-EA94EB53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151561"/>
            <a:ext cx="14738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Gobierno de datos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31724C6-D6D5-4CB4-88AE-CF4DC45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393257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DPIA, consentimiento/base legal, retención, acceso, auditoría y pentest.</a:t>
            </a:r>
            <a:endParaRPr sz="900"/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51abcbc6e46b6"/>
          <a:srcRect xmlns:a="http://schemas.openxmlformats.org/drawingml/2006/main" l="31250" t="0" r="3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0347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B029EC-EA20-4D87-A339-62980CA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854050"/>
            <a:ext cx="8046765" cy="4429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346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75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La salida a producción exige automatizar pruebas que hoy siguen separadas</a:t>
            </a:r>
            <a:endParaRPr sz="2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8D5A13-B936-4585-BB29-058E8A5E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1580555"/>
            <a:ext cx="8608963" cy="2268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25k/s está demostrado; 100k/s, DR y E2E productivo todavía no están aprobados.</a:t>
            </a:r>
            <a:endParaRPr sz="1100"/>
          </a:p>
        </p:txBody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aa93260f648d7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119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3964016-859D-4668-BF88-C5537401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Esfuerzo y capacidad</a:t>
            </a:r>
            <a:endParaRPr sz="13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B6DD623-BBD6-4FDA-B18C-674B6D1E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19" y="3382194"/>
            <a:ext cx="2599134" cy="90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25→50→75→100k/s, soak 1 h/24 h, pérdida cero, p99 y backpressure medidos.</a:t>
            </a:r>
            <a:endParaRPr sz="1100"/>
          </a:p>
        </p:txBody>
      </p:sp>
      <p:pic>
        <p:nvPicPr>
          <p:cNvPr id="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3f4a9744b4873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2433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D392772-3DEB-4AC1-9558-0A6226B5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33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Integración automática</a:t>
            </a:r>
            <a:endParaRPr sz="13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FB9331C-7F12-4C0B-B38C-FB5DACAE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433" y="3382194"/>
            <a:ext cx="2599134" cy="6804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Contrato/API/E2E para AWS, RP, sensores, offline, export, Playwright y CTest en CI.</a:t>
            </a:r>
            <a:endParaRPr sz="1100"/>
          </a:p>
        </p:txBody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2810aabb742e5"/>
          <a:srcRect xmlns:a="http://schemas.openxmlformats.org/drawingml/2006/main" l="4503" t="0" r="45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747" y="1966838"/>
            <a:ext cx="1507480" cy="93166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FFA10038-C3CE-45F1-A28F-5E5B3012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747" y="3075682"/>
            <a:ext cx="1772022" cy="221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Resiliencia y seguridad</a:t>
            </a:r>
            <a:endParaRPr sz="1350"/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051C0024-86B3-42A7-9891-88BAE094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747" y="3382194"/>
            <a:ext cx="2599134" cy="907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>
                <a:solidFill>
                  <a:srgbClr val="272525"/>
                </a:solidFill>
                <a:latin typeface="Inter"/>
                <a:ea typeface="Inter"/>
                <a:cs typeface="Inter"/>
              </a:rPr>
              <a:t>Fallas DB/broker/WAN/disco, replay, restore, rollback, SAST/DAST y pentest.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1016288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13DD7FD-3020-4218-A1CD-69521499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12" y="357039"/>
            <a:ext cx="4815557" cy="346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9118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15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Claude multiplica seis frentes; no reemplaza controles</a:t>
            </a:r>
            <a:endParaRPr sz="215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1aac4d308402d">
            <a:extLst>
              <a:ext uri="{96DAC541-7B7A-43D3-8B79-37D633B846F1}">
                <asvg:svgBlip xmlns:asvg="http://schemas.microsoft.com/office/drawing/2016/SVG/main" r:embed="Rdad2be2bed9046c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0912" y="876151"/>
            <a:ext cx="7642101" cy="3497387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A91F9EF-10CE-4DCE-ABC7-6ED15222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790" y="1262721"/>
            <a:ext cx="1690519" cy="211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Ingeniería</a:t>
            </a:r>
            <a:endParaRPr sz="13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CC63D0-61A6-41C8-964A-E1C4985B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790" y="1534143"/>
            <a:ext cx="1863328" cy="451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3000"/>
              </a:lnSpc>
              <a:buNone/>
            </a:pPr>
            <a:r>
              <a:rPr sz="1050">
                <a:solidFill>
                  <a:srgbClr val="272525"/>
                </a:solidFill>
                <a:latin typeface="Inter"/>
                <a:ea typeface="Inter"/>
                <a:cs typeface="Inter"/>
              </a:rPr>
              <a:t>arquitectura · código · refactor · integraciones</a:t>
            </a:r>
            <a:endParaRPr sz="10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9882D83-049C-4CEC-8D52-9C33AA0A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57" y="2487525"/>
            <a:ext cx="1690519" cy="211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4000"/>
              </a:lnSpc>
              <a:buNone/>
            </a:pPr>
            <a:r>
              <a:rPr sz="130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Calidad y seguridad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A02C8D9-8D34-4791-9F32-C2AEA22C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17" y="2758948"/>
            <a:ext cx="1713059" cy="3010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93000"/>
              </a:lnSpc>
              <a:buNone/>
            </a:pPr>
            <a:r>
              <a:rPr sz="1050">
                <a:solidFill>
                  <a:srgbClr val="272525"/>
                </a:solidFill>
                <a:latin typeface="Inter"/>
                <a:ea typeface="Inter"/>
                <a:cs typeface="Inter"/>
              </a:rPr>
              <a:t>pruebas · amenazas · defectos · remediación</a:t>
            </a:r>
            <a:endParaRPr sz="10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D32E6CF-9F61-4552-BA23-5CFB80BC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790" y="3081085"/>
            <a:ext cx="1690519" cy="211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Operación y gestión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424160-B538-48B1-A589-DAE4234D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8790" y="3352508"/>
            <a:ext cx="1863328" cy="3010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3000"/>
              </a:lnSpc>
              <a:buNone/>
            </a:pPr>
            <a:r>
              <a:rPr sz="1050">
                <a:solidFill>
                  <a:srgbClr val="272525"/>
                </a:solidFill>
                <a:latin typeface="Inter"/>
                <a:ea typeface="Inter"/>
                <a:cs typeface="Inter"/>
              </a:rPr>
              <a:t>runbooks · capacitación · documentos · reportes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0885F9A-C43C-4470-8953-129C6480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12" y="4470871"/>
            <a:ext cx="7642101" cy="315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9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La revisión humana, CI, ADR/SPEC y los modelos predictivos especializados siguen siendo obligatorios.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4300285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F902081-8BAA-4E97-AED4-E910FBDF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10" y="386209"/>
            <a:ext cx="6413450" cy="401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337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5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Una licencia se paga con minutos, no con promesas de ROI</a:t>
            </a:r>
            <a:endParaRPr sz="2500"/>
          </a:p>
        </p:txBody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241628bc3484b"/>
          <a:stretch xmlns:a="http://schemas.openxmlformats.org/drawingml/2006/main"/>
        </p:blipFill>
        <p:spPr>
          <a:xfrm xmlns:a="http://schemas.openxmlformats.org/drawingml/2006/main">
            <a:off x="449610" y="1850766"/>
            <a:ext cx="3965674" cy="133935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84458DB-E65C-4688-97B4-13BD15EB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479" y="1078632"/>
            <a:ext cx="2984748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Caso económico verificable</a:t>
            </a:r>
            <a:endParaRPr sz="1250"/>
          </a:p>
        </p:txBody>
      </p:sp>
      <p:pic>
        <p:nvPicPr>
          <p:cNvPr id="2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74c7b3e47462e">
            <a:extLst>
              <a:ext uri="{96DAC541-7B7A-43D3-8B79-37D633B846F1}">
                <asvg:svgBlip xmlns:asvg="http://schemas.microsoft.com/office/drawing/2016/SVG/main" r:embed="R55df66f3a8ca426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1410295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5DF126E0-767E-49D6-AC57-618CE2C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1553021"/>
            <a:ext cx="1932161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Inversión acotada</a:t>
            </a:r>
            <a:endParaRPr sz="125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B1910C5-309C-47CC-BD6A-0162D62C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1870100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Inter"/>
                <a:ea typeface="Inter"/>
                <a:cs typeface="Inter"/>
              </a:rPr>
              <a:t>Claude Pro: USD 200 al año, facturados por adelantado; plan individual y con límites.</a:t>
            </a:r>
            <a:endParaRPr sz="1000"/>
          </a:p>
        </p:txBody>
      </p:sp>
      <p:pic>
        <p:nvPicPr>
          <p:cNvPr id="2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74c7b3e47462e">
            <a:extLst>
              <a:ext uri="{96DAC541-7B7A-43D3-8B79-37D633B846F1}">
                <asvg:svgBlip xmlns:asvg="http://schemas.microsoft.com/office/drawing/2016/SVG/main" r:embed="R55df66f3a8ca426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2521074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A0B8F6B7-83D1-42F9-9C3B-2C152D43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2663800"/>
            <a:ext cx="1735038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Punto de equilibrio</a:t>
            </a:r>
            <a:endParaRPr sz="1250"/>
          </a:p>
        </p:txBody>
      </p:sp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711B2667-FBAF-4D6F-89FB-AB458D62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2980879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Inter"/>
                <a:ea typeface="Inter"/>
                <a:cs typeface="Inter"/>
              </a:rPr>
              <a:t>A USD 25/h, basta recuperar 8 horas/año: aproximadamente 40 minutos al mes.</a:t>
            </a:r>
            <a:endParaRPr sz="1000"/>
          </a:p>
        </p:txBody>
      </p:sp>
      <p:pic>
        <p:nvPicPr>
          <p:cNvPr id="2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74c7b3e47462e">
            <a:extLst>
              <a:ext uri="{96DAC541-7B7A-43D3-8B79-37D633B846F1}">
                <asvg:svgBlip xmlns:asvg="http://schemas.microsoft.com/office/drawing/2016/SVG/main" r:embed="R55df66f3a8ca426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9191" y="3631853"/>
            <a:ext cx="3979962" cy="994395"/>
          </a:xfrm>
          <a:prstGeom xmlns:a="http://schemas.openxmlformats.org/drawingml/2006/main" prst="rect">
            <a:avLst/>
          </a:prstGeom>
        </p:spPr>
      </p:pic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D9290B7A-6142-440B-A25B-5FEA525B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3774579"/>
            <a:ext cx="2382217" cy="200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Regla de decisión</a:t>
            </a:r>
            <a:endParaRPr sz="125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A21551A2-4FE9-4ED2-9FAC-A52F8446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067" y="4091657"/>
            <a:ext cx="3637359" cy="391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000"/>
              </a:lnSpc>
              <a:buNone/>
            </a:pPr>
            <a:r>
              <a:rPr sz="1000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Aprobar el piloto, medir 30 días y no declarar porcentajes de ROI sin evidencia.</a:t>
            </a:r>
            <a:endParaRPr sz="1000"/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49610" y="1093217"/>
          <a:ext xmlns:a="http://schemas.openxmlformats.org/drawingml/2006/main" cx="3965674" cy="285444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97c425941a47cf"/>
          </a:graphicData>
        </a:graphic>
      </p:graphicFrame>
    </p:spTree>
    <p:extLst>
      <p:ext uri="{BB962C8B-B14F-4D97-AF65-F5344CB8AC3E}">
        <p14:creationId xmlns:p14="http://schemas.microsoft.com/office/powerpoint/2010/main" val="36549185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47CF4C1-B7E0-4C60-BA50-F7AA45DC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337096"/>
            <a:ext cx="6965305" cy="3391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1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Adopción gobernada: aprobar, medir y escalar</a:t>
            </a:r>
            <a:endParaRPr sz="21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11E41EF-23B5-41A2-97CC-E87655AE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782" y="842442"/>
            <a:ext cx="14288" cy="3113410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BEADB79-E2B0-4649-8C4B-CD5A85D3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75" y="957337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8F1468B-4DFA-458F-98DA-0C7DD773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842442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C3511BA-D8F6-43ED-8B17-09057CBF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862757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1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60B907C-0AEF-4DF1-BBB7-6F3127C1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07" y="879723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Hoy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19B833A-24A9-4916-B933-8E5A38EB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1099096"/>
            <a:ext cx="3201888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Aprobar 1 licencia Pro anual y designar propietario nominal.</a:t>
            </a:r>
            <a:endParaRPr sz="8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366D73F-9F97-4E88-BC49-62F10D69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714" y="1557635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5587998-4E03-44B1-B27E-99398AD9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1442740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B771CA7-BA20-4F37-A721-EC0AE188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1463055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2</a:t>
            </a:r>
            <a:endParaRPr sz="12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3798983-DA0B-4517-9ACE-164DE391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1480021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Semana 1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5F1478B-225B-466D-AB3C-708635A4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1699394"/>
            <a:ext cx="3201963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Política, clasificación de datos, onboarding, repositorios y trazabilidad.</a:t>
            </a:r>
            <a:endParaRPr sz="8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A9A9DF7-550A-4B5D-AC90-93F4A8C5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75" y="2093491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2B4C624-48A8-4773-9163-38EEF1B0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1978596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F2331EC-E1BA-4CBA-92E4-6DC4BB10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1998911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3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F05EC2A-0112-4700-9516-15102EFB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07" y="2015877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Día 30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CE26DB2-9A1F-4833-A9E8-523FFBD3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2235250"/>
            <a:ext cx="3201888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Medir horas evitadas, CA cerrados, pruebas creadas y defectos.</a:t>
            </a:r>
            <a:endParaRPr sz="8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D16FDE4-67A1-4D98-8A7C-5B98DD83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714" y="2629346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C48A92C-DFB5-4255-80C8-C52515C1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2514451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F3849A4-BB36-4C41-8259-16AE2236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2534766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4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9778BE3-392E-4208-A98D-74085828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2551733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Mes 2</a:t>
            </a:r>
            <a:endParaRPr sz="10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E074724-F98C-45F3-BC6B-ACBFDC7B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2771105"/>
            <a:ext cx="3201963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Agregar cuentas nominales si hay concurrencia o límites recurrentes.</a:t>
            </a:r>
            <a:endParaRPr sz="8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EE615FA-C9AA-4376-8AEA-F291641F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75" y="3165202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7B8BD9E-012D-4A41-9F42-88220A99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3050307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CFD0598-4E2D-4D92-B70E-626940CE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3070622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5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32F3672-A414-4495-81F0-C3F433D3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07" y="3087588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Trimestre</a:t>
            </a:r>
            <a:endParaRPr sz="10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43E7C63-9431-42C5-9743-0039750D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3306961"/>
            <a:ext cx="3201888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Evaluar Team/Enterprise si se requieren SSO, auditoría y administración central.</a:t>
            </a:r>
            <a:endParaRPr sz="8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9FD5138-0F4A-4D4F-97D8-B40D1406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4049316"/>
            <a:ext cx="7489254" cy="663625"/>
          </a:xfrm>
          <a:prstGeom xmlns:a="http://schemas.openxmlformats.org/drawingml/2006/main" prst="roundRect">
            <a:avLst>
              <a:gd name="adj" fmla="val 6869"/>
            </a:avLst>
          </a:prstGeom>
          <a:solidFill xmlns:a="http://schemas.openxmlformats.org/drawingml/2006/main">
            <a:srgbClr val="FBE5D6"/>
          </a:solidFill>
        </p:spPr>
      </p:sp>
      <p:pic>
        <p:nvPicPr>
          <p:cNvPr id="6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59e8d4f5e141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831" y="4194721"/>
            <a:ext cx="135657" cy="108496"/>
          </a:xfrm>
          <a:prstGeom xmlns:a="http://schemas.openxmlformats.org/drawingml/2006/main" prst="rect">
            <a:avLst/>
          </a:prstGeom>
        </p:spPr>
      </p:pic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929676D-1DF1-4136-86B6-3C4001E7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84" y="4151188"/>
            <a:ext cx="7028111" cy="4598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850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Éxito = continuidad demostrada sin compartir cuentas ni omitir seguridad, pruebas o revisión humana.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68085191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47CF4C1-B7E0-4C60-BA50-F7AA45DC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337096"/>
            <a:ext cx="6965305" cy="3391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1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La licencia debe acelerar un plan de cierre, no crear actividad</a:t>
            </a:r>
            <a:endParaRPr sz="21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11E41EF-23B5-41A2-97CC-E87655AE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782" y="842442"/>
            <a:ext cx="14288" cy="3113410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BEADB79-E2B0-4649-8C4B-CD5A85D3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75" y="957337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8F1468B-4DFA-458F-98DA-0C7DD773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842442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C3511BA-D8F6-43ED-8B17-09057CBF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862757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1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60B907C-0AEF-4DF1-BBB7-6F3127C1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07" y="879723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0–30 días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19B833A-24A9-4916-B933-8E5A38EB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1099096"/>
            <a:ext cx="3201888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Cerrar R3: SPEC-021, regresión ReportStudio, CTest backend y Playwright crítico.</a:t>
            </a:r>
            <a:endParaRPr sz="8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366D73F-9F97-4E88-BC49-62F10D69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714" y="1557635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5587998-4E03-44B1-B27E-99398AD9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1442740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B771CA7-BA20-4F37-A721-EC0AE188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1463055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2</a:t>
            </a:r>
            <a:endParaRPr sz="12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3798983-DA0B-4517-9ACE-164DE391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1480021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31–45 días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5F1478B-225B-466D-AB3C-708635A4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1699394"/>
            <a:ext cx="3201963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R4 producto: offline, alertas, sensores, exportaciones y contratos API.</a:t>
            </a:r>
            <a:endParaRPr sz="8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A9A9DF7-550A-4B5D-AC90-93F4A8C5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75" y="2093491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2B4C624-48A8-4773-9163-38EEF1B0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1978596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F2331EC-E1BA-4CBA-92E4-6DC4BB10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1998911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3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F05EC2A-0112-4700-9516-15102EFB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07" y="2015877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46–60 días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CE26DB2-9A1F-4833-A9E8-523FFBD3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2235250"/>
            <a:ext cx="3201888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AWS real, CA-4 Odoo y contrato del piloto de operaciones de campo.</a:t>
            </a:r>
            <a:endParaRPr sz="8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D16FDE4-67A1-4D98-8A7C-5B98DD83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714" y="2629346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C48A92C-DFB5-4255-80C8-C52515C1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2514451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F3849A4-BB36-4C41-8259-16AE2236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2534766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4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9778BE3-392E-4208-A98D-74085828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2551733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61–75 días</a:t>
            </a:r>
            <a:endParaRPr sz="10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E074724-F98C-45F3-BC6B-ACBFDC7B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627" y="2771105"/>
            <a:ext cx="3201963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VPS, despliegue/rollback, carga, resiliencia, backup y restore en host limpio.</a:t>
            </a:r>
            <a:endParaRPr sz="8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EE615FA-C9AA-4376-8AEA-F291641F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75" y="3165202"/>
            <a:ext cx="325562" cy="14288"/>
          </a:xfrm>
          <a:prstGeom xmlns:a="http://schemas.openxmlformats.org/drawingml/2006/main" prst="roundRect">
            <a:avLst>
              <a:gd name="adj" fmla="val 319058"/>
            </a:avLst>
          </a:prstGeom>
          <a:solidFill xmlns:a="http://schemas.openxmlformats.org/drawingml/2006/main">
            <a:srgbClr val="F4A37B"/>
          </a:solidFill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7B8BD9E-012D-4A41-9F42-88220A99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849" y="3050307"/>
            <a:ext cx="244153" cy="244153"/>
          </a:xfrm>
          <a:prstGeom xmlns:a="http://schemas.openxmlformats.org/drawingml/2006/main" prst="roundRect">
            <a:avLst>
              <a:gd name="adj" fmla="val 1867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CFD0598-4E2D-4D92-B70E-626940CE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517" y="3070622"/>
            <a:ext cx="162744" cy="203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5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32F3672-A414-4495-81F0-C3F433D3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07" y="3087588"/>
            <a:ext cx="1356717" cy="169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4000"/>
              </a:lnSpc>
              <a:buNone/>
            </a:pPr>
            <a:r>
              <a:rPr sz="10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76–90 días</a:t>
            </a:r>
            <a:endParaRPr sz="10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43E7C63-9431-42C5-9743-0039750D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3306961"/>
            <a:ext cx="3201888" cy="3065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8000"/>
              </a:lnSpc>
              <a:buNone/>
            </a:pPr>
            <a:r>
              <a:rPr sz="850">
                <a:solidFill>
                  <a:srgbClr val="272525"/>
                </a:solidFill>
                <a:latin typeface="Inter"/>
                <a:ea typeface="Inter"/>
                <a:cs typeface="Inter"/>
              </a:rPr>
              <a:t>Pentest, DR, UAT, capacitación, manuales y decisión formal de go-live.</a:t>
            </a:r>
            <a:endParaRPr sz="8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9FD5138-0F4A-4D4F-97D8-B40D1406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336" y="4049316"/>
            <a:ext cx="7489254" cy="663625"/>
          </a:xfrm>
          <a:prstGeom xmlns:a="http://schemas.openxmlformats.org/drawingml/2006/main" prst="roundRect">
            <a:avLst>
              <a:gd name="adj" fmla="val 6869"/>
            </a:avLst>
          </a:prstGeom>
          <a:solidFill xmlns:a="http://schemas.openxmlformats.org/drawingml/2006/main">
            <a:srgbClr val="FBE5D6"/>
          </a:solidFill>
        </p:spPr>
      </p:sp>
      <p:pic>
        <p:nvPicPr>
          <p:cNvPr id="6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8d64ba6ee4a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831" y="4194721"/>
            <a:ext cx="135657" cy="108496"/>
          </a:xfrm>
          <a:prstGeom xmlns:a="http://schemas.openxmlformats.org/drawingml/2006/main" prst="rect">
            <a:avLst/>
          </a:prstGeom>
        </p:spPr>
      </p:pic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929676D-1DF1-4136-86B6-3C4001E7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84" y="4151188"/>
            <a:ext cx="7028111" cy="4598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850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Cada semana: evidencia por criterio de aceptación; cada mes: readiness actualizado y decisión de capacidad IA.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68085191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b35e83bb74ef4"/>
          <a:srcRect xmlns:a="http://schemas.openxmlformats.org/drawingml/2006/main" l="31254" t="0" r="312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765871-8B9A-4D5E-93CA-396FC98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56456"/>
            <a:ext cx="4565303" cy="3668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442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00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Decisión solicitada: aprobar una licencia anual hoy</a:t>
            </a:r>
            <a:endParaRPr sz="23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4BEA8FA-24E5-41EE-B83B-11375C97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969094"/>
            <a:ext cx="4893320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La inversión es acotada; el uso queda gobernado y el escalamiento depende de evidencia.</a:t>
            </a:r>
            <a:endParaRPr sz="9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0CF802F-0984-4224-BB99-7566FE6E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1421755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C3AC8A8-7CC8-4184-ACC4-E44A3932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543869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Aprobar</a:t>
            </a:r>
            <a:endParaRPr sz="11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C09BDEC-70BA-4B12-9A42-1F0E4B06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1785565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USD 200/año por 1 licencia nominal Claude Pro para Plataforma Minera.</a:t>
            </a:r>
            <a:endParaRPr sz="9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A99BA2B-C3A6-40D2-A9A6-E45B0C9B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2348210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D8FA41-6D09-446D-9BCF-1C277C78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470324"/>
            <a:ext cx="1837060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Responsable</a:t>
            </a:r>
            <a:endParaRPr sz="11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DFD08-E33A-4D8C-AFA9-C3B6986C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2712021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Líder Técnico + Gerencia TI: cuenta, política, consumo y reporte de beneficios.</a:t>
            </a:r>
            <a:endParaRPr sz="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82450B6-6920-4A53-84B3-6223DF11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3102992"/>
            <a:ext cx="4893320" cy="82927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2352A5B-65FC-4A71-9DD1-250A4EC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225105"/>
            <a:ext cx="14674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Condiciones</a:t>
            </a:r>
            <a:endParaRPr sz="11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6387D7F-4016-4767-98DC-977C48A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3466802"/>
            <a:ext cx="4649093" cy="3433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Sin secretos; revisión humana; CI, pruebas y trazabilidad ADR/SPEC obligatorias.</a:t>
            </a:r>
            <a:endParaRPr sz="9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BD2446E-0358-4153-B608-8642B424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40" y="4029447"/>
            <a:ext cx="4893320" cy="657597"/>
          </a:xfrm>
          <a:prstGeom xmlns:a="http://schemas.openxmlformats.org/drawingml/2006/main" prst="roundRect">
            <a:avLst>
              <a:gd name="adj" fmla="val 7498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4763">
            <a:solidFill>
              <a:srgbClr val="C0C1D7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A4280EB-584D-44AF-B9C7-EA94EB53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151561"/>
            <a:ext cx="1473845" cy="1834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150" b="1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Revisión</a:t>
            </a:r>
            <a:endParaRPr sz="11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31724C6-D6D5-4CB4-88AE-CF4DC45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954" y="4393257"/>
            <a:ext cx="4649093" cy="1716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000"/>
              </a:lnSpc>
              <a:buNone/>
            </a:pPr>
            <a:r>
              <a:rPr sz="900">
                <a:solidFill>
                  <a:srgbClr val="272525"/>
                </a:solidFill>
                <a:latin typeface="Inter"/>
                <a:ea typeface="Inter"/>
                <a:cs typeface="Inter"/>
              </a:rPr>
              <a:t>Comité al día 30 para decidir nuevas licencias o un plan organizacional.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7970347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2026-08-18T21:58:05.9500000Z</dcterms:created>
  <dcterms:modified xsi:type="dcterms:W3CDTF">2026-08-18T21:58:05.9500000Z</dcterms:modified>
</coreProperties>
</file>